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74" r:id="rId7"/>
    <p:sldId id="261" r:id="rId8"/>
    <p:sldId id="262" r:id="rId9"/>
    <p:sldId id="263" r:id="rId10"/>
    <p:sldId id="264" r:id="rId11"/>
    <p:sldId id="265" r:id="rId12"/>
    <p:sldId id="275" r:id="rId13"/>
    <p:sldId id="266" r:id="rId14"/>
    <p:sldId id="276" r:id="rId15"/>
    <p:sldId id="277" r:id="rId16"/>
    <p:sldId id="278" r:id="rId17"/>
    <p:sldId id="268" r:id="rId18"/>
    <p:sldId id="269" r:id="rId19"/>
    <p:sldId id="270" r:id="rId20"/>
    <p:sldId id="271" r:id="rId21"/>
    <p:sldId id="272" r:id="rId22"/>
    <p:sldId id="273"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67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38BDF8"/>
                </a:solidFill>
                <a:latin typeface="Arial"/>
              </a:defRPr>
            </a:pPr>
            <a:r>
              <a:rPr lang="en-US" sz="1300" b="0" i="0" u="none" strike="noStrike">
                <a:solidFill>
                  <a:srgbClr val="38BDF8"/>
                </a:solidFill>
                <a:latin typeface="Arial"/>
              </a:rPr>
              <a:t>Accuracy by Disaster Type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1565C0"/>
            </a:solidFill>
            <a:effectLst/>
          </c:spPr>
          <c:invertIfNegative val="0"/>
          <c:dPt>
            <c:idx val="0"/>
            <c:invertIfNegative val="0"/>
            <c:bubble3D val="0"/>
            <c:spPr>
              <a:solidFill>
                <a:srgbClr val="1565C0"/>
              </a:solidFill>
              <a:effectLst/>
            </c:spPr>
            <c:extLst>
              <c:ext xmlns:c16="http://schemas.microsoft.com/office/drawing/2014/chart" uri="{C3380CC4-5D6E-409C-BE32-E72D297353CC}">
                <c16:uniqueId val="{00000001-FDC1-4169-AC61-1FC7099A2000}"/>
              </c:ext>
            </c:extLst>
          </c:dPt>
          <c:dPt>
            <c:idx val="1"/>
            <c:invertIfNegative val="0"/>
            <c:bubble3D val="0"/>
            <c:spPr>
              <a:solidFill>
                <a:srgbClr val="F57C00"/>
              </a:solidFill>
              <a:effectLst/>
            </c:spPr>
            <c:extLst>
              <c:ext xmlns:c16="http://schemas.microsoft.com/office/drawing/2014/chart" uri="{C3380CC4-5D6E-409C-BE32-E72D297353CC}">
                <c16:uniqueId val="{00000003-FDC1-4169-AC61-1FC7099A2000}"/>
              </c:ext>
            </c:extLst>
          </c:dPt>
          <c:dPt>
            <c:idx val="2"/>
            <c:invertIfNegative val="0"/>
            <c:bubble3D val="0"/>
            <c:spPr>
              <a:solidFill>
                <a:srgbClr val="34D399"/>
              </a:solidFill>
              <a:effectLst/>
            </c:spPr>
            <c:extLst>
              <c:ext xmlns:c16="http://schemas.microsoft.com/office/drawing/2014/chart" uri="{C3380CC4-5D6E-409C-BE32-E72D297353CC}">
                <c16:uniqueId val="{00000005-FDC1-4169-AC61-1FC7099A2000}"/>
              </c:ext>
            </c:extLst>
          </c:dPt>
          <c:dLbls>
            <c:numFmt formatCode="#,##0" sourceLinked="0"/>
            <c:spPr>
              <a:noFill/>
              <a:ln>
                <a:noFill/>
              </a:ln>
              <a:effectLst/>
            </c:spPr>
            <c:txPr>
              <a:bodyPr/>
              <a:lstStyle/>
              <a:p>
                <a:pPr>
                  <a:defRPr sz="14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Flood</c:v>
                </c:pt>
                <c:pt idx="1">
                  <c:v>Landslide</c:v>
                </c:pt>
                <c:pt idx="2">
                  <c:v>Normal</c:v>
                </c:pt>
              </c:strCache>
            </c:strRef>
          </c:cat>
          <c:val>
            <c:numRef>
              <c:f>Sheet1!$B$2:$B$4</c:f>
              <c:numCache>
                <c:formatCode>General</c:formatCode>
                <c:ptCount val="3"/>
                <c:pt idx="0">
                  <c:v>84</c:v>
                </c:pt>
                <c:pt idx="1">
                  <c:v>78</c:v>
                </c:pt>
                <c:pt idx="2">
                  <c:v>90</c:v>
                </c:pt>
              </c:numCache>
            </c:numRef>
          </c:val>
          <c:extLst>
            <c:ext xmlns:c16="http://schemas.microsoft.com/office/drawing/2014/chart" uri="{C3380CC4-5D6E-409C-BE32-E72D297353CC}">
              <c16:uniqueId val="{00000006-FDC1-4169-AC61-1FC7099A200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D1E3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5171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0793668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924059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582092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1382315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7689449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5943600" y="-1097280"/>
            <a:ext cx="4572000" cy="4572000"/>
          </a:xfrm>
          <a:prstGeom prst="ellipse">
            <a:avLst/>
          </a:prstGeom>
          <a:solidFill>
            <a:srgbClr val="38BDF8">
              <a:alpha val="12000"/>
            </a:srgbClr>
          </a:solidFill>
          <a:ln w="12700">
            <a:solidFill>
              <a:srgbClr val="38BDF8">
                <a:alpha val="12000"/>
              </a:srgbClr>
            </a:solidFill>
            <a:prstDash val="solid"/>
          </a:ln>
        </p:spPr>
      </p:sp>
      <p:sp>
        <p:nvSpPr>
          <p:cNvPr id="3" name="Shape 1"/>
          <p:cNvSpPr/>
          <p:nvPr/>
        </p:nvSpPr>
        <p:spPr>
          <a:xfrm>
            <a:off x="-914400" y="3200400"/>
            <a:ext cx="3657600" cy="3657600"/>
          </a:xfrm>
          <a:prstGeom prst="ellipse">
            <a:avLst/>
          </a:prstGeom>
          <a:solidFill>
            <a:srgbClr val="818CF8">
              <a:alpha val="10000"/>
            </a:srgbClr>
          </a:solidFill>
          <a:ln w="12700">
            <a:solidFill>
              <a:srgbClr val="818CF8">
                <a:alpha val="10000"/>
              </a:srgbClr>
            </a:solidFill>
            <a:prstDash val="solid"/>
          </a:ln>
        </p:spPr>
      </p:sp>
      <p:sp>
        <p:nvSpPr>
          <p:cNvPr id="4" name="Shape 2"/>
          <p:cNvSpPr/>
          <p:nvPr/>
        </p:nvSpPr>
        <p:spPr>
          <a:xfrm>
            <a:off x="0" y="0"/>
            <a:ext cx="91440" cy="5143500"/>
          </a:xfrm>
          <a:prstGeom prst="rect">
            <a:avLst/>
          </a:prstGeom>
          <a:solidFill>
            <a:srgbClr val="38BDF8"/>
          </a:solidFill>
          <a:ln w="12700">
            <a:solidFill>
              <a:srgbClr val="38BDF8"/>
            </a:solidFill>
            <a:prstDash val="solid"/>
          </a:ln>
        </p:spPr>
      </p:sp>
      <p:sp>
        <p:nvSpPr>
          <p:cNvPr id="5" name="Shape 3"/>
          <p:cNvSpPr/>
          <p:nvPr/>
        </p:nvSpPr>
        <p:spPr>
          <a:xfrm>
            <a:off x="365760" y="320040"/>
            <a:ext cx="3200400" cy="384048"/>
          </a:xfrm>
          <a:prstGeom prst="rect">
            <a:avLst/>
          </a:prstGeom>
          <a:solidFill>
            <a:srgbClr val="0D2B55"/>
          </a:solidFill>
          <a:ln w="12700">
            <a:solidFill>
              <a:srgbClr val="38BDF8"/>
            </a:solidFill>
            <a:prstDash val="solid"/>
          </a:ln>
          <a:effectLst>
            <a:outerShdw blurRad="127000" dist="38100" dir="8100000" algn="bl" rotWithShape="0">
              <a:srgbClr val="000000">
                <a:alpha val="22000"/>
              </a:srgbClr>
            </a:outerShdw>
          </a:effectLst>
        </p:spPr>
      </p:sp>
      <p:sp>
        <p:nvSpPr>
          <p:cNvPr id="6" name="Text 4"/>
          <p:cNvSpPr/>
          <p:nvPr/>
        </p:nvSpPr>
        <p:spPr>
          <a:xfrm>
            <a:off x="365760" y="320040"/>
            <a:ext cx="3200400" cy="384048"/>
          </a:xfrm>
          <a:prstGeom prst="rect">
            <a:avLst/>
          </a:prstGeom>
          <a:noFill/>
          <a:ln/>
        </p:spPr>
        <p:txBody>
          <a:bodyPr wrap="square" lIns="0" tIns="0" rIns="0" bIns="0" rtlCol="0" anchor="ctr"/>
          <a:lstStyle/>
          <a:p>
            <a:pPr marL="0" indent="0" algn="ctr">
              <a:buNone/>
            </a:pPr>
            <a:r>
              <a:rPr lang="en-US" sz="1100" b="1" dirty="0">
                <a:solidFill>
                  <a:srgbClr val="38BDF8"/>
                </a:solidFill>
                <a:latin typeface="Calibri" pitchFamily="34" charset="0"/>
                <a:ea typeface="Calibri" pitchFamily="34" charset="-122"/>
                <a:cs typeface="Calibri" pitchFamily="34" charset="-120"/>
              </a:rPr>
              <a:t>B.Sc. Computer Science  |  VIT Vellore</a:t>
            </a:r>
            <a:endParaRPr lang="en-US" sz="1100" dirty="0"/>
          </a:p>
        </p:txBody>
      </p:sp>
      <p:sp>
        <p:nvSpPr>
          <p:cNvPr id="7" name="Text 5"/>
          <p:cNvSpPr/>
          <p:nvPr/>
        </p:nvSpPr>
        <p:spPr>
          <a:xfrm>
            <a:off x="365760" y="868680"/>
            <a:ext cx="6858000" cy="2423160"/>
          </a:xfrm>
          <a:prstGeom prst="rect">
            <a:avLst/>
          </a:prstGeom>
          <a:noFill/>
          <a:ln/>
        </p:spPr>
        <p:txBody>
          <a:bodyPr wrap="square" rtlCol="0" anchor="ctr"/>
          <a:lstStyle/>
          <a:p>
            <a:pPr marL="0" indent="0" algn="l">
              <a:buNone/>
            </a:pPr>
            <a:r>
              <a:rPr lang="en-US" sz="3600" b="1" dirty="0">
                <a:solidFill>
                  <a:srgbClr val="FFFFFF"/>
                </a:solidFill>
                <a:latin typeface="Calibri" pitchFamily="34" charset="0"/>
                <a:ea typeface="Calibri" pitchFamily="34" charset="-122"/>
                <a:cs typeface="Calibri" pitchFamily="34" charset="-120"/>
              </a:rPr>
              <a:t>Adaptive Deep Learning</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Framework For Flood &amp;</a:t>
            </a:r>
            <a:endParaRPr lang="en-US" sz="3600" dirty="0"/>
          </a:p>
          <a:p>
            <a:pPr marL="0" indent="0" algn="l">
              <a:buNone/>
            </a:pPr>
            <a:r>
              <a:rPr lang="en-US" sz="3600" b="1" dirty="0">
                <a:solidFill>
                  <a:srgbClr val="FFFFFF"/>
                </a:solidFill>
                <a:latin typeface="Calibri" pitchFamily="34" charset="0"/>
                <a:ea typeface="Calibri" pitchFamily="34" charset="-122"/>
                <a:cs typeface="Calibri" pitchFamily="34" charset="-120"/>
              </a:rPr>
              <a:t>Landslide Detection</a:t>
            </a:r>
            <a:endParaRPr lang="en-US" sz="3600" dirty="0"/>
          </a:p>
        </p:txBody>
      </p:sp>
      <p:sp>
        <p:nvSpPr>
          <p:cNvPr id="8" name="Text 6"/>
          <p:cNvSpPr/>
          <p:nvPr/>
        </p:nvSpPr>
        <p:spPr>
          <a:xfrm>
            <a:off x="365760" y="3246120"/>
            <a:ext cx="6858000" cy="411480"/>
          </a:xfrm>
          <a:prstGeom prst="rect">
            <a:avLst/>
          </a:prstGeom>
          <a:noFill/>
          <a:ln/>
        </p:spPr>
        <p:txBody>
          <a:bodyPr wrap="square" lIns="0" tIns="0" rIns="0" bIns="0" rtlCol="0" anchor="ctr"/>
          <a:lstStyle/>
          <a:p>
            <a:pPr marL="0" indent="0">
              <a:buNone/>
            </a:pPr>
            <a:r>
              <a:rPr lang="en-US" sz="1800" i="1" dirty="0">
                <a:solidFill>
                  <a:srgbClr val="38BDF8"/>
                </a:solidFill>
                <a:latin typeface="Calibri" pitchFamily="34" charset="0"/>
                <a:ea typeface="Calibri" pitchFamily="34" charset="-122"/>
                <a:cs typeface="Calibri" pitchFamily="34" charset="-120"/>
              </a:rPr>
              <a:t>Using Aerial Image Segmentation</a:t>
            </a:r>
            <a:endParaRPr lang="en-US" sz="1800" dirty="0"/>
          </a:p>
        </p:txBody>
      </p:sp>
      <p:sp>
        <p:nvSpPr>
          <p:cNvPr id="9" name="Shape 7"/>
          <p:cNvSpPr/>
          <p:nvPr/>
        </p:nvSpPr>
        <p:spPr>
          <a:xfrm>
            <a:off x="365760" y="3749040"/>
            <a:ext cx="3474720" cy="36576"/>
          </a:xfrm>
          <a:prstGeom prst="rect">
            <a:avLst/>
          </a:prstGeom>
          <a:solidFill>
            <a:srgbClr val="38BDF8"/>
          </a:solidFill>
          <a:ln w="12700">
            <a:solidFill>
              <a:srgbClr val="38BDF8"/>
            </a:solidFill>
            <a:prstDash val="solid"/>
          </a:ln>
        </p:spPr>
      </p:sp>
      <p:sp>
        <p:nvSpPr>
          <p:cNvPr id="10" name="Text 8"/>
          <p:cNvSpPr/>
          <p:nvPr/>
        </p:nvSpPr>
        <p:spPr>
          <a:xfrm>
            <a:off x="365760" y="3858768"/>
            <a:ext cx="347472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Presented by</a:t>
            </a:r>
            <a:endParaRPr lang="en-US" sz="1100" dirty="0"/>
          </a:p>
        </p:txBody>
      </p:sp>
      <p:sp>
        <p:nvSpPr>
          <p:cNvPr id="11" name="Text 9"/>
          <p:cNvSpPr/>
          <p:nvPr/>
        </p:nvSpPr>
        <p:spPr>
          <a:xfrm>
            <a:off x="365760" y="4114800"/>
            <a:ext cx="4572000" cy="347472"/>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Linkesh E P  |  23BCS0160</a:t>
            </a:r>
            <a:endParaRPr lang="en-US" sz="1600" dirty="0"/>
          </a:p>
        </p:txBody>
      </p:sp>
      <p:sp>
        <p:nvSpPr>
          <p:cNvPr id="12" name="Text 10"/>
          <p:cNvSpPr/>
          <p:nvPr/>
        </p:nvSpPr>
        <p:spPr>
          <a:xfrm>
            <a:off x="365760" y="4462272"/>
            <a:ext cx="5486400" cy="27432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Under the guidance of  Dr. Suganya P</a:t>
            </a:r>
            <a:endParaRPr lang="en-US" sz="1200" dirty="0"/>
          </a:p>
        </p:txBody>
      </p:sp>
      <p:sp>
        <p:nvSpPr>
          <p:cNvPr id="13" name="Text 11"/>
          <p:cNvSpPr/>
          <p:nvPr/>
        </p:nvSpPr>
        <p:spPr>
          <a:xfrm>
            <a:off x="365760" y="4736592"/>
            <a:ext cx="5486400" cy="256032"/>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SCORE  |  April 2026  |  UCSC398J</a:t>
            </a:r>
            <a:endParaRPr lang="en-US" sz="11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Introduction</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Understanding the Need for AI in Disaster Management</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2 / 18</a:t>
            </a:r>
            <a:endParaRPr lang="en-US" sz="1000" dirty="0"/>
          </a:p>
        </p:txBody>
      </p:sp>
      <p:sp>
        <p:nvSpPr>
          <p:cNvPr id="7" name="Shape 5"/>
          <p:cNvSpPr/>
          <p:nvPr/>
        </p:nvSpPr>
        <p:spPr>
          <a:xfrm>
            <a:off x="7498080" y="548640"/>
            <a:ext cx="2286000" cy="2286000"/>
          </a:xfrm>
          <a:prstGeom prst="ellipse">
            <a:avLst/>
          </a:prstGeom>
          <a:solidFill>
            <a:srgbClr val="38BDF8">
              <a:alpha val="8000"/>
            </a:srgbClr>
          </a:solidFill>
          <a:ln w="12700">
            <a:solidFill>
              <a:srgbClr val="38BDF8">
                <a:alpha val="8000"/>
              </a:srgbClr>
            </a:solidFill>
            <a:prstDash val="solid"/>
          </a:ln>
        </p:spPr>
      </p:sp>
      <p:sp>
        <p:nvSpPr>
          <p:cNvPr id="8" name="Shape 6"/>
          <p:cNvSpPr/>
          <p:nvPr/>
        </p:nvSpPr>
        <p:spPr>
          <a:xfrm>
            <a:off x="365760" y="1298448"/>
            <a:ext cx="8412480" cy="960120"/>
          </a:xfrm>
          <a:prstGeom prst="rect">
            <a:avLst/>
          </a:prstGeom>
          <a:solidFill>
            <a:srgbClr val="0D1E38"/>
          </a:solidFill>
          <a:ln w="15240">
            <a:solidFill>
              <a:srgbClr val="38BDF8"/>
            </a:solidFill>
            <a:prstDash val="solid"/>
          </a:ln>
          <a:effectLst>
            <a:outerShdw blurRad="127000" dist="38100" dir="8100000" algn="bl" rotWithShape="0">
              <a:srgbClr val="000000">
                <a:alpha val="22000"/>
              </a:srgbClr>
            </a:outerShdw>
          </a:effectLst>
        </p:spPr>
      </p:sp>
      <p:sp>
        <p:nvSpPr>
          <p:cNvPr id="9" name="Shape 7"/>
          <p:cNvSpPr/>
          <p:nvPr/>
        </p:nvSpPr>
        <p:spPr>
          <a:xfrm>
            <a:off x="365760" y="1298448"/>
            <a:ext cx="64008" cy="960120"/>
          </a:xfrm>
          <a:prstGeom prst="rect">
            <a:avLst/>
          </a:prstGeom>
          <a:solidFill>
            <a:srgbClr val="38BDF8"/>
          </a:solidFill>
          <a:ln w="12700">
            <a:solidFill>
              <a:srgbClr val="38BDF8"/>
            </a:solidFill>
            <a:prstDash val="solid"/>
          </a:ln>
        </p:spPr>
      </p:sp>
      <p:sp>
        <p:nvSpPr>
          <p:cNvPr id="10" name="Text 8"/>
          <p:cNvSpPr/>
          <p:nvPr/>
        </p:nvSpPr>
        <p:spPr>
          <a:xfrm>
            <a:off x="594360" y="1371600"/>
            <a:ext cx="8046720" cy="822960"/>
          </a:xfrm>
          <a:prstGeom prst="rect">
            <a:avLst/>
          </a:prstGeom>
          <a:noFill/>
          <a:ln/>
        </p:spPr>
        <p:txBody>
          <a:bodyPr wrap="square" lIns="0" tIns="0" rIns="0" bIns="0" rtlCol="0" anchor="ctr"/>
          <a:lstStyle/>
          <a:p>
            <a:pPr marL="0" indent="0">
              <a:buNone/>
            </a:pPr>
            <a:r>
              <a:rPr lang="en-US" sz="1350" dirty="0">
                <a:solidFill>
                  <a:srgbClr val="CBD5E1"/>
                </a:solidFill>
                <a:latin typeface="Calibri" pitchFamily="34" charset="0"/>
                <a:ea typeface="Calibri" pitchFamily="34" charset="-122"/>
                <a:cs typeface="Calibri" pitchFamily="34" charset="-120"/>
              </a:rPr>
              <a:t>Natural disasters such as floods and landslides are among the most destructive events on Earth. With climate change accelerating their frequency, the need for an intelligent, fast, and accessible detection system has never been greater.</a:t>
            </a:r>
            <a:endParaRPr lang="en-US" sz="1350" dirty="0"/>
          </a:p>
        </p:txBody>
      </p:sp>
      <p:sp>
        <p:nvSpPr>
          <p:cNvPr id="11" name="Shape 9"/>
          <p:cNvSpPr/>
          <p:nvPr/>
        </p:nvSpPr>
        <p:spPr>
          <a:xfrm>
            <a:off x="365760" y="2423160"/>
            <a:ext cx="2011680" cy="2423160"/>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12" name="Shape 10"/>
          <p:cNvSpPr/>
          <p:nvPr/>
        </p:nvSpPr>
        <p:spPr>
          <a:xfrm>
            <a:off x="1042416" y="2560320"/>
            <a:ext cx="658368" cy="658368"/>
          </a:xfrm>
          <a:prstGeom prst="ellipse">
            <a:avLst/>
          </a:prstGeom>
          <a:solidFill>
            <a:srgbClr val="F87171"/>
          </a:solidFill>
          <a:ln w="12700">
            <a:solidFill>
              <a:srgbClr val="F87171"/>
            </a:solidFill>
            <a:prstDash val="solid"/>
          </a:ln>
        </p:spPr>
      </p:sp>
      <p:sp>
        <p:nvSpPr>
          <p:cNvPr id="13" name="Text 11"/>
          <p:cNvSpPr/>
          <p:nvPr/>
        </p:nvSpPr>
        <p:spPr>
          <a:xfrm>
            <a:off x="1042416" y="2560320"/>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457200" y="3310128"/>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Floods</a:t>
            </a:r>
            <a:endParaRPr lang="en-US" sz="1400" dirty="0"/>
          </a:p>
        </p:txBody>
      </p:sp>
      <p:sp>
        <p:nvSpPr>
          <p:cNvPr id="15" name="Text 13"/>
          <p:cNvSpPr/>
          <p:nvPr/>
        </p:nvSpPr>
        <p:spPr>
          <a:xfrm>
            <a:off x="457200" y="3703320"/>
            <a:ext cx="1828800" cy="1024128"/>
          </a:xfrm>
          <a:prstGeom prst="rect">
            <a:avLst/>
          </a:prstGeom>
          <a:noFill/>
          <a:ln/>
        </p:spPr>
        <p:txBody>
          <a:bodyPr wrap="square" lIns="0" tIns="0" rIns="0" bIns="0" rtlCol="0" anchor="ctr"/>
          <a:lstStyle/>
          <a:p>
            <a:pPr marL="0" indent="0" algn="ctr">
              <a:buNone/>
            </a:pPr>
            <a:r>
              <a:rPr lang="en-US" sz="1150" dirty="0">
                <a:solidFill>
                  <a:srgbClr val="CBD5E1"/>
                </a:solidFill>
                <a:latin typeface="Calibri" pitchFamily="34" charset="0"/>
                <a:ea typeface="Calibri" pitchFamily="34" charset="-122"/>
                <a:cs typeface="Calibri" pitchFamily="34" charset="-120"/>
              </a:rPr>
              <a:t>Cause ~6,000 deaths and $30B+ in damage every year worldwide</a:t>
            </a:r>
            <a:endParaRPr lang="en-US" sz="1150" dirty="0"/>
          </a:p>
        </p:txBody>
      </p:sp>
      <p:sp>
        <p:nvSpPr>
          <p:cNvPr id="16" name="Shape 14"/>
          <p:cNvSpPr/>
          <p:nvPr/>
        </p:nvSpPr>
        <p:spPr>
          <a:xfrm>
            <a:off x="2514600" y="2423160"/>
            <a:ext cx="2011680" cy="2423160"/>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17" name="Shape 15"/>
          <p:cNvSpPr/>
          <p:nvPr/>
        </p:nvSpPr>
        <p:spPr>
          <a:xfrm>
            <a:off x="3191256" y="2560320"/>
            <a:ext cx="658368" cy="658368"/>
          </a:xfrm>
          <a:prstGeom prst="ellipse">
            <a:avLst/>
          </a:prstGeom>
          <a:solidFill>
            <a:srgbClr val="F87171"/>
          </a:solidFill>
          <a:ln w="12700">
            <a:solidFill>
              <a:srgbClr val="F87171"/>
            </a:solidFill>
            <a:prstDash val="solid"/>
          </a:ln>
        </p:spPr>
      </p:sp>
      <p:sp>
        <p:nvSpPr>
          <p:cNvPr id="18" name="Text 16"/>
          <p:cNvSpPr/>
          <p:nvPr/>
        </p:nvSpPr>
        <p:spPr>
          <a:xfrm>
            <a:off x="3191256" y="2560320"/>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2606040" y="3310128"/>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Landslides</a:t>
            </a:r>
            <a:endParaRPr lang="en-US" sz="1400" dirty="0"/>
          </a:p>
        </p:txBody>
      </p:sp>
      <p:sp>
        <p:nvSpPr>
          <p:cNvPr id="20" name="Text 18"/>
          <p:cNvSpPr/>
          <p:nvPr/>
        </p:nvSpPr>
        <p:spPr>
          <a:xfrm>
            <a:off x="2606040" y="3703320"/>
            <a:ext cx="1828800" cy="1024128"/>
          </a:xfrm>
          <a:prstGeom prst="rect">
            <a:avLst/>
          </a:prstGeom>
          <a:noFill/>
          <a:ln/>
        </p:spPr>
        <p:txBody>
          <a:bodyPr wrap="square" lIns="0" tIns="0" rIns="0" bIns="0" rtlCol="0" anchor="ctr"/>
          <a:lstStyle/>
          <a:p>
            <a:pPr marL="0" indent="0" algn="ctr">
              <a:buNone/>
            </a:pPr>
            <a:r>
              <a:rPr lang="en-US" sz="1150" dirty="0">
                <a:solidFill>
                  <a:srgbClr val="CBD5E1"/>
                </a:solidFill>
                <a:latin typeface="Calibri" pitchFamily="34" charset="0"/>
                <a:ea typeface="Calibri" pitchFamily="34" charset="-122"/>
                <a:cs typeface="Calibri" pitchFamily="34" charset="-120"/>
              </a:rPr>
              <a:t>Kill over 4,000 people annually — often secondary to heavy rainfall</a:t>
            </a:r>
            <a:endParaRPr lang="en-US" sz="1150" dirty="0"/>
          </a:p>
        </p:txBody>
      </p:sp>
      <p:sp>
        <p:nvSpPr>
          <p:cNvPr id="21" name="Shape 19"/>
          <p:cNvSpPr/>
          <p:nvPr/>
        </p:nvSpPr>
        <p:spPr>
          <a:xfrm>
            <a:off x="4663440" y="2423160"/>
            <a:ext cx="2011680" cy="2423160"/>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22" name="Shape 20"/>
          <p:cNvSpPr/>
          <p:nvPr/>
        </p:nvSpPr>
        <p:spPr>
          <a:xfrm>
            <a:off x="5340096" y="2560320"/>
            <a:ext cx="658368" cy="658368"/>
          </a:xfrm>
          <a:prstGeom prst="ellipse">
            <a:avLst/>
          </a:prstGeom>
          <a:solidFill>
            <a:srgbClr val="34D399"/>
          </a:solidFill>
          <a:ln w="12700">
            <a:solidFill>
              <a:srgbClr val="34D399"/>
            </a:solidFill>
            <a:prstDash val="solid"/>
          </a:ln>
        </p:spPr>
      </p:sp>
      <p:sp>
        <p:nvSpPr>
          <p:cNvPr id="23" name="Text 21"/>
          <p:cNvSpPr/>
          <p:nvPr/>
        </p:nvSpPr>
        <p:spPr>
          <a:xfrm>
            <a:off x="5340096" y="2560320"/>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4" name="Text 22"/>
          <p:cNvSpPr/>
          <p:nvPr/>
        </p:nvSpPr>
        <p:spPr>
          <a:xfrm>
            <a:off x="4754880" y="3310128"/>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Response</a:t>
            </a:r>
            <a:endParaRPr lang="en-US" sz="1400" dirty="0"/>
          </a:p>
        </p:txBody>
      </p:sp>
      <p:sp>
        <p:nvSpPr>
          <p:cNvPr id="25" name="Text 23"/>
          <p:cNvSpPr/>
          <p:nvPr/>
        </p:nvSpPr>
        <p:spPr>
          <a:xfrm>
            <a:off x="4754880" y="3703320"/>
            <a:ext cx="1828800" cy="1024128"/>
          </a:xfrm>
          <a:prstGeom prst="rect">
            <a:avLst/>
          </a:prstGeom>
          <a:noFill/>
          <a:ln/>
        </p:spPr>
        <p:txBody>
          <a:bodyPr wrap="square" lIns="0" tIns="0" rIns="0" bIns="0" rtlCol="0" anchor="ctr"/>
          <a:lstStyle/>
          <a:p>
            <a:pPr marL="0" indent="0" algn="ctr">
              <a:buNone/>
            </a:pPr>
            <a:r>
              <a:rPr lang="en-US" sz="1150" dirty="0">
                <a:solidFill>
                  <a:srgbClr val="CBD5E1"/>
                </a:solidFill>
                <a:latin typeface="Calibri" pitchFamily="34" charset="0"/>
                <a:ea typeface="Calibri" pitchFamily="34" charset="-122"/>
                <a:cs typeface="Calibri" pitchFamily="34" charset="-120"/>
              </a:rPr>
              <a:t>Delayed detection is the primary cause of increased casualties</a:t>
            </a:r>
            <a:endParaRPr lang="en-US" sz="1150" dirty="0"/>
          </a:p>
        </p:txBody>
      </p:sp>
      <p:sp>
        <p:nvSpPr>
          <p:cNvPr id="26" name="Shape 24"/>
          <p:cNvSpPr/>
          <p:nvPr/>
        </p:nvSpPr>
        <p:spPr>
          <a:xfrm>
            <a:off x="6812280" y="2423160"/>
            <a:ext cx="2011680" cy="2423160"/>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27" name="Shape 25"/>
          <p:cNvSpPr/>
          <p:nvPr/>
        </p:nvSpPr>
        <p:spPr>
          <a:xfrm>
            <a:off x="7488936" y="2560320"/>
            <a:ext cx="658368" cy="658368"/>
          </a:xfrm>
          <a:prstGeom prst="ellipse">
            <a:avLst/>
          </a:prstGeom>
          <a:solidFill>
            <a:srgbClr val="34D399"/>
          </a:solidFill>
          <a:ln w="12700">
            <a:solidFill>
              <a:srgbClr val="34D399"/>
            </a:solidFill>
            <a:prstDash val="solid"/>
          </a:ln>
        </p:spPr>
      </p:sp>
      <p:sp>
        <p:nvSpPr>
          <p:cNvPr id="28" name="Text 26"/>
          <p:cNvSpPr/>
          <p:nvPr/>
        </p:nvSpPr>
        <p:spPr>
          <a:xfrm>
            <a:off x="7488936" y="2560320"/>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9" name="Text 27"/>
          <p:cNvSpPr/>
          <p:nvPr/>
        </p:nvSpPr>
        <p:spPr>
          <a:xfrm>
            <a:off x="6903720" y="3310128"/>
            <a:ext cx="1828800"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AI Role</a:t>
            </a:r>
            <a:endParaRPr lang="en-US" sz="1400" dirty="0"/>
          </a:p>
        </p:txBody>
      </p:sp>
      <p:sp>
        <p:nvSpPr>
          <p:cNvPr id="30" name="Text 28"/>
          <p:cNvSpPr/>
          <p:nvPr/>
        </p:nvSpPr>
        <p:spPr>
          <a:xfrm>
            <a:off x="6903720" y="3703320"/>
            <a:ext cx="1828800" cy="1024128"/>
          </a:xfrm>
          <a:prstGeom prst="rect">
            <a:avLst/>
          </a:prstGeom>
          <a:noFill/>
          <a:ln/>
        </p:spPr>
        <p:txBody>
          <a:bodyPr wrap="square" lIns="0" tIns="0" rIns="0" bIns="0" rtlCol="0" anchor="ctr"/>
          <a:lstStyle/>
          <a:p>
            <a:pPr marL="0" indent="0" algn="ctr">
              <a:buNone/>
            </a:pPr>
            <a:r>
              <a:rPr lang="en-US" sz="1150" dirty="0">
                <a:solidFill>
                  <a:srgbClr val="CBD5E1"/>
                </a:solidFill>
                <a:latin typeface="Calibri" pitchFamily="34" charset="0"/>
                <a:ea typeface="Calibri" pitchFamily="34" charset="-122"/>
                <a:cs typeface="Calibri" pitchFamily="34" charset="-120"/>
              </a:rPr>
              <a:t>Deep learning can detect disaster conditions from images in real time</a:t>
            </a:r>
            <a:endParaRPr lang="en-US" sz="11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Problem Statement</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What challenges does this project address?</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3 / 18</a:t>
            </a:r>
            <a:endParaRPr lang="en-US" sz="1000" dirty="0"/>
          </a:p>
        </p:txBody>
      </p:sp>
      <p:sp>
        <p:nvSpPr>
          <p:cNvPr id="7" name="Shape 5"/>
          <p:cNvSpPr/>
          <p:nvPr/>
        </p:nvSpPr>
        <p:spPr>
          <a:xfrm>
            <a:off x="365760" y="1298448"/>
            <a:ext cx="8412480" cy="1051560"/>
          </a:xfrm>
          <a:prstGeom prst="rect">
            <a:avLst/>
          </a:prstGeom>
          <a:solidFill>
            <a:srgbClr val="1A0A0A"/>
          </a:solidFill>
          <a:ln w="19050">
            <a:solidFill>
              <a:srgbClr val="F87171"/>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64008" cy="1051560"/>
          </a:xfrm>
          <a:prstGeom prst="rect">
            <a:avLst/>
          </a:prstGeom>
          <a:solidFill>
            <a:srgbClr val="F87171"/>
          </a:solidFill>
          <a:ln w="12700">
            <a:solidFill>
              <a:srgbClr val="F87171"/>
            </a:solidFill>
            <a:prstDash val="solid"/>
          </a:ln>
        </p:spPr>
      </p:sp>
      <p:sp>
        <p:nvSpPr>
          <p:cNvPr id="9" name="Text 7"/>
          <p:cNvSpPr/>
          <p:nvPr/>
        </p:nvSpPr>
        <p:spPr>
          <a:xfrm>
            <a:off x="594360" y="1371600"/>
            <a:ext cx="8046720" cy="329184"/>
          </a:xfrm>
          <a:prstGeom prst="rect">
            <a:avLst/>
          </a:prstGeom>
          <a:noFill/>
          <a:ln/>
        </p:spPr>
        <p:txBody>
          <a:bodyPr wrap="square" lIns="0" tIns="0" rIns="0" bIns="0" rtlCol="0" anchor="ctr"/>
          <a:lstStyle/>
          <a:p>
            <a:pPr marL="0" indent="0">
              <a:buNone/>
            </a:pPr>
            <a:r>
              <a:rPr lang="en-US" sz="1500" b="1" dirty="0">
                <a:solidFill>
                  <a:srgbClr val="F87171"/>
                </a:solidFill>
                <a:latin typeface="Calibri" pitchFamily="34" charset="0"/>
                <a:ea typeface="Calibri" pitchFamily="34" charset="-122"/>
                <a:cs typeface="Calibri" pitchFamily="34" charset="-120"/>
              </a:rPr>
              <a:t>🚨  Core Problem</a:t>
            </a:r>
            <a:endParaRPr lang="en-US" sz="1500" dirty="0"/>
          </a:p>
        </p:txBody>
      </p:sp>
      <p:sp>
        <p:nvSpPr>
          <p:cNvPr id="10" name="Text 8"/>
          <p:cNvSpPr/>
          <p:nvPr/>
        </p:nvSpPr>
        <p:spPr>
          <a:xfrm>
            <a:off x="594360" y="1691640"/>
            <a:ext cx="7955280" cy="54864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Existing disaster detection methods are expensive, slow, and inaccessible to the general public — leaving communities without timely warnings.</a:t>
            </a:r>
            <a:endParaRPr lang="en-US" sz="1300" dirty="0"/>
          </a:p>
        </p:txBody>
      </p:sp>
      <p:sp>
        <p:nvSpPr>
          <p:cNvPr id="11" name="Shape 9"/>
          <p:cNvSpPr/>
          <p:nvPr/>
        </p:nvSpPr>
        <p:spPr>
          <a:xfrm>
            <a:off x="365760" y="2578608"/>
            <a:ext cx="2697480" cy="1188720"/>
          </a:xfrm>
          <a:prstGeom prst="rect">
            <a:avLst/>
          </a:prstGeom>
          <a:solidFill>
            <a:srgbClr val="0D1E38"/>
          </a:solidFill>
          <a:ln w="15240">
            <a:solidFill>
              <a:srgbClr val="FB923C"/>
            </a:solidFill>
            <a:prstDash val="solid"/>
          </a:ln>
          <a:effectLst>
            <a:outerShdw blurRad="127000" dist="38100" dir="8100000" algn="bl" rotWithShape="0">
              <a:srgbClr val="000000">
                <a:alpha val="22000"/>
              </a:srgbClr>
            </a:outerShdw>
          </a:effectLst>
        </p:spPr>
      </p:sp>
      <p:sp>
        <p:nvSpPr>
          <p:cNvPr id="12" name="Shape 10"/>
          <p:cNvSpPr/>
          <p:nvPr/>
        </p:nvSpPr>
        <p:spPr>
          <a:xfrm>
            <a:off x="365760" y="2578608"/>
            <a:ext cx="64008" cy="1188720"/>
          </a:xfrm>
          <a:prstGeom prst="rect">
            <a:avLst/>
          </a:prstGeom>
          <a:solidFill>
            <a:srgbClr val="FB923C"/>
          </a:solidFill>
          <a:ln w="12700">
            <a:solidFill>
              <a:srgbClr val="FB923C"/>
            </a:solidFill>
            <a:prstDash val="solid"/>
          </a:ln>
        </p:spPr>
      </p:sp>
      <p:sp>
        <p:nvSpPr>
          <p:cNvPr id="13" name="Text 11"/>
          <p:cNvSpPr/>
          <p:nvPr/>
        </p:nvSpPr>
        <p:spPr>
          <a:xfrm>
            <a:off x="566928" y="2651760"/>
            <a:ext cx="2423160" cy="347472"/>
          </a:xfrm>
          <a:prstGeom prst="rect">
            <a:avLst/>
          </a:prstGeom>
          <a:noFill/>
          <a:ln/>
        </p:spPr>
        <p:txBody>
          <a:bodyPr wrap="square" lIns="0" tIns="0" rIns="0" bIns="0" rtlCol="0" anchor="ctr"/>
          <a:lstStyle/>
          <a:p>
            <a:pPr marL="0" indent="0">
              <a:buNone/>
            </a:pPr>
            <a:r>
              <a:rPr lang="en-US" sz="1300" b="1" dirty="0">
                <a:solidFill>
                  <a:srgbClr val="FB923C"/>
                </a:solidFill>
                <a:latin typeface="Calibri" pitchFamily="34" charset="0"/>
                <a:ea typeface="Calibri" pitchFamily="34" charset="-122"/>
                <a:cs typeface="Calibri" pitchFamily="34" charset="-120"/>
              </a:rPr>
              <a:t>1. Manual &amp; Slow</a:t>
            </a:r>
            <a:endParaRPr lang="en-US" sz="1300" dirty="0"/>
          </a:p>
        </p:txBody>
      </p:sp>
      <p:sp>
        <p:nvSpPr>
          <p:cNvPr id="14" name="Text 12"/>
          <p:cNvSpPr/>
          <p:nvPr/>
        </p:nvSpPr>
        <p:spPr>
          <a:xfrm>
            <a:off x="566928" y="3017520"/>
            <a:ext cx="242316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Traditional methods rely on human observation, satellite monitoring, and on-site personnel — not real-time.</a:t>
            </a:r>
            <a:endParaRPr lang="en-US" sz="1100" dirty="0"/>
          </a:p>
        </p:txBody>
      </p:sp>
      <p:sp>
        <p:nvSpPr>
          <p:cNvPr id="15" name="Shape 13"/>
          <p:cNvSpPr/>
          <p:nvPr/>
        </p:nvSpPr>
        <p:spPr>
          <a:xfrm>
            <a:off x="3182112" y="2578608"/>
            <a:ext cx="2697480" cy="1188720"/>
          </a:xfrm>
          <a:prstGeom prst="rect">
            <a:avLst/>
          </a:prstGeom>
          <a:solidFill>
            <a:srgbClr val="0D1E38"/>
          </a:solidFill>
          <a:ln w="15240">
            <a:solidFill>
              <a:srgbClr val="F87171"/>
            </a:solidFill>
            <a:prstDash val="solid"/>
          </a:ln>
          <a:effectLst>
            <a:outerShdw blurRad="127000" dist="38100" dir="8100000" algn="bl" rotWithShape="0">
              <a:srgbClr val="000000">
                <a:alpha val="22000"/>
              </a:srgbClr>
            </a:outerShdw>
          </a:effectLst>
        </p:spPr>
      </p:sp>
      <p:sp>
        <p:nvSpPr>
          <p:cNvPr id="16" name="Shape 14"/>
          <p:cNvSpPr/>
          <p:nvPr/>
        </p:nvSpPr>
        <p:spPr>
          <a:xfrm>
            <a:off x="3182112" y="2578608"/>
            <a:ext cx="64008" cy="1188720"/>
          </a:xfrm>
          <a:prstGeom prst="rect">
            <a:avLst/>
          </a:prstGeom>
          <a:solidFill>
            <a:srgbClr val="F87171"/>
          </a:solidFill>
          <a:ln w="12700">
            <a:solidFill>
              <a:srgbClr val="F87171"/>
            </a:solidFill>
            <a:prstDash val="solid"/>
          </a:ln>
        </p:spPr>
      </p:sp>
      <p:sp>
        <p:nvSpPr>
          <p:cNvPr id="17" name="Text 15"/>
          <p:cNvSpPr/>
          <p:nvPr/>
        </p:nvSpPr>
        <p:spPr>
          <a:xfrm>
            <a:off x="3383280" y="2651760"/>
            <a:ext cx="2423160" cy="347472"/>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2. Error-Prone</a:t>
            </a:r>
            <a:endParaRPr lang="en-US" sz="1300" dirty="0"/>
          </a:p>
        </p:txBody>
      </p:sp>
      <p:sp>
        <p:nvSpPr>
          <p:cNvPr id="18" name="Text 16"/>
          <p:cNvSpPr/>
          <p:nvPr/>
        </p:nvSpPr>
        <p:spPr>
          <a:xfrm>
            <a:off x="3383280" y="3017520"/>
            <a:ext cx="242316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Manual detection is subject to human error and delays — critical seconds lost during actual disasters.</a:t>
            </a:r>
            <a:endParaRPr lang="en-US" sz="1100" dirty="0"/>
          </a:p>
        </p:txBody>
      </p:sp>
      <p:sp>
        <p:nvSpPr>
          <p:cNvPr id="19" name="Shape 17"/>
          <p:cNvSpPr/>
          <p:nvPr/>
        </p:nvSpPr>
        <p:spPr>
          <a:xfrm>
            <a:off x="5998464" y="2578608"/>
            <a:ext cx="2697480" cy="1188720"/>
          </a:xfrm>
          <a:prstGeom prst="rect">
            <a:avLst/>
          </a:prstGeom>
          <a:solidFill>
            <a:srgbClr val="0D1E38"/>
          </a:solidFill>
          <a:ln w="15240">
            <a:solidFill>
              <a:srgbClr val="FBBF24"/>
            </a:solidFill>
            <a:prstDash val="solid"/>
          </a:ln>
          <a:effectLst>
            <a:outerShdw blurRad="127000" dist="38100" dir="8100000" algn="bl" rotWithShape="0">
              <a:srgbClr val="000000">
                <a:alpha val="22000"/>
              </a:srgbClr>
            </a:outerShdw>
          </a:effectLst>
        </p:spPr>
      </p:sp>
      <p:sp>
        <p:nvSpPr>
          <p:cNvPr id="20" name="Shape 18"/>
          <p:cNvSpPr/>
          <p:nvPr/>
        </p:nvSpPr>
        <p:spPr>
          <a:xfrm>
            <a:off x="5998464" y="2578608"/>
            <a:ext cx="64008" cy="1188720"/>
          </a:xfrm>
          <a:prstGeom prst="rect">
            <a:avLst/>
          </a:prstGeom>
          <a:solidFill>
            <a:srgbClr val="FBBF24"/>
          </a:solidFill>
          <a:ln w="12700">
            <a:solidFill>
              <a:srgbClr val="FBBF24"/>
            </a:solidFill>
            <a:prstDash val="solid"/>
          </a:ln>
        </p:spPr>
      </p:sp>
      <p:sp>
        <p:nvSpPr>
          <p:cNvPr id="21" name="Text 19"/>
          <p:cNvSpPr/>
          <p:nvPr/>
        </p:nvSpPr>
        <p:spPr>
          <a:xfrm>
            <a:off x="6199632" y="2651760"/>
            <a:ext cx="2423160" cy="347472"/>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3. Costly Infrastructure</a:t>
            </a:r>
            <a:endParaRPr lang="en-US" sz="1300" dirty="0"/>
          </a:p>
        </p:txBody>
      </p:sp>
      <p:sp>
        <p:nvSpPr>
          <p:cNvPr id="22" name="Text 20"/>
          <p:cNvSpPr/>
          <p:nvPr/>
        </p:nvSpPr>
        <p:spPr>
          <a:xfrm>
            <a:off x="6199632" y="3017520"/>
            <a:ext cx="242316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Existing automated systems require high-end sensors, specialized hardware, and large budgets.</a:t>
            </a:r>
            <a:endParaRPr lang="en-US" sz="1100" dirty="0"/>
          </a:p>
        </p:txBody>
      </p:sp>
      <p:sp>
        <p:nvSpPr>
          <p:cNvPr id="23" name="Shape 21"/>
          <p:cNvSpPr/>
          <p:nvPr/>
        </p:nvSpPr>
        <p:spPr>
          <a:xfrm>
            <a:off x="365760" y="3931920"/>
            <a:ext cx="4114800" cy="1005840"/>
          </a:xfrm>
          <a:prstGeom prst="rect">
            <a:avLst/>
          </a:prstGeom>
          <a:solidFill>
            <a:srgbClr val="0D1E38"/>
          </a:solidFill>
          <a:ln w="15240">
            <a:solidFill>
              <a:srgbClr val="38BDF8"/>
            </a:solidFill>
            <a:prstDash val="solid"/>
          </a:ln>
          <a:effectLst>
            <a:outerShdw blurRad="127000" dist="38100" dir="8100000" algn="bl" rotWithShape="0">
              <a:srgbClr val="000000">
                <a:alpha val="22000"/>
              </a:srgbClr>
            </a:outerShdw>
          </a:effectLst>
        </p:spPr>
      </p:sp>
      <p:sp>
        <p:nvSpPr>
          <p:cNvPr id="24" name="Shape 22"/>
          <p:cNvSpPr/>
          <p:nvPr/>
        </p:nvSpPr>
        <p:spPr>
          <a:xfrm>
            <a:off x="365760" y="3931920"/>
            <a:ext cx="64008" cy="1005840"/>
          </a:xfrm>
          <a:prstGeom prst="rect">
            <a:avLst/>
          </a:prstGeom>
          <a:solidFill>
            <a:srgbClr val="38BDF8"/>
          </a:solidFill>
          <a:ln w="12700">
            <a:solidFill>
              <a:srgbClr val="38BDF8"/>
            </a:solidFill>
            <a:prstDash val="solid"/>
          </a:ln>
        </p:spPr>
      </p:sp>
      <p:sp>
        <p:nvSpPr>
          <p:cNvPr id="25" name="Text 23"/>
          <p:cNvSpPr/>
          <p:nvPr/>
        </p:nvSpPr>
        <p:spPr>
          <a:xfrm>
            <a:off x="566928" y="4005072"/>
            <a:ext cx="3749040" cy="329184"/>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4. No User Accessibility</a:t>
            </a:r>
            <a:endParaRPr lang="en-US" sz="1300" dirty="0"/>
          </a:p>
        </p:txBody>
      </p:sp>
      <p:sp>
        <p:nvSpPr>
          <p:cNvPr id="26" name="Text 24"/>
          <p:cNvSpPr/>
          <p:nvPr/>
        </p:nvSpPr>
        <p:spPr>
          <a:xfrm>
            <a:off x="566928" y="4343400"/>
            <a:ext cx="3749040" cy="53035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No simple tool exists for citizens to identify disaster types and get emergency help from their devices.</a:t>
            </a:r>
            <a:endParaRPr lang="en-US" sz="1100" dirty="0"/>
          </a:p>
        </p:txBody>
      </p:sp>
      <p:sp>
        <p:nvSpPr>
          <p:cNvPr id="27" name="Shape 25"/>
          <p:cNvSpPr/>
          <p:nvPr/>
        </p:nvSpPr>
        <p:spPr>
          <a:xfrm>
            <a:off x="4617720" y="3931920"/>
            <a:ext cx="4114800" cy="1005840"/>
          </a:xfrm>
          <a:prstGeom prst="rect">
            <a:avLst/>
          </a:prstGeom>
          <a:solidFill>
            <a:srgbClr val="0D1E38"/>
          </a:solidFill>
          <a:ln w="15240">
            <a:solidFill>
              <a:srgbClr val="34D399"/>
            </a:solidFill>
            <a:prstDash val="solid"/>
          </a:ln>
          <a:effectLst>
            <a:outerShdw blurRad="127000" dist="38100" dir="8100000" algn="bl" rotWithShape="0">
              <a:srgbClr val="000000">
                <a:alpha val="22000"/>
              </a:srgbClr>
            </a:outerShdw>
          </a:effectLst>
        </p:spPr>
      </p:sp>
      <p:sp>
        <p:nvSpPr>
          <p:cNvPr id="28" name="Shape 26"/>
          <p:cNvSpPr/>
          <p:nvPr/>
        </p:nvSpPr>
        <p:spPr>
          <a:xfrm>
            <a:off x="4617720" y="3931920"/>
            <a:ext cx="64008" cy="1005840"/>
          </a:xfrm>
          <a:prstGeom prst="rect">
            <a:avLst/>
          </a:prstGeom>
          <a:solidFill>
            <a:srgbClr val="34D399"/>
          </a:solidFill>
          <a:ln w="12700">
            <a:solidFill>
              <a:srgbClr val="34D399"/>
            </a:solidFill>
            <a:prstDash val="solid"/>
          </a:ln>
        </p:spPr>
      </p:sp>
      <p:sp>
        <p:nvSpPr>
          <p:cNvPr id="29" name="Text 27"/>
          <p:cNvSpPr/>
          <p:nvPr/>
        </p:nvSpPr>
        <p:spPr>
          <a:xfrm>
            <a:off x="4818888" y="4005072"/>
            <a:ext cx="3749040" cy="329184"/>
          </a:xfrm>
          <a:prstGeom prst="rect">
            <a:avLst/>
          </a:prstGeom>
          <a:noFill/>
          <a:ln/>
        </p:spPr>
        <p:txBody>
          <a:bodyPr wrap="square" lIns="0" tIns="0" rIns="0" bIns="0"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5. No Severity Info</a:t>
            </a:r>
            <a:endParaRPr lang="en-US" sz="1300" dirty="0"/>
          </a:p>
        </p:txBody>
      </p:sp>
      <p:sp>
        <p:nvSpPr>
          <p:cNvPr id="30" name="Text 28"/>
          <p:cNvSpPr/>
          <p:nvPr/>
        </p:nvSpPr>
        <p:spPr>
          <a:xfrm>
            <a:off x="4818888" y="4343400"/>
            <a:ext cx="3749040" cy="53035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Even when detection occurs, there is no immediate severity classification or actionable emergency guidance.</a:t>
            </a:r>
            <a:endParaRPr lang="en-US" sz="11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Objectives</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What this project aims to achieve</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4 / 18</a:t>
            </a:r>
            <a:endParaRPr lang="en-US" sz="1000" dirty="0"/>
          </a:p>
        </p:txBody>
      </p:sp>
      <p:sp>
        <p:nvSpPr>
          <p:cNvPr id="7" name="Shape 5"/>
          <p:cNvSpPr/>
          <p:nvPr/>
        </p:nvSpPr>
        <p:spPr>
          <a:xfrm>
            <a:off x="365760" y="1298448"/>
            <a:ext cx="4251960" cy="1170432"/>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64008" cy="1170432"/>
          </a:xfrm>
          <a:prstGeom prst="rect">
            <a:avLst/>
          </a:prstGeom>
          <a:solidFill>
            <a:srgbClr val="38BDF8"/>
          </a:solidFill>
          <a:ln w="12700">
            <a:solidFill>
              <a:srgbClr val="38BDF8"/>
            </a:solidFill>
            <a:prstDash val="solid"/>
          </a:ln>
        </p:spPr>
      </p:sp>
      <p:sp>
        <p:nvSpPr>
          <p:cNvPr id="9" name="Shape 7"/>
          <p:cNvSpPr/>
          <p:nvPr/>
        </p:nvSpPr>
        <p:spPr>
          <a:xfrm>
            <a:off x="530352" y="1645920"/>
            <a:ext cx="502920" cy="502920"/>
          </a:xfrm>
          <a:prstGeom prst="ellipse">
            <a:avLst/>
          </a:prstGeom>
          <a:solidFill>
            <a:srgbClr val="38BDF8"/>
          </a:solidFill>
          <a:ln w="12700">
            <a:solidFill>
              <a:srgbClr val="38BDF8"/>
            </a:solidFill>
            <a:prstDash val="solid"/>
          </a:ln>
        </p:spPr>
      </p:sp>
      <p:sp>
        <p:nvSpPr>
          <p:cNvPr id="10" name="Text 8"/>
          <p:cNvSpPr/>
          <p:nvPr/>
        </p:nvSpPr>
        <p:spPr>
          <a:xfrm>
            <a:off x="530352" y="164592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143000" y="1389888"/>
            <a:ext cx="3291840" cy="347472"/>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Adaptive DL Framework</a:t>
            </a:r>
            <a:endParaRPr lang="en-US" sz="1400" dirty="0"/>
          </a:p>
        </p:txBody>
      </p:sp>
      <p:sp>
        <p:nvSpPr>
          <p:cNvPr id="12" name="Text 10"/>
          <p:cNvSpPr/>
          <p:nvPr/>
        </p:nvSpPr>
        <p:spPr>
          <a:xfrm>
            <a:off x="1143000" y="1755648"/>
            <a:ext cx="3337560" cy="62179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Develop an adaptive deep learning framework using CNN for automated disaster detection from images</a:t>
            </a:r>
            <a:endParaRPr lang="en-US" sz="1150" dirty="0"/>
          </a:p>
        </p:txBody>
      </p:sp>
      <p:sp>
        <p:nvSpPr>
          <p:cNvPr id="13" name="Shape 11"/>
          <p:cNvSpPr/>
          <p:nvPr/>
        </p:nvSpPr>
        <p:spPr>
          <a:xfrm>
            <a:off x="4773168" y="1298448"/>
            <a:ext cx="4251960" cy="1170432"/>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14" name="Shape 12"/>
          <p:cNvSpPr/>
          <p:nvPr/>
        </p:nvSpPr>
        <p:spPr>
          <a:xfrm>
            <a:off x="4773168" y="1298448"/>
            <a:ext cx="64008" cy="1170432"/>
          </a:xfrm>
          <a:prstGeom prst="rect">
            <a:avLst/>
          </a:prstGeom>
          <a:solidFill>
            <a:srgbClr val="34D399"/>
          </a:solidFill>
          <a:ln w="12700">
            <a:solidFill>
              <a:srgbClr val="34D399"/>
            </a:solidFill>
            <a:prstDash val="solid"/>
          </a:ln>
        </p:spPr>
      </p:sp>
      <p:sp>
        <p:nvSpPr>
          <p:cNvPr id="15" name="Shape 13"/>
          <p:cNvSpPr/>
          <p:nvPr/>
        </p:nvSpPr>
        <p:spPr>
          <a:xfrm>
            <a:off x="4937760" y="1645920"/>
            <a:ext cx="502920" cy="502920"/>
          </a:xfrm>
          <a:prstGeom prst="ellipse">
            <a:avLst/>
          </a:prstGeom>
          <a:solidFill>
            <a:srgbClr val="34D399"/>
          </a:solidFill>
          <a:ln w="12700">
            <a:solidFill>
              <a:srgbClr val="34D399"/>
            </a:solidFill>
            <a:prstDash val="solid"/>
          </a:ln>
        </p:spPr>
      </p:sp>
      <p:sp>
        <p:nvSpPr>
          <p:cNvPr id="16" name="Text 14"/>
          <p:cNvSpPr/>
          <p:nvPr/>
        </p:nvSpPr>
        <p:spPr>
          <a:xfrm>
            <a:off x="4937760" y="1645920"/>
            <a:ext cx="502920" cy="50292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5550408" y="1389888"/>
            <a:ext cx="3291840" cy="347472"/>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Accurate Classification</a:t>
            </a:r>
            <a:endParaRPr lang="en-US" sz="1400" dirty="0"/>
          </a:p>
        </p:txBody>
      </p:sp>
      <p:sp>
        <p:nvSpPr>
          <p:cNvPr id="18" name="Text 16"/>
          <p:cNvSpPr/>
          <p:nvPr/>
        </p:nvSpPr>
        <p:spPr>
          <a:xfrm>
            <a:off x="5550408" y="1755648"/>
            <a:ext cx="3337560" cy="62179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Classify images accurately into Flood, Landslide, or Normal categories with confidence scoring</a:t>
            </a:r>
            <a:endParaRPr lang="en-US" sz="1150" dirty="0"/>
          </a:p>
        </p:txBody>
      </p:sp>
      <p:sp>
        <p:nvSpPr>
          <p:cNvPr id="19" name="Shape 17"/>
          <p:cNvSpPr/>
          <p:nvPr/>
        </p:nvSpPr>
        <p:spPr>
          <a:xfrm>
            <a:off x="365760" y="2596896"/>
            <a:ext cx="4251960" cy="1170432"/>
          </a:xfrm>
          <a:prstGeom prst="rect">
            <a:avLst/>
          </a:prstGeom>
          <a:solidFill>
            <a:srgbClr val="112244"/>
          </a:solidFill>
          <a:ln w="15240">
            <a:solidFill>
              <a:srgbClr val="FB923C"/>
            </a:solidFill>
            <a:prstDash val="solid"/>
          </a:ln>
          <a:effectLst>
            <a:outerShdw blurRad="127000" dist="38100" dir="8100000" algn="bl" rotWithShape="0">
              <a:srgbClr val="000000">
                <a:alpha val="22000"/>
              </a:srgbClr>
            </a:outerShdw>
          </a:effectLst>
        </p:spPr>
      </p:sp>
      <p:sp>
        <p:nvSpPr>
          <p:cNvPr id="20" name="Shape 18"/>
          <p:cNvSpPr/>
          <p:nvPr/>
        </p:nvSpPr>
        <p:spPr>
          <a:xfrm>
            <a:off x="365760" y="2596896"/>
            <a:ext cx="64008" cy="1170432"/>
          </a:xfrm>
          <a:prstGeom prst="rect">
            <a:avLst/>
          </a:prstGeom>
          <a:solidFill>
            <a:srgbClr val="FB923C"/>
          </a:solidFill>
          <a:ln w="12700">
            <a:solidFill>
              <a:srgbClr val="FB923C"/>
            </a:solidFill>
            <a:prstDash val="solid"/>
          </a:ln>
        </p:spPr>
      </p:sp>
      <p:sp>
        <p:nvSpPr>
          <p:cNvPr id="21" name="Shape 19"/>
          <p:cNvSpPr/>
          <p:nvPr/>
        </p:nvSpPr>
        <p:spPr>
          <a:xfrm>
            <a:off x="530352" y="2944368"/>
            <a:ext cx="502920" cy="502920"/>
          </a:xfrm>
          <a:prstGeom prst="ellipse">
            <a:avLst/>
          </a:prstGeom>
          <a:solidFill>
            <a:srgbClr val="FB923C"/>
          </a:solidFill>
          <a:ln w="12700">
            <a:solidFill>
              <a:srgbClr val="FB923C"/>
            </a:solidFill>
            <a:prstDash val="solid"/>
          </a:ln>
        </p:spPr>
      </p:sp>
      <p:sp>
        <p:nvSpPr>
          <p:cNvPr id="22" name="Text 20"/>
          <p:cNvSpPr/>
          <p:nvPr/>
        </p:nvSpPr>
        <p:spPr>
          <a:xfrm>
            <a:off x="530352" y="2944368"/>
            <a:ext cx="502920" cy="50292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1143000" y="2688336"/>
            <a:ext cx="3291840" cy="347472"/>
          </a:xfrm>
          <a:prstGeom prst="rect">
            <a:avLst/>
          </a:prstGeom>
          <a:noFill/>
          <a:ln/>
        </p:spPr>
        <p:txBody>
          <a:bodyPr wrap="square" lIns="0" tIns="0" rIns="0" bIns="0" rtlCol="0" anchor="ctr"/>
          <a:lstStyle/>
          <a:p>
            <a:pPr marL="0" indent="0">
              <a:buNone/>
            </a:pPr>
            <a:r>
              <a:rPr lang="en-US" sz="1400" b="1" dirty="0">
                <a:solidFill>
                  <a:srgbClr val="FB923C"/>
                </a:solidFill>
                <a:latin typeface="Calibri" pitchFamily="34" charset="0"/>
                <a:ea typeface="Calibri" pitchFamily="34" charset="-122"/>
                <a:cs typeface="Calibri" pitchFamily="34" charset="-120"/>
              </a:rPr>
              <a:t>Real-Time Detection</a:t>
            </a:r>
            <a:endParaRPr lang="en-US" sz="1400" dirty="0"/>
          </a:p>
        </p:txBody>
      </p:sp>
      <p:sp>
        <p:nvSpPr>
          <p:cNvPr id="24" name="Text 22"/>
          <p:cNvSpPr/>
          <p:nvPr/>
        </p:nvSpPr>
        <p:spPr>
          <a:xfrm>
            <a:off x="1143000" y="3054096"/>
            <a:ext cx="3337560" cy="62179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Provide real-time prediction results including disaster type, severity level, and confidence score</a:t>
            </a:r>
            <a:endParaRPr lang="en-US" sz="1150" dirty="0"/>
          </a:p>
        </p:txBody>
      </p:sp>
      <p:sp>
        <p:nvSpPr>
          <p:cNvPr id="25" name="Shape 23"/>
          <p:cNvSpPr/>
          <p:nvPr/>
        </p:nvSpPr>
        <p:spPr>
          <a:xfrm>
            <a:off x="4773168" y="2596896"/>
            <a:ext cx="4251960" cy="1170432"/>
          </a:xfrm>
          <a:prstGeom prst="rect">
            <a:avLst/>
          </a:prstGeom>
          <a:solidFill>
            <a:srgbClr val="112244"/>
          </a:solidFill>
          <a:ln w="15240">
            <a:solidFill>
              <a:srgbClr val="818CF8"/>
            </a:solidFill>
            <a:prstDash val="solid"/>
          </a:ln>
          <a:effectLst>
            <a:outerShdw blurRad="127000" dist="38100" dir="8100000" algn="bl" rotWithShape="0">
              <a:srgbClr val="000000">
                <a:alpha val="22000"/>
              </a:srgbClr>
            </a:outerShdw>
          </a:effectLst>
        </p:spPr>
      </p:sp>
      <p:sp>
        <p:nvSpPr>
          <p:cNvPr id="26" name="Shape 24"/>
          <p:cNvSpPr/>
          <p:nvPr/>
        </p:nvSpPr>
        <p:spPr>
          <a:xfrm>
            <a:off x="4773168" y="2596896"/>
            <a:ext cx="64008" cy="1170432"/>
          </a:xfrm>
          <a:prstGeom prst="rect">
            <a:avLst/>
          </a:prstGeom>
          <a:solidFill>
            <a:srgbClr val="818CF8"/>
          </a:solidFill>
          <a:ln w="12700">
            <a:solidFill>
              <a:srgbClr val="818CF8"/>
            </a:solidFill>
            <a:prstDash val="solid"/>
          </a:ln>
        </p:spPr>
      </p:sp>
      <p:sp>
        <p:nvSpPr>
          <p:cNvPr id="27" name="Shape 25"/>
          <p:cNvSpPr/>
          <p:nvPr/>
        </p:nvSpPr>
        <p:spPr>
          <a:xfrm>
            <a:off x="4937760" y="2944368"/>
            <a:ext cx="502920" cy="502920"/>
          </a:xfrm>
          <a:prstGeom prst="ellipse">
            <a:avLst/>
          </a:prstGeom>
          <a:solidFill>
            <a:srgbClr val="818CF8"/>
          </a:solidFill>
          <a:ln w="12700">
            <a:solidFill>
              <a:srgbClr val="818CF8"/>
            </a:solidFill>
            <a:prstDash val="solid"/>
          </a:ln>
        </p:spPr>
      </p:sp>
      <p:sp>
        <p:nvSpPr>
          <p:cNvPr id="28" name="Text 26"/>
          <p:cNvSpPr/>
          <p:nvPr/>
        </p:nvSpPr>
        <p:spPr>
          <a:xfrm>
            <a:off x="4937760" y="2944368"/>
            <a:ext cx="502920" cy="50292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5550408" y="2688336"/>
            <a:ext cx="3291840" cy="347472"/>
          </a:xfrm>
          <a:prstGeom prst="rect">
            <a:avLst/>
          </a:prstGeom>
          <a:noFill/>
          <a:ln/>
        </p:spPr>
        <p:txBody>
          <a:bodyPr wrap="square" lIns="0" tIns="0" rIns="0" bIns="0" rtlCol="0" anchor="ctr"/>
          <a:lstStyle/>
          <a:p>
            <a:pPr marL="0" indent="0">
              <a:buNone/>
            </a:pPr>
            <a:r>
              <a:rPr lang="en-US" sz="1400" b="1" dirty="0">
                <a:solidFill>
                  <a:srgbClr val="818CF8"/>
                </a:solidFill>
                <a:latin typeface="Calibri" pitchFamily="34" charset="0"/>
                <a:ea typeface="Calibri" pitchFamily="34" charset="-122"/>
                <a:cs typeface="Calibri" pitchFamily="34" charset="-120"/>
              </a:rPr>
              <a:t>Location Tracking</a:t>
            </a:r>
            <a:endParaRPr lang="en-US" sz="1400" dirty="0"/>
          </a:p>
        </p:txBody>
      </p:sp>
      <p:sp>
        <p:nvSpPr>
          <p:cNvPr id="30" name="Text 28"/>
          <p:cNvSpPr/>
          <p:nvPr/>
        </p:nvSpPr>
        <p:spPr>
          <a:xfrm>
            <a:off x="5550408" y="3054096"/>
            <a:ext cx="3337560" cy="62179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Capture the user's real-time GPS coordinates and convert to a readable address using APIs</a:t>
            </a:r>
            <a:endParaRPr lang="en-US" sz="1150" dirty="0"/>
          </a:p>
        </p:txBody>
      </p:sp>
      <p:sp>
        <p:nvSpPr>
          <p:cNvPr id="31" name="Shape 29"/>
          <p:cNvSpPr/>
          <p:nvPr/>
        </p:nvSpPr>
        <p:spPr>
          <a:xfrm>
            <a:off x="365760" y="3895344"/>
            <a:ext cx="4251960" cy="1170432"/>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32" name="Shape 30"/>
          <p:cNvSpPr/>
          <p:nvPr/>
        </p:nvSpPr>
        <p:spPr>
          <a:xfrm>
            <a:off x="365760" y="3895344"/>
            <a:ext cx="64008" cy="1170432"/>
          </a:xfrm>
          <a:prstGeom prst="rect">
            <a:avLst/>
          </a:prstGeom>
          <a:solidFill>
            <a:srgbClr val="F87171"/>
          </a:solidFill>
          <a:ln w="12700">
            <a:solidFill>
              <a:srgbClr val="F87171"/>
            </a:solidFill>
            <a:prstDash val="solid"/>
          </a:ln>
        </p:spPr>
      </p:sp>
      <p:sp>
        <p:nvSpPr>
          <p:cNvPr id="33" name="Shape 31"/>
          <p:cNvSpPr/>
          <p:nvPr/>
        </p:nvSpPr>
        <p:spPr>
          <a:xfrm>
            <a:off x="530352" y="4242816"/>
            <a:ext cx="502920" cy="502920"/>
          </a:xfrm>
          <a:prstGeom prst="ellipse">
            <a:avLst/>
          </a:prstGeom>
          <a:solidFill>
            <a:srgbClr val="F87171"/>
          </a:solidFill>
          <a:ln w="12700">
            <a:solidFill>
              <a:srgbClr val="F87171"/>
            </a:solidFill>
            <a:prstDash val="solid"/>
          </a:ln>
        </p:spPr>
      </p:sp>
      <p:sp>
        <p:nvSpPr>
          <p:cNvPr id="34" name="Text 32"/>
          <p:cNvSpPr/>
          <p:nvPr/>
        </p:nvSpPr>
        <p:spPr>
          <a:xfrm>
            <a:off x="530352" y="4242816"/>
            <a:ext cx="502920" cy="50292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5" name="Text 33"/>
          <p:cNvSpPr/>
          <p:nvPr/>
        </p:nvSpPr>
        <p:spPr>
          <a:xfrm>
            <a:off x="1143000" y="3986784"/>
            <a:ext cx="3291840" cy="347472"/>
          </a:xfrm>
          <a:prstGeom prst="rect">
            <a:avLst/>
          </a:prstGeom>
          <a:noFill/>
          <a:ln/>
        </p:spPr>
        <p:txBody>
          <a:bodyPr wrap="square" lIns="0" tIns="0" rIns="0" bIns="0"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Emergency Assistance</a:t>
            </a:r>
            <a:endParaRPr lang="en-US" sz="1400" dirty="0"/>
          </a:p>
        </p:txBody>
      </p:sp>
      <p:sp>
        <p:nvSpPr>
          <p:cNvPr id="36" name="Text 34"/>
          <p:cNvSpPr/>
          <p:nvPr/>
        </p:nvSpPr>
        <p:spPr>
          <a:xfrm>
            <a:off x="1143000" y="4352544"/>
            <a:ext cx="3337560" cy="62179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Give quick access to Police, Fire, and Ambulance services along with Google Maps navigation</a:t>
            </a:r>
            <a:endParaRPr lang="en-US" sz="1150" dirty="0"/>
          </a:p>
        </p:txBody>
      </p:sp>
      <p:sp>
        <p:nvSpPr>
          <p:cNvPr id="37" name="Shape 35"/>
          <p:cNvSpPr/>
          <p:nvPr/>
        </p:nvSpPr>
        <p:spPr>
          <a:xfrm>
            <a:off x="4773168" y="3895344"/>
            <a:ext cx="4251960" cy="1170432"/>
          </a:xfrm>
          <a:prstGeom prst="rect">
            <a:avLst/>
          </a:prstGeom>
          <a:solidFill>
            <a:srgbClr val="112244"/>
          </a:solidFill>
          <a:ln w="15240">
            <a:solidFill>
              <a:srgbClr val="FBBF24"/>
            </a:solidFill>
            <a:prstDash val="solid"/>
          </a:ln>
          <a:effectLst>
            <a:outerShdw blurRad="127000" dist="38100" dir="8100000" algn="bl" rotWithShape="0">
              <a:srgbClr val="000000">
                <a:alpha val="22000"/>
              </a:srgbClr>
            </a:outerShdw>
          </a:effectLst>
        </p:spPr>
      </p:sp>
      <p:sp>
        <p:nvSpPr>
          <p:cNvPr id="38" name="Shape 36"/>
          <p:cNvSpPr/>
          <p:nvPr/>
        </p:nvSpPr>
        <p:spPr>
          <a:xfrm>
            <a:off x="4773168" y="3895344"/>
            <a:ext cx="64008" cy="1170432"/>
          </a:xfrm>
          <a:prstGeom prst="rect">
            <a:avLst/>
          </a:prstGeom>
          <a:solidFill>
            <a:srgbClr val="FBBF24"/>
          </a:solidFill>
          <a:ln w="12700">
            <a:solidFill>
              <a:srgbClr val="FBBF24"/>
            </a:solidFill>
            <a:prstDash val="solid"/>
          </a:ln>
        </p:spPr>
      </p:sp>
      <p:sp>
        <p:nvSpPr>
          <p:cNvPr id="39" name="Shape 37"/>
          <p:cNvSpPr/>
          <p:nvPr/>
        </p:nvSpPr>
        <p:spPr>
          <a:xfrm>
            <a:off x="4937760" y="4242816"/>
            <a:ext cx="502920" cy="502920"/>
          </a:xfrm>
          <a:prstGeom prst="ellipse">
            <a:avLst/>
          </a:prstGeom>
          <a:solidFill>
            <a:srgbClr val="FBBF24"/>
          </a:solidFill>
          <a:ln w="12700">
            <a:solidFill>
              <a:srgbClr val="FBBF24"/>
            </a:solidFill>
            <a:prstDash val="solid"/>
          </a:ln>
        </p:spPr>
      </p:sp>
      <p:sp>
        <p:nvSpPr>
          <p:cNvPr id="40" name="Text 38"/>
          <p:cNvSpPr/>
          <p:nvPr/>
        </p:nvSpPr>
        <p:spPr>
          <a:xfrm>
            <a:off x="4937760" y="4242816"/>
            <a:ext cx="502920" cy="50292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41" name="Text 39"/>
          <p:cNvSpPr/>
          <p:nvPr/>
        </p:nvSpPr>
        <p:spPr>
          <a:xfrm>
            <a:off x="5550408" y="3986784"/>
            <a:ext cx="3291840" cy="347472"/>
          </a:xfrm>
          <a:prstGeom prst="rect">
            <a:avLst/>
          </a:prstGeom>
          <a:noFill/>
          <a:ln/>
        </p:spPr>
        <p:txBody>
          <a:bodyPr wrap="square" lIns="0" tIns="0" rIns="0" bIns="0" rtlCol="0" anchor="ctr"/>
          <a:lstStyle/>
          <a:p>
            <a:pPr marL="0" indent="0">
              <a:buNone/>
            </a:pPr>
            <a:r>
              <a:rPr lang="en-US" sz="1400" b="1" dirty="0">
                <a:solidFill>
                  <a:srgbClr val="FBBF24"/>
                </a:solidFill>
                <a:latin typeface="Calibri" pitchFamily="34" charset="0"/>
                <a:ea typeface="Calibri" pitchFamily="34" charset="-122"/>
                <a:cs typeface="Calibri" pitchFamily="34" charset="-120"/>
              </a:rPr>
              <a:t>Web Application</a:t>
            </a:r>
            <a:endParaRPr lang="en-US" sz="1400" dirty="0"/>
          </a:p>
        </p:txBody>
      </p:sp>
      <p:sp>
        <p:nvSpPr>
          <p:cNvPr id="42" name="Text 40"/>
          <p:cNvSpPr/>
          <p:nvPr/>
        </p:nvSpPr>
        <p:spPr>
          <a:xfrm>
            <a:off x="5550408" y="4352544"/>
            <a:ext cx="3337560" cy="62179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Build and deploy a user-friendly Flask web application accessible via any standard browser</a:t>
            </a:r>
            <a:endParaRPr lang="en-US" sz="11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System Overview</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How the AI Disaster Detection System Works</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5 / 18</a:t>
            </a:r>
            <a:endParaRPr lang="en-US" sz="1000" dirty="0"/>
          </a:p>
        </p:txBody>
      </p:sp>
      <p:sp>
        <p:nvSpPr>
          <p:cNvPr id="7" name="Shape 5"/>
          <p:cNvSpPr/>
          <p:nvPr/>
        </p:nvSpPr>
        <p:spPr>
          <a:xfrm>
            <a:off x="365760" y="1298448"/>
            <a:ext cx="8412480" cy="822960"/>
          </a:xfrm>
          <a:prstGeom prst="rect">
            <a:avLst/>
          </a:prstGeom>
          <a:solidFill>
            <a:srgbClr val="0D1E38"/>
          </a:solidFill>
          <a:ln w="15240">
            <a:solidFill>
              <a:srgbClr val="38BDF8"/>
            </a:solidFill>
            <a:prstDash val="solid"/>
          </a:ln>
          <a:effectLst>
            <a:outerShdw blurRad="127000" dist="38100" dir="8100000" algn="bl" rotWithShape="0">
              <a:srgbClr val="000000">
                <a:alpha val="22000"/>
              </a:srgbClr>
            </a:outerShdw>
          </a:effectLst>
        </p:spPr>
      </p:sp>
      <p:sp>
        <p:nvSpPr>
          <p:cNvPr id="8" name="Text 6"/>
          <p:cNvSpPr/>
          <p:nvPr/>
        </p:nvSpPr>
        <p:spPr>
          <a:xfrm>
            <a:off x="548640" y="1371600"/>
            <a:ext cx="8092440" cy="685800"/>
          </a:xfrm>
          <a:prstGeom prst="rect">
            <a:avLst/>
          </a:prstGeom>
          <a:noFill/>
          <a:ln/>
        </p:spPr>
        <p:txBody>
          <a:bodyPr wrap="square" lIns="0" tIns="0" rIns="0" bIns="0" rtlCol="0" anchor="ctr"/>
          <a:lstStyle/>
          <a:p>
            <a:pPr marL="0" indent="0">
              <a:buNone/>
            </a:pPr>
            <a:r>
              <a:rPr lang="en-US" sz="1300" dirty="0">
                <a:solidFill>
                  <a:srgbClr val="CBD5E1"/>
                </a:solidFill>
                <a:latin typeface="Calibri" pitchFamily="34" charset="0"/>
                <a:ea typeface="Calibri" pitchFamily="34" charset="-122"/>
                <a:cs typeface="Calibri" pitchFamily="34" charset="-120"/>
              </a:rPr>
              <a:t>The proposed system is a web-based AI application where users upload a disaster image and receive instant classification (Flood / Landslide / Normal), a confidence score, severity level, real-time location, and emergency support — all in one interface.</a:t>
            </a:r>
            <a:endParaRPr lang="en-US" sz="1300" dirty="0"/>
          </a:p>
        </p:txBody>
      </p:sp>
      <p:sp>
        <p:nvSpPr>
          <p:cNvPr id="9" name="Shape 7"/>
          <p:cNvSpPr/>
          <p:nvPr/>
        </p:nvSpPr>
        <p:spPr>
          <a:xfrm>
            <a:off x="365760" y="2331720"/>
            <a:ext cx="1298448" cy="1005840"/>
          </a:xfrm>
          <a:prstGeom prst="rect">
            <a:avLst/>
          </a:prstGeom>
          <a:solidFill>
            <a:srgbClr val="0D1E38"/>
          </a:solidFill>
          <a:ln w="19050">
            <a:solidFill>
              <a:srgbClr val="38BDF8"/>
            </a:solidFill>
            <a:prstDash val="solid"/>
          </a:ln>
          <a:effectLst>
            <a:outerShdw blurRad="127000" dist="38100" dir="8100000" algn="bl" rotWithShape="0">
              <a:srgbClr val="000000">
                <a:alpha val="22000"/>
              </a:srgbClr>
            </a:outerShdw>
          </a:effectLst>
        </p:spPr>
      </p:sp>
      <p:sp>
        <p:nvSpPr>
          <p:cNvPr id="10" name="Shape 8"/>
          <p:cNvSpPr/>
          <p:nvPr/>
        </p:nvSpPr>
        <p:spPr>
          <a:xfrm>
            <a:off x="795528" y="2377440"/>
            <a:ext cx="438912" cy="438912"/>
          </a:xfrm>
          <a:prstGeom prst="ellipse">
            <a:avLst/>
          </a:prstGeom>
          <a:solidFill>
            <a:srgbClr val="38BDF8"/>
          </a:solidFill>
          <a:ln w="12700">
            <a:solidFill>
              <a:srgbClr val="38BDF8"/>
            </a:solidFill>
            <a:prstDash val="solid"/>
          </a:ln>
        </p:spPr>
      </p:sp>
      <p:sp>
        <p:nvSpPr>
          <p:cNvPr id="11" name="Text 9"/>
          <p:cNvSpPr/>
          <p:nvPr/>
        </p:nvSpPr>
        <p:spPr>
          <a:xfrm>
            <a:off x="795528" y="2377440"/>
            <a:ext cx="438912" cy="438912"/>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1</a:t>
            </a:r>
            <a:endParaRPr lang="en-US" sz="1400" dirty="0"/>
          </a:p>
        </p:txBody>
      </p:sp>
      <p:sp>
        <p:nvSpPr>
          <p:cNvPr id="12" name="Text 10"/>
          <p:cNvSpPr/>
          <p:nvPr/>
        </p:nvSpPr>
        <p:spPr>
          <a:xfrm>
            <a:off x="411480" y="2852928"/>
            <a:ext cx="1207008" cy="438912"/>
          </a:xfrm>
          <a:prstGeom prst="rect">
            <a:avLst/>
          </a:prstGeom>
          <a:noFill/>
          <a:ln/>
        </p:spPr>
        <p:txBody>
          <a:bodyPr wrap="square" rtlCol="0" anchor="ctr"/>
          <a:lstStyle/>
          <a:p>
            <a:pPr marL="0" indent="0" algn="ctr">
              <a:buNone/>
            </a:pPr>
            <a:r>
              <a:rPr lang="en-US" sz="1150" b="1" dirty="0">
                <a:solidFill>
                  <a:srgbClr val="38BDF8"/>
                </a:solidFill>
                <a:latin typeface="Calibri" pitchFamily="34" charset="0"/>
                <a:ea typeface="Calibri" pitchFamily="34" charset="-122"/>
                <a:cs typeface="Calibri" pitchFamily="34" charset="-120"/>
              </a:rPr>
              <a:t>User</a:t>
            </a:r>
            <a:endParaRPr lang="en-US" sz="1150" dirty="0"/>
          </a:p>
          <a:p>
            <a:pPr marL="0" indent="0" algn="ctr">
              <a:buNone/>
            </a:pPr>
            <a:r>
              <a:rPr lang="en-US" sz="1150" b="1" dirty="0">
                <a:solidFill>
                  <a:srgbClr val="38BDF8"/>
                </a:solidFill>
                <a:latin typeface="Calibri" pitchFamily="34" charset="0"/>
                <a:ea typeface="Calibri" pitchFamily="34" charset="-122"/>
                <a:cs typeface="Calibri" pitchFamily="34" charset="-120"/>
              </a:rPr>
              <a:t>Uploads Image</a:t>
            </a:r>
            <a:endParaRPr lang="en-US" sz="1150" dirty="0"/>
          </a:p>
        </p:txBody>
      </p:sp>
      <p:sp>
        <p:nvSpPr>
          <p:cNvPr id="13" name="Shape 11"/>
          <p:cNvSpPr/>
          <p:nvPr/>
        </p:nvSpPr>
        <p:spPr>
          <a:xfrm>
            <a:off x="1664208" y="2834640"/>
            <a:ext cx="164592" cy="0"/>
          </a:xfrm>
          <a:prstGeom prst="line">
            <a:avLst/>
          </a:prstGeom>
          <a:noFill/>
          <a:ln w="19050">
            <a:solidFill>
              <a:srgbClr val="94A3B8"/>
            </a:solidFill>
            <a:prstDash val="solid"/>
          </a:ln>
        </p:spPr>
      </p:sp>
      <p:sp>
        <p:nvSpPr>
          <p:cNvPr id="14" name="Shape 12"/>
          <p:cNvSpPr/>
          <p:nvPr/>
        </p:nvSpPr>
        <p:spPr>
          <a:xfrm>
            <a:off x="1828800" y="2331720"/>
            <a:ext cx="1298448" cy="1005840"/>
          </a:xfrm>
          <a:prstGeom prst="rect">
            <a:avLst/>
          </a:prstGeom>
          <a:solidFill>
            <a:srgbClr val="0D1E38"/>
          </a:solidFill>
          <a:ln w="19050">
            <a:solidFill>
              <a:srgbClr val="818CF8"/>
            </a:solidFill>
            <a:prstDash val="solid"/>
          </a:ln>
          <a:effectLst>
            <a:outerShdw blurRad="127000" dist="38100" dir="8100000" algn="bl" rotWithShape="0">
              <a:srgbClr val="000000">
                <a:alpha val="22000"/>
              </a:srgbClr>
            </a:outerShdw>
          </a:effectLst>
        </p:spPr>
      </p:sp>
      <p:sp>
        <p:nvSpPr>
          <p:cNvPr id="15" name="Shape 13"/>
          <p:cNvSpPr/>
          <p:nvPr/>
        </p:nvSpPr>
        <p:spPr>
          <a:xfrm>
            <a:off x="2258568" y="2377440"/>
            <a:ext cx="438912" cy="438912"/>
          </a:xfrm>
          <a:prstGeom prst="ellipse">
            <a:avLst/>
          </a:prstGeom>
          <a:solidFill>
            <a:srgbClr val="818CF8"/>
          </a:solidFill>
          <a:ln w="12700">
            <a:solidFill>
              <a:srgbClr val="818CF8"/>
            </a:solidFill>
            <a:prstDash val="solid"/>
          </a:ln>
        </p:spPr>
      </p:sp>
      <p:sp>
        <p:nvSpPr>
          <p:cNvPr id="16" name="Text 14"/>
          <p:cNvSpPr/>
          <p:nvPr/>
        </p:nvSpPr>
        <p:spPr>
          <a:xfrm>
            <a:off x="2258568" y="2377440"/>
            <a:ext cx="438912" cy="438912"/>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1874520" y="2852928"/>
            <a:ext cx="1207008" cy="438912"/>
          </a:xfrm>
          <a:prstGeom prst="rect">
            <a:avLst/>
          </a:prstGeom>
          <a:noFill/>
          <a:ln/>
        </p:spPr>
        <p:txBody>
          <a:bodyPr wrap="square" rtlCol="0" anchor="ctr"/>
          <a:lstStyle/>
          <a:p>
            <a:pPr marL="0" indent="0" algn="ctr">
              <a:buNone/>
            </a:pPr>
            <a:r>
              <a:rPr lang="en-US" sz="1150" b="1" dirty="0">
                <a:solidFill>
                  <a:srgbClr val="818CF8"/>
                </a:solidFill>
                <a:latin typeface="Calibri" pitchFamily="34" charset="0"/>
                <a:ea typeface="Calibri" pitchFamily="34" charset="-122"/>
                <a:cs typeface="Calibri" pitchFamily="34" charset="-120"/>
              </a:rPr>
              <a:t>Location</a:t>
            </a:r>
            <a:endParaRPr lang="en-US" sz="1150" dirty="0"/>
          </a:p>
          <a:p>
            <a:pPr marL="0" indent="0" algn="ctr">
              <a:buNone/>
            </a:pPr>
            <a:r>
              <a:rPr lang="en-US" sz="1150" b="1" dirty="0">
                <a:solidFill>
                  <a:srgbClr val="818CF8"/>
                </a:solidFill>
                <a:latin typeface="Calibri" pitchFamily="34" charset="0"/>
                <a:ea typeface="Calibri" pitchFamily="34" charset="-122"/>
                <a:cs typeface="Calibri" pitchFamily="34" charset="-120"/>
              </a:rPr>
              <a:t>Captured</a:t>
            </a:r>
            <a:endParaRPr lang="en-US" sz="1150" dirty="0"/>
          </a:p>
        </p:txBody>
      </p:sp>
      <p:sp>
        <p:nvSpPr>
          <p:cNvPr id="18" name="Shape 16"/>
          <p:cNvSpPr/>
          <p:nvPr/>
        </p:nvSpPr>
        <p:spPr>
          <a:xfrm>
            <a:off x="3127248" y="2834640"/>
            <a:ext cx="164592" cy="0"/>
          </a:xfrm>
          <a:prstGeom prst="line">
            <a:avLst/>
          </a:prstGeom>
          <a:noFill/>
          <a:ln w="19050">
            <a:solidFill>
              <a:srgbClr val="94A3B8"/>
            </a:solidFill>
            <a:prstDash val="solid"/>
          </a:ln>
        </p:spPr>
      </p:sp>
      <p:sp>
        <p:nvSpPr>
          <p:cNvPr id="19" name="Shape 17"/>
          <p:cNvSpPr/>
          <p:nvPr/>
        </p:nvSpPr>
        <p:spPr>
          <a:xfrm>
            <a:off x="3291840" y="2331720"/>
            <a:ext cx="1298448" cy="1005840"/>
          </a:xfrm>
          <a:prstGeom prst="rect">
            <a:avLst/>
          </a:prstGeom>
          <a:solidFill>
            <a:srgbClr val="0D1E38"/>
          </a:solidFill>
          <a:ln w="19050">
            <a:solidFill>
              <a:srgbClr val="FBBF24"/>
            </a:solidFill>
            <a:prstDash val="solid"/>
          </a:ln>
          <a:effectLst>
            <a:outerShdw blurRad="127000" dist="38100" dir="8100000" algn="bl" rotWithShape="0">
              <a:srgbClr val="000000">
                <a:alpha val="22000"/>
              </a:srgbClr>
            </a:outerShdw>
          </a:effectLst>
        </p:spPr>
      </p:sp>
      <p:sp>
        <p:nvSpPr>
          <p:cNvPr id="20" name="Shape 18"/>
          <p:cNvSpPr/>
          <p:nvPr/>
        </p:nvSpPr>
        <p:spPr>
          <a:xfrm>
            <a:off x="3721608" y="2377440"/>
            <a:ext cx="438912" cy="438912"/>
          </a:xfrm>
          <a:prstGeom prst="ellipse">
            <a:avLst/>
          </a:prstGeom>
          <a:solidFill>
            <a:srgbClr val="FBBF24"/>
          </a:solidFill>
          <a:ln w="12700">
            <a:solidFill>
              <a:srgbClr val="FBBF24"/>
            </a:solidFill>
            <a:prstDash val="solid"/>
          </a:ln>
        </p:spPr>
      </p:sp>
      <p:sp>
        <p:nvSpPr>
          <p:cNvPr id="21" name="Text 19"/>
          <p:cNvSpPr/>
          <p:nvPr/>
        </p:nvSpPr>
        <p:spPr>
          <a:xfrm>
            <a:off x="3721608" y="2377440"/>
            <a:ext cx="438912" cy="438912"/>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3337560" y="2852928"/>
            <a:ext cx="1207008" cy="438912"/>
          </a:xfrm>
          <a:prstGeom prst="rect">
            <a:avLst/>
          </a:prstGeom>
          <a:noFill/>
          <a:ln/>
        </p:spPr>
        <p:txBody>
          <a:bodyPr wrap="square" rtlCol="0" anchor="ctr"/>
          <a:lstStyle/>
          <a:p>
            <a:pPr marL="0" indent="0" algn="ctr">
              <a:buNone/>
            </a:pPr>
            <a:r>
              <a:rPr lang="en-US" sz="1150" b="1" dirty="0">
                <a:solidFill>
                  <a:srgbClr val="FBBF24"/>
                </a:solidFill>
                <a:latin typeface="Calibri" pitchFamily="34" charset="0"/>
                <a:ea typeface="Calibri" pitchFamily="34" charset="-122"/>
                <a:cs typeface="Calibri" pitchFamily="34" charset="-120"/>
              </a:rPr>
              <a:t>Image</a:t>
            </a:r>
            <a:endParaRPr lang="en-US" sz="1150" dirty="0"/>
          </a:p>
          <a:p>
            <a:pPr marL="0" indent="0" algn="ctr">
              <a:buNone/>
            </a:pPr>
            <a:r>
              <a:rPr lang="en-US" sz="1150" b="1" dirty="0">
                <a:solidFill>
                  <a:srgbClr val="FBBF24"/>
                </a:solidFill>
                <a:latin typeface="Calibri" pitchFamily="34" charset="0"/>
                <a:ea typeface="Calibri" pitchFamily="34" charset="-122"/>
                <a:cs typeface="Calibri" pitchFamily="34" charset="-120"/>
              </a:rPr>
              <a:t>Preprocessed</a:t>
            </a:r>
            <a:endParaRPr lang="en-US" sz="1150" dirty="0"/>
          </a:p>
        </p:txBody>
      </p:sp>
      <p:sp>
        <p:nvSpPr>
          <p:cNvPr id="23" name="Shape 21"/>
          <p:cNvSpPr/>
          <p:nvPr/>
        </p:nvSpPr>
        <p:spPr>
          <a:xfrm>
            <a:off x="4590288" y="2834640"/>
            <a:ext cx="164592" cy="0"/>
          </a:xfrm>
          <a:prstGeom prst="line">
            <a:avLst/>
          </a:prstGeom>
          <a:noFill/>
          <a:ln w="19050">
            <a:solidFill>
              <a:srgbClr val="94A3B8"/>
            </a:solidFill>
            <a:prstDash val="solid"/>
          </a:ln>
        </p:spPr>
      </p:sp>
      <p:sp>
        <p:nvSpPr>
          <p:cNvPr id="24" name="Shape 22"/>
          <p:cNvSpPr/>
          <p:nvPr/>
        </p:nvSpPr>
        <p:spPr>
          <a:xfrm>
            <a:off x="4754880" y="2331720"/>
            <a:ext cx="1298448" cy="1005840"/>
          </a:xfrm>
          <a:prstGeom prst="rect">
            <a:avLst/>
          </a:prstGeom>
          <a:solidFill>
            <a:srgbClr val="0D1E38"/>
          </a:solidFill>
          <a:ln w="19050">
            <a:solidFill>
              <a:srgbClr val="FB923C"/>
            </a:solidFill>
            <a:prstDash val="solid"/>
          </a:ln>
          <a:effectLst>
            <a:outerShdw blurRad="127000" dist="38100" dir="8100000" algn="bl" rotWithShape="0">
              <a:srgbClr val="000000">
                <a:alpha val="22000"/>
              </a:srgbClr>
            </a:outerShdw>
          </a:effectLst>
        </p:spPr>
      </p:sp>
      <p:sp>
        <p:nvSpPr>
          <p:cNvPr id="25" name="Shape 23"/>
          <p:cNvSpPr/>
          <p:nvPr/>
        </p:nvSpPr>
        <p:spPr>
          <a:xfrm>
            <a:off x="5184648" y="2377440"/>
            <a:ext cx="438912" cy="438912"/>
          </a:xfrm>
          <a:prstGeom prst="ellipse">
            <a:avLst/>
          </a:prstGeom>
          <a:solidFill>
            <a:srgbClr val="FB923C"/>
          </a:solidFill>
          <a:ln w="12700">
            <a:solidFill>
              <a:srgbClr val="FB923C"/>
            </a:solidFill>
            <a:prstDash val="solid"/>
          </a:ln>
        </p:spPr>
      </p:sp>
      <p:sp>
        <p:nvSpPr>
          <p:cNvPr id="26" name="Text 24"/>
          <p:cNvSpPr/>
          <p:nvPr/>
        </p:nvSpPr>
        <p:spPr>
          <a:xfrm>
            <a:off x="5184648" y="2377440"/>
            <a:ext cx="438912" cy="438912"/>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4</a:t>
            </a:r>
            <a:endParaRPr lang="en-US" sz="1400" dirty="0"/>
          </a:p>
        </p:txBody>
      </p:sp>
      <p:sp>
        <p:nvSpPr>
          <p:cNvPr id="27" name="Text 25"/>
          <p:cNvSpPr/>
          <p:nvPr/>
        </p:nvSpPr>
        <p:spPr>
          <a:xfrm>
            <a:off x="4800600" y="2852928"/>
            <a:ext cx="1207008" cy="438912"/>
          </a:xfrm>
          <a:prstGeom prst="rect">
            <a:avLst/>
          </a:prstGeom>
          <a:noFill/>
          <a:ln/>
        </p:spPr>
        <p:txBody>
          <a:bodyPr wrap="square" rtlCol="0" anchor="ctr"/>
          <a:lstStyle/>
          <a:p>
            <a:pPr marL="0" indent="0" algn="ctr">
              <a:buNone/>
            </a:pPr>
            <a:r>
              <a:rPr lang="en-US" sz="1150" b="1" dirty="0">
                <a:solidFill>
                  <a:srgbClr val="FB923C"/>
                </a:solidFill>
                <a:latin typeface="Calibri" pitchFamily="34" charset="0"/>
                <a:ea typeface="Calibri" pitchFamily="34" charset="-122"/>
                <a:cs typeface="Calibri" pitchFamily="34" charset="-120"/>
              </a:rPr>
              <a:t>CNN</a:t>
            </a:r>
            <a:endParaRPr lang="en-US" sz="1150" dirty="0"/>
          </a:p>
          <a:p>
            <a:pPr marL="0" indent="0" algn="ctr">
              <a:buNone/>
            </a:pPr>
            <a:r>
              <a:rPr lang="en-US" sz="1150" b="1" dirty="0">
                <a:solidFill>
                  <a:srgbClr val="FB923C"/>
                </a:solidFill>
                <a:latin typeface="Calibri" pitchFamily="34" charset="0"/>
                <a:ea typeface="Calibri" pitchFamily="34" charset="-122"/>
                <a:cs typeface="Calibri" pitchFamily="34" charset="-120"/>
              </a:rPr>
              <a:t>Analyzes</a:t>
            </a:r>
            <a:endParaRPr lang="en-US" sz="1150" dirty="0"/>
          </a:p>
        </p:txBody>
      </p:sp>
      <p:sp>
        <p:nvSpPr>
          <p:cNvPr id="28" name="Shape 26"/>
          <p:cNvSpPr/>
          <p:nvPr/>
        </p:nvSpPr>
        <p:spPr>
          <a:xfrm>
            <a:off x="6053328" y="2834640"/>
            <a:ext cx="164592" cy="0"/>
          </a:xfrm>
          <a:prstGeom prst="line">
            <a:avLst/>
          </a:prstGeom>
          <a:noFill/>
          <a:ln w="19050">
            <a:solidFill>
              <a:srgbClr val="94A3B8"/>
            </a:solidFill>
            <a:prstDash val="solid"/>
          </a:ln>
        </p:spPr>
      </p:sp>
      <p:sp>
        <p:nvSpPr>
          <p:cNvPr id="29" name="Shape 27"/>
          <p:cNvSpPr/>
          <p:nvPr/>
        </p:nvSpPr>
        <p:spPr>
          <a:xfrm>
            <a:off x="6217920" y="2331720"/>
            <a:ext cx="1298448" cy="1005840"/>
          </a:xfrm>
          <a:prstGeom prst="rect">
            <a:avLst/>
          </a:prstGeom>
          <a:solidFill>
            <a:srgbClr val="0D1E38"/>
          </a:solidFill>
          <a:ln w="19050">
            <a:solidFill>
              <a:srgbClr val="34D399"/>
            </a:solidFill>
            <a:prstDash val="solid"/>
          </a:ln>
          <a:effectLst>
            <a:outerShdw blurRad="127000" dist="38100" dir="8100000" algn="bl" rotWithShape="0">
              <a:srgbClr val="000000">
                <a:alpha val="22000"/>
              </a:srgbClr>
            </a:outerShdw>
          </a:effectLst>
        </p:spPr>
      </p:sp>
      <p:sp>
        <p:nvSpPr>
          <p:cNvPr id="30" name="Shape 28"/>
          <p:cNvSpPr/>
          <p:nvPr/>
        </p:nvSpPr>
        <p:spPr>
          <a:xfrm>
            <a:off x="6647688" y="2377440"/>
            <a:ext cx="438912" cy="438912"/>
          </a:xfrm>
          <a:prstGeom prst="ellipse">
            <a:avLst/>
          </a:prstGeom>
          <a:solidFill>
            <a:srgbClr val="34D399"/>
          </a:solidFill>
          <a:ln w="12700">
            <a:solidFill>
              <a:srgbClr val="34D399"/>
            </a:solidFill>
            <a:prstDash val="solid"/>
          </a:ln>
        </p:spPr>
      </p:sp>
      <p:sp>
        <p:nvSpPr>
          <p:cNvPr id="31" name="Text 29"/>
          <p:cNvSpPr/>
          <p:nvPr/>
        </p:nvSpPr>
        <p:spPr>
          <a:xfrm>
            <a:off x="6647688" y="2377440"/>
            <a:ext cx="438912" cy="438912"/>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5</a:t>
            </a:r>
            <a:endParaRPr lang="en-US" sz="1400" dirty="0"/>
          </a:p>
        </p:txBody>
      </p:sp>
      <p:sp>
        <p:nvSpPr>
          <p:cNvPr id="32" name="Text 30"/>
          <p:cNvSpPr/>
          <p:nvPr/>
        </p:nvSpPr>
        <p:spPr>
          <a:xfrm>
            <a:off x="6263640" y="2852928"/>
            <a:ext cx="1207008" cy="438912"/>
          </a:xfrm>
          <a:prstGeom prst="rect">
            <a:avLst/>
          </a:prstGeom>
          <a:noFill/>
          <a:ln/>
        </p:spPr>
        <p:txBody>
          <a:bodyPr wrap="square" rtlCol="0" anchor="ctr"/>
          <a:lstStyle/>
          <a:p>
            <a:pPr marL="0" indent="0" algn="ctr">
              <a:buNone/>
            </a:pPr>
            <a:r>
              <a:rPr lang="en-US" sz="1150" b="1" dirty="0">
                <a:solidFill>
                  <a:srgbClr val="34D399"/>
                </a:solidFill>
                <a:latin typeface="Calibri" pitchFamily="34" charset="0"/>
                <a:ea typeface="Calibri" pitchFamily="34" charset="-122"/>
                <a:cs typeface="Calibri" pitchFamily="34" charset="-120"/>
              </a:rPr>
              <a:t>Results</a:t>
            </a:r>
            <a:endParaRPr lang="en-US" sz="1150" dirty="0"/>
          </a:p>
          <a:p>
            <a:pPr marL="0" indent="0" algn="ctr">
              <a:buNone/>
            </a:pPr>
            <a:r>
              <a:rPr lang="en-US" sz="1150" b="1" dirty="0">
                <a:solidFill>
                  <a:srgbClr val="34D399"/>
                </a:solidFill>
                <a:latin typeface="Calibri" pitchFamily="34" charset="0"/>
                <a:ea typeface="Calibri" pitchFamily="34" charset="-122"/>
                <a:cs typeface="Calibri" pitchFamily="34" charset="-120"/>
              </a:rPr>
              <a:t>Displayed</a:t>
            </a:r>
            <a:endParaRPr lang="en-US" sz="1150" dirty="0"/>
          </a:p>
        </p:txBody>
      </p:sp>
      <p:sp>
        <p:nvSpPr>
          <p:cNvPr id="33" name="Shape 31"/>
          <p:cNvSpPr/>
          <p:nvPr/>
        </p:nvSpPr>
        <p:spPr>
          <a:xfrm>
            <a:off x="7516368" y="2834640"/>
            <a:ext cx="164592" cy="0"/>
          </a:xfrm>
          <a:prstGeom prst="line">
            <a:avLst/>
          </a:prstGeom>
          <a:noFill/>
          <a:ln w="19050">
            <a:solidFill>
              <a:srgbClr val="94A3B8"/>
            </a:solidFill>
            <a:prstDash val="solid"/>
          </a:ln>
        </p:spPr>
      </p:sp>
      <p:sp>
        <p:nvSpPr>
          <p:cNvPr id="34" name="Shape 32"/>
          <p:cNvSpPr/>
          <p:nvPr/>
        </p:nvSpPr>
        <p:spPr>
          <a:xfrm>
            <a:off x="7680960" y="2331720"/>
            <a:ext cx="1298448" cy="1005840"/>
          </a:xfrm>
          <a:prstGeom prst="rect">
            <a:avLst/>
          </a:prstGeom>
          <a:solidFill>
            <a:srgbClr val="0D1E38"/>
          </a:solidFill>
          <a:ln w="19050">
            <a:solidFill>
              <a:srgbClr val="F87171"/>
            </a:solidFill>
            <a:prstDash val="solid"/>
          </a:ln>
          <a:effectLst>
            <a:outerShdw blurRad="127000" dist="38100" dir="8100000" algn="bl" rotWithShape="0">
              <a:srgbClr val="000000">
                <a:alpha val="22000"/>
              </a:srgbClr>
            </a:outerShdw>
          </a:effectLst>
        </p:spPr>
      </p:sp>
      <p:sp>
        <p:nvSpPr>
          <p:cNvPr id="35" name="Shape 33"/>
          <p:cNvSpPr/>
          <p:nvPr/>
        </p:nvSpPr>
        <p:spPr>
          <a:xfrm>
            <a:off x="8110728" y="2377440"/>
            <a:ext cx="438912" cy="438912"/>
          </a:xfrm>
          <a:prstGeom prst="ellipse">
            <a:avLst/>
          </a:prstGeom>
          <a:solidFill>
            <a:srgbClr val="F87171"/>
          </a:solidFill>
          <a:ln w="12700">
            <a:solidFill>
              <a:srgbClr val="F87171"/>
            </a:solidFill>
            <a:prstDash val="solid"/>
          </a:ln>
        </p:spPr>
      </p:sp>
      <p:sp>
        <p:nvSpPr>
          <p:cNvPr id="36" name="Text 34"/>
          <p:cNvSpPr/>
          <p:nvPr/>
        </p:nvSpPr>
        <p:spPr>
          <a:xfrm>
            <a:off x="8110728" y="2377440"/>
            <a:ext cx="438912" cy="438912"/>
          </a:xfrm>
          <a:prstGeom prst="rect">
            <a:avLst/>
          </a:prstGeom>
          <a:noFill/>
          <a:ln/>
        </p:spPr>
        <p:txBody>
          <a:bodyPr wrap="square" lIns="0" tIns="0" rIns="0" bIns="0" rtlCol="0" anchor="ctr"/>
          <a:lstStyle/>
          <a:p>
            <a:pPr marL="0" indent="0" algn="ctr">
              <a:buNone/>
            </a:pPr>
            <a:r>
              <a:rPr lang="en-US" sz="1400" b="1" dirty="0">
                <a:solidFill>
                  <a:srgbClr val="0A1628"/>
                </a:solidFill>
                <a:latin typeface="Calibri" pitchFamily="34" charset="0"/>
                <a:ea typeface="Calibri" pitchFamily="34" charset="-122"/>
                <a:cs typeface="Calibri" pitchFamily="34" charset="-120"/>
              </a:rPr>
              <a:t>6</a:t>
            </a:r>
            <a:endParaRPr lang="en-US" sz="1400" dirty="0"/>
          </a:p>
        </p:txBody>
      </p:sp>
      <p:sp>
        <p:nvSpPr>
          <p:cNvPr id="37" name="Text 35"/>
          <p:cNvSpPr/>
          <p:nvPr/>
        </p:nvSpPr>
        <p:spPr>
          <a:xfrm>
            <a:off x="7726680" y="2852928"/>
            <a:ext cx="1207008" cy="438912"/>
          </a:xfrm>
          <a:prstGeom prst="rect">
            <a:avLst/>
          </a:prstGeom>
          <a:noFill/>
          <a:ln/>
        </p:spPr>
        <p:txBody>
          <a:bodyPr wrap="square" rtlCol="0" anchor="ctr"/>
          <a:lstStyle/>
          <a:p>
            <a:pPr marL="0" indent="0" algn="ctr">
              <a:buNone/>
            </a:pPr>
            <a:r>
              <a:rPr lang="en-US" sz="1150" b="1" dirty="0">
                <a:solidFill>
                  <a:srgbClr val="F87171"/>
                </a:solidFill>
                <a:latin typeface="Calibri" pitchFamily="34" charset="0"/>
                <a:ea typeface="Calibri" pitchFamily="34" charset="-122"/>
                <a:cs typeface="Calibri" pitchFamily="34" charset="-120"/>
              </a:rPr>
              <a:t>Emergency</a:t>
            </a:r>
            <a:endParaRPr lang="en-US" sz="1150" dirty="0"/>
          </a:p>
          <a:p>
            <a:pPr marL="0" indent="0" algn="ctr">
              <a:buNone/>
            </a:pPr>
            <a:r>
              <a:rPr lang="en-US" sz="1150" b="1" dirty="0">
                <a:solidFill>
                  <a:srgbClr val="F87171"/>
                </a:solidFill>
                <a:latin typeface="Calibri" pitchFamily="34" charset="0"/>
                <a:ea typeface="Calibri" pitchFamily="34" charset="-122"/>
                <a:cs typeface="Calibri" pitchFamily="34" charset="-120"/>
              </a:rPr>
              <a:t>Support</a:t>
            </a:r>
            <a:endParaRPr lang="en-US" sz="1150" dirty="0"/>
          </a:p>
        </p:txBody>
      </p:sp>
      <p:sp>
        <p:nvSpPr>
          <p:cNvPr id="38" name="Shape 36"/>
          <p:cNvSpPr/>
          <p:nvPr/>
        </p:nvSpPr>
        <p:spPr>
          <a:xfrm>
            <a:off x="365760" y="3547872"/>
            <a:ext cx="4114800" cy="1417320"/>
          </a:xfrm>
          <a:prstGeom prst="rect">
            <a:avLst/>
          </a:prstGeom>
          <a:solidFill>
            <a:srgbClr val="0D1E38"/>
          </a:solidFill>
          <a:ln w="15240">
            <a:solidFill>
              <a:srgbClr val="38BDF8"/>
            </a:solidFill>
            <a:prstDash val="solid"/>
          </a:ln>
          <a:effectLst>
            <a:outerShdw blurRad="127000" dist="38100" dir="8100000" algn="bl" rotWithShape="0">
              <a:srgbClr val="000000">
                <a:alpha val="22000"/>
              </a:srgbClr>
            </a:outerShdw>
          </a:effectLst>
        </p:spPr>
      </p:sp>
      <p:sp>
        <p:nvSpPr>
          <p:cNvPr id="39" name="Shape 37"/>
          <p:cNvSpPr/>
          <p:nvPr/>
        </p:nvSpPr>
        <p:spPr>
          <a:xfrm>
            <a:off x="365760" y="3547872"/>
            <a:ext cx="64008" cy="1417320"/>
          </a:xfrm>
          <a:prstGeom prst="rect">
            <a:avLst/>
          </a:prstGeom>
          <a:solidFill>
            <a:srgbClr val="38BDF8"/>
          </a:solidFill>
          <a:ln w="12700">
            <a:solidFill>
              <a:srgbClr val="38BDF8"/>
            </a:solidFill>
            <a:prstDash val="solid"/>
          </a:ln>
        </p:spPr>
      </p:sp>
      <p:sp>
        <p:nvSpPr>
          <p:cNvPr id="40" name="Text 38"/>
          <p:cNvSpPr/>
          <p:nvPr/>
        </p:nvSpPr>
        <p:spPr>
          <a:xfrm>
            <a:off x="594360" y="3621024"/>
            <a:ext cx="3749040" cy="320040"/>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Input</a:t>
            </a:r>
            <a:endParaRPr lang="en-US" sz="1400" dirty="0"/>
          </a:p>
        </p:txBody>
      </p:sp>
      <p:sp>
        <p:nvSpPr>
          <p:cNvPr id="41" name="Text 39"/>
          <p:cNvSpPr/>
          <p:nvPr/>
        </p:nvSpPr>
        <p:spPr>
          <a:xfrm>
            <a:off x="594360" y="3959352"/>
            <a:ext cx="3749040" cy="9144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User name &amp; phone number</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 Disaster image (JPG/PNG)</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 Browser GPS location (automatic)</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 Submitted via web form (Flask)</a:t>
            </a:r>
            <a:endParaRPr lang="en-US" sz="1200" dirty="0"/>
          </a:p>
        </p:txBody>
      </p:sp>
      <p:sp>
        <p:nvSpPr>
          <p:cNvPr id="42" name="Shape 40"/>
          <p:cNvSpPr/>
          <p:nvPr/>
        </p:nvSpPr>
        <p:spPr>
          <a:xfrm>
            <a:off x="4663440" y="3547872"/>
            <a:ext cx="4114800" cy="1417320"/>
          </a:xfrm>
          <a:prstGeom prst="rect">
            <a:avLst/>
          </a:prstGeom>
          <a:solidFill>
            <a:srgbClr val="0D1E38"/>
          </a:solidFill>
          <a:ln w="15240">
            <a:solidFill>
              <a:srgbClr val="34D399"/>
            </a:solidFill>
            <a:prstDash val="solid"/>
          </a:ln>
          <a:effectLst>
            <a:outerShdw blurRad="127000" dist="38100" dir="8100000" algn="bl" rotWithShape="0">
              <a:srgbClr val="000000">
                <a:alpha val="22000"/>
              </a:srgbClr>
            </a:outerShdw>
          </a:effectLst>
        </p:spPr>
      </p:sp>
      <p:sp>
        <p:nvSpPr>
          <p:cNvPr id="43" name="Shape 41"/>
          <p:cNvSpPr/>
          <p:nvPr/>
        </p:nvSpPr>
        <p:spPr>
          <a:xfrm>
            <a:off x="4663440" y="3547872"/>
            <a:ext cx="64008" cy="1417320"/>
          </a:xfrm>
          <a:prstGeom prst="rect">
            <a:avLst/>
          </a:prstGeom>
          <a:solidFill>
            <a:srgbClr val="34D399"/>
          </a:solidFill>
          <a:ln w="12700">
            <a:solidFill>
              <a:srgbClr val="34D399"/>
            </a:solidFill>
            <a:prstDash val="solid"/>
          </a:ln>
        </p:spPr>
      </p:sp>
      <p:sp>
        <p:nvSpPr>
          <p:cNvPr id="44" name="Text 42"/>
          <p:cNvSpPr/>
          <p:nvPr/>
        </p:nvSpPr>
        <p:spPr>
          <a:xfrm>
            <a:off x="4892040" y="3621024"/>
            <a:ext cx="3749040" cy="320040"/>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Output</a:t>
            </a:r>
            <a:endParaRPr lang="en-US" sz="1400" dirty="0"/>
          </a:p>
        </p:txBody>
      </p:sp>
      <p:sp>
        <p:nvSpPr>
          <p:cNvPr id="45" name="Text 43"/>
          <p:cNvSpPr/>
          <p:nvPr/>
        </p:nvSpPr>
        <p:spPr>
          <a:xfrm>
            <a:off x="4892040" y="3959352"/>
            <a:ext cx="3749040" cy="914400"/>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 Disaster type: Flood / Landslide / Normal</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 Severity: Safe / Low / Moderate / High</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 Confidence score in percentage</a:t>
            </a:r>
            <a:endParaRPr lang="en-US" sz="1200" dirty="0"/>
          </a:p>
          <a:p>
            <a:pPr marL="0" indent="0">
              <a:buNone/>
            </a:pPr>
            <a:r>
              <a:rPr lang="en-US" sz="1200" dirty="0">
                <a:solidFill>
                  <a:srgbClr val="CBD5E1"/>
                </a:solidFill>
                <a:latin typeface="Calibri" pitchFamily="34" charset="0"/>
                <a:ea typeface="Calibri" pitchFamily="34" charset="-122"/>
                <a:cs typeface="Calibri" pitchFamily="34" charset="-120"/>
              </a:rPr>
              <a:t>• Emergency help + Google Maps link</a:t>
            </a:r>
            <a:endParaRPr lang="en-US" sz="1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7088"/>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System </a:t>
            </a:r>
            <a:r>
              <a:rPr lang="en-US" sz="3000" b="1" dirty="0" smtClean="0">
                <a:solidFill>
                  <a:srgbClr val="FFFFFF"/>
                </a:solidFill>
                <a:latin typeface="Calibri" pitchFamily="34" charset="0"/>
                <a:ea typeface="Calibri" pitchFamily="34" charset="-122"/>
                <a:cs typeface="Calibri" pitchFamily="34" charset="-120"/>
              </a:rPr>
              <a:t>Architecture Diagram</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How the AI Disaster Detection System Works</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5 / 18</a:t>
            </a:r>
            <a:endParaRPr lang="en-US" sz="1000" dirty="0"/>
          </a:p>
        </p:txBody>
      </p:sp>
      <p:sp>
        <p:nvSpPr>
          <p:cNvPr id="8" name="Text 6"/>
          <p:cNvSpPr/>
          <p:nvPr/>
        </p:nvSpPr>
        <p:spPr>
          <a:xfrm>
            <a:off x="548640" y="1371600"/>
            <a:ext cx="8092440" cy="685800"/>
          </a:xfrm>
          <a:prstGeom prst="rect">
            <a:avLst/>
          </a:prstGeom>
          <a:noFill/>
          <a:ln/>
        </p:spPr>
        <p:txBody>
          <a:bodyPr wrap="square" lIns="0" tIns="0" rIns="0" bIns="0" rtlCol="0" anchor="ctr"/>
          <a:lstStyle/>
          <a:p>
            <a:pPr marL="0" indent="0">
              <a:buNone/>
            </a:pPr>
            <a:endParaRPr lang="en-US" sz="1300" dirty="0"/>
          </a:p>
        </p:txBody>
      </p:sp>
      <p:pic>
        <p:nvPicPr>
          <p:cNvPr id="46" name="Picture 45"/>
          <p:cNvPicPr/>
          <p:nvPr/>
        </p:nvPicPr>
        <p:blipFill>
          <a:blip r:embed="rId3"/>
          <a:stretch>
            <a:fillRect/>
          </a:stretch>
        </p:blipFill>
        <p:spPr>
          <a:xfrm>
            <a:off x="365760" y="1380744"/>
            <a:ext cx="8275320" cy="3396996"/>
          </a:xfrm>
          <a:prstGeom prst="rect">
            <a:avLst/>
          </a:prstGeom>
        </p:spPr>
      </p:pic>
    </p:spTree>
    <p:extLst>
      <p:ext uri="{BB962C8B-B14F-4D97-AF65-F5344CB8AC3E}">
        <p14:creationId xmlns:p14="http://schemas.microsoft.com/office/powerpoint/2010/main" val="38695567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System Architecture</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Client–Server Architecture with Deep Learning Pipeline</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6 / 18</a:t>
            </a:r>
            <a:endParaRPr lang="en-US" sz="1000" dirty="0"/>
          </a:p>
        </p:txBody>
      </p:sp>
      <p:sp>
        <p:nvSpPr>
          <p:cNvPr id="7" name="Shape 5"/>
          <p:cNvSpPr/>
          <p:nvPr/>
        </p:nvSpPr>
        <p:spPr>
          <a:xfrm>
            <a:off x="365760" y="1298448"/>
            <a:ext cx="2788920" cy="3474720"/>
          </a:xfrm>
          <a:prstGeom prst="rect">
            <a:avLst/>
          </a:prstGeom>
          <a:solidFill>
            <a:srgbClr val="112244"/>
          </a:solidFill>
          <a:ln w="19050">
            <a:solidFill>
              <a:srgbClr val="38BDF8"/>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2788920" cy="475488"/>
          </a:xfrm>
          <a:prstGeom prst="rect">
            <a:avLst/>
          </a:prstGeom>
          <a:solidFill>
            <a:srgbClr val="38BDF8"/>
          </a:solidFill>
          <a:ln w="12700">
            <a:solidFill>
              <a:srgbClr val="38BDF8"/>
            </a:solidFill>
            <a:prstDash val="solid"/>
          </a:ln>
        </p:spPr>
      </p:sp>
      <p:sp>
        <p:nvSpPr>
          <p:cNvPr id="9" name="Text 7"/>
          <p:cNvSpPr/>
          <p:nvPr/>
        </p:nvSpPr>
        <p:spPr>
          <a:xfrm>
            <a:off x="438912" y="1316736"/>
            <a:ext cx="2642616" cy="438912"/>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FRONTEND</a:t>
            </a:r>
            <a:endParaRPr lang="en-US" sz="1300" dirty="0"/>
          </a:p>
          <a:p>
            <a:pPr marL="0" indent="0" algn="ctr">
              <a:buNone/>
            </a:pPr>
            <a:r>
              <a:rPr lang="en-US" sz="1300" b="1" dirty="0">
                <a:solidFill>
                  <a:srgbClr val="0A1628"/>
                </a:solidFill>
                <a:latin typeface="Calibri" pitchFamily="34" charset="0"/>
                <a:ea typeface="Calibri" pitchFamily="34" charset="-122"/>
                <a:cs typeface="Calibri" pitchFamily="34" charset="-120"/>
              </a:rPr>
              <a:t>(Browser)</a:t>
            </a:r>
            <a:endParaRPr lang="en-US" sz="1300" dirty="0"/>
          </a:p>
        </p:txBody>
      </p:sp>
      <p:sp>
        <p:nvSpPr>
          <p:cNvPr id="10" name="Shape 8"/>
          <p:cNvSpPr/>
          <p:nvPr/>
        </p:nvSpPr>
        <p:spPr>
          <a:xfrm>
            <a:off x="530352" y="1993392"/>
            <a:ext cx="137160" cy="137160"/>
          </a:xfrm>
          <a:prstGeom prst="ellipse">
            <a:avLst/>
          </a:prstGeom>
          <a:solidFill>
            <a:srgbClr val="38BDF8"/>
          </a:solidFill>
          <a:ln w="12700">
            <a:solidFill>
              <a:srgbClr val="38BDF8"/>
            </a:solidFill>
            <a:prstDash val="solid"/>
          </a:ln>
        </p:spPr>
      </p:sp>
      <p:sp>
        <p:nvSpPr>
          <p:cNvPr id="11" name="Text 9"/>
          <p:cNvSpPr/>
          <p:nvPr/>
        </p:nvSpPr>
        <p:spPr>
          <a:xfrm>
            <a:off x="749808" y="192024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HTML + CSS + JavaScript</a:t>
            </a:r>
            <a:endParaRPr lang="en-US" sz="1250" dirty="0"/>
          </a:p>
        </p:txBody>
      </p:sp>
      <p:sp>
        <p:nvSpPr>
          <p:cNvPr id="12" name="Shape 10"/>
          <p:cNvSpPr/>
          <p:nvPr/>
        </p:nvSpPr>
        <p:spPr>
          <a:xfrm>
            <a:off x="530352" y="2496312"/>
            <a:ext cx="137160" cy="137160"/>
          </a:xfrm>
          <a:prstGeom prst="ellipse">
            <a:avLst/>
          </a:prstGeom>
          <a:solidFill>
            <a:srgbClr val="38BDF8"/>
          </a:solidFill>
          <a:ln w="12700">
            <a:solidFill>
              <a:srgbClr val="38BDF8"/>
            </a:solidFill>
            <a:prstDash val="solid"/>
          </a:ln>
        </p:spPr>
      </p:sp>
      <p:sp>
        <p:nvSpPr>
          <p:cNvPr id="13" name="Text 11"/>
          <p:cNvSpPr/>
          <p:nvPr/>
        </p:nvSpPr>
        <p:spPr>
          <a:xfrm>
            <a:off x="749808" y="242316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Image upload form</a:t>
            </a:r>
            <a:endParaRPr lang="en-US" sz="1250" dirty="0"/>
          </a:p>
        </p:txBody>
      </p:sp>
      <p:sp>
        <p:nvSpPr>
          <p:cNvPr id="14" name="Shape 12"/>
          <p:cNvSpPr/>
          <p:nvPr/>
        </p:nvSpPr>
        <p:spPr>
          <a:xfrm>
            <a:off x="530352" y="2999232"/>
            <a:ext cx="137160" cy="137160"/>
          </a:xfrm>
          <a:prstGeom prst="ellipse">
            <a:avLst/>
          </a:prstGeom>
          <a:solidFill>
            <a:srgbClr val="38BDF8"/>
          </a:solidFill>
          <a:ln w="12700">
            <a:solidFill>
              <a:srgbClr val="38BDF8"/>
            </a:solidFill>
            <a:prstDash val="solid"/>
          </a:ln>
        </p:spPr>
      </p:sp>
      <p:sp>
        <p:nvSpPr>
          <p:cNvPr id="15" name="Text 13"/>
          <p:cNvSpPr/>
          <p:nvPr/>
        </p:nvSpPr>
        <p:spPr>
          <a:xfrm>
            <a:off x="749808" y="292608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GPS geolocation capture</a:t>
            </a:r>
            <a:endParaRPr lang="en-US" sz="1250" dirty="0"/>
          </a:p>
        </p:txBody>
      </p:sp>
      <p:sp>
        <p:nvSpPr>
          <p:cNvPr id="16" name="Shape 14"/>
          <p:cNvSpPr/>
          <p:nvPr/>
        </p:nvSpPr>
        <p:spPr>
          <a:xfrm>
            <a:off x="530352" y="3502152"/>
            <a:ext cx="137160" cy="137160"/>
          </a:xfrm>
          <a:prstGeom prst="ellipse">
            <a:avLst/>
          </a:prstGeom>
          <a:solidFill>
            <a:srgbClr val="38BDF8"/>
          </a:solidFill>
          <a:ln w="12700">
            <a:solidFill>
              <a:srgbClr val="38BDF8"/>
            </a:solidFill>
            <a:prstDash val="solid"/>
          </a:ln>
        </p:spPr>
      </p:sp>
      <p:sp>
        <p:nvSpPr>
          <p:cNvPr id="17" name="Text 15"/>
          <p:cNvSpPr/>
          <p:nvPr/>
        </p:nvSpPr>
        <p:spPr>
          <a:xfrm>
            <a:off x="749808" y="342900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Result display interface</a:t>
            </a:r>
            <a:endParaRPr lang="en-US" sz="1250" dirty="0"/>
          </a:p>
        </p:txBody>
      </p:sp>
      <p:sp>
        <p:nvSpPr>
          <p:cNvPr id="18" name="Shape 16"/>
          <p:cNvSpPr/>
          <p:nvPr/>
        </p:nvSpPr>
        <p:spPr>
          <a:xfrm>
            <a:off x="3154680" y="3035808"/>
            <a:ext cx="201168" cy="0"/>
          </a:xfrm>
          <a:prstGeom prst="line">
            <a:avLst/>
          </a:prstGeom>
          <a:noFill/>
          <a:ln w="25400">
            <a:solidFill>
              <a:srgbClr val="94A3B8"/>
            </a:solidFill>
            <a:prstDash val="solid"/>
          </a:ln>
        </p:spPr>
      </p:sp>
      <p:sp>
        <p:nvSpPr>
          <p:cNvPr id="19" name="Text 17"/>
          <p:cNvSpPr/>
          <p:nvPr/>
        </p:nvSpPr>
        <p:spPr>
          <a:xfrm>
            <a:off x="3127248" y="2944368"/>
            <a:ext cx="228600" cy="182880"/>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20" name="Shape 18"/>
          <p:cNvSpPr/>
          <p:nvPr/>
        </p:nvSpPr>
        <p:spPr>
          <a:xfrm>
            <a:off x="3310128" y="1298448"/>
            <a:ext cx="2788920" cy="3474720"/>
          </a:xfrm>
          <a:prstGeom prst="rect">
            <a:avLst/>
          </a:prstGeom>
          <a:solidFill>
            <a:srgbClr val="112244"/>
          </a:solidFill>
          <a:ln w="19050">
            <a:solidFill>
              <a:srgbClr val="34D399"/>
            </a:solidFill>
            <a:prstDash val="solid"/>
          </a:ln>
          <a:effectLst>
            <a:outerShdw blurRad="127000" dist="38100" dir="8100000" algn="bl" rotWithShape="0">
              <a:srgbClr val="000000">
                <a:alpha val="22000"/>
              </a:srgbClr>
            </a:outerShdw>
          </a:effectLst>
        </p:spPr>
      </p:sp>
      <p:sp>
        <p:nvSpPr>
          <p:cNvPr id="21" name="Shape 19"/>
          <p:cNvSpPr/>
          <p:nvPr/>
        </p:nvSpPr>
        <p:spPr>
          <a:xfrm>
            <a:off x="3310128" y="1298448"/>
            <a:ext cx="2788920" cy="475488"/>
          </a:xfrm>
          <a:prstGeom prst="rect">
            <a:avLst/>
          </a:prstGeom>
          <a:solidFill>
            <a:srgbClr val="34D399"/>
          </a:solidFill>
          <a:ln w="12700">
            <a:solidFill>
              <a:srgbClr val="34D399"/>
            </a:solidFill>
            <a:prstDash val="solid"/>
          </a:ln>
        </p:spPr>
      </p:sp>
      <p:sp>
        <p:nvSpPr>
          <p:cNvPr id="22" name="Text 20"/>
          <p:cNvSpPr/>
          <p:nvPr/>
        </p:nvSpPr>
        <p:spPr>
          <a:xfrm>
            <a:off x="3383280" y="1316736"/>
            <a:ext cx="2642616" cy="438912"/>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BACKEND</a:t>
            </a:r>
            <a:endParaRPr lang="en-US" sz="1300" dirty="0"/>
          </a:p>
          <a:p>
            <a:pPr marL="0" indent="0" algn="ctr">
              <a:buNone/>
            </a:pPr>
            <a:r>
              <a:rPr lang="en-US" sz="1300" b="1" dirty="0">
                <a:solidFill>
                  <a:srgbClr val="0A1628"/>
                </a:solidFill>
                <a:latin typeface="Calibri" pitchFamily="34" charset="0"/>
                <a:ea typeface="Calibri" pitchFamily="34" charset="-122"/>
                <a:cs typeface="Calibri" pitchFamily="34" charset="-120"/>
              </a:rPr>
              <a:t>(Flask Server)</a:t>
            </a:r>
            <a:endParaRPr lang="en-US" sz="1300" dirty="0"/>
          </a:p>
        </p:txBody>
      </p:sp>
      <p:sp>
        <p:nvSpPr>
          <p:cNvPr id="23" name="Shape 21"/>
          <p:cNvSpPr/>
          <p:nvPr/>
        </p:nvSpPr>
        <p:spPr>
          <a:xfrm>
            <a:off x="3474720" y="1993392"/>
            <a:ext cx="137160" cy="137160"/>
          </a:xfrm>
          <a:prstGeom prst="ellipse">
            <a:avLst/>
          </a:prstGeom>
          <a:solidFill>
            <a:srgbClr val="34D399"/>
          </a:solidFill>
          <a:ln w="12700">
            <a:solidFill>
              <a:srgbClr val="34D399"/>
            </a:solidFill>
            <a:prstDash val="solid"/>
          </a:ln>
        </p:spPr>
      </p:sp>
      <p:sp>
        <p:nvSpPr>
          <p:cNvPr id="24" name="Text 22"/>
          <p:cNvSpPr/>
          <p:nvPr/>
        </p:nvSpPr>
        <p:spPr>
          <a:xfrm>
            <a:off x="3694176" y="192024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Flask routes &amp; API handling</a:t>
            </a:r>
            <a:endParaRPr lang="en-US" sz="1250" dirty="0"/>
          </a:p>
        </p:txBody>
      </p:sp>
      <p:sp>
        <p:nvSpPr>
          <p:cNvPr id="25" name="Shape 23"/>
          <p:cNvSpPr/>
          <p:nvPr/>
        </p:nvSpPr>
        <p:spPr>
          <a:xfrm>
            <a:off x="3474720" y="2496312"/>
            <a:ext cx="137160" cy="137160"/>
          </a:xfrm>
          <a:prstGeom prst="ellipse">
            <a:avLst/>
          </a:prstGeom>
          <a:solidFill>
            <a:srgbClr val="34D399"/>
          </a:solidFill>
          <a:ln w="12700">
            <a:solidFill>
              <a:srgbClr val="34D399"/>
            </a:solidFill>
            <a:prstDash val="solid"/>
          </a:ln>
        </p:spPr>
      </p:sp>
      <p:sp>
        <p:nvSpPr>
          <p:cNvPr id="26" name="Text 24"/>
          <p:cNvSpPr/>
          <p:nvPr/>
        </p:nvSpPr>
        <p:spPr>
          <a:xfrm>
            <a:off x="3694176" y="242316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OpenCV preprocessing</a:t>
            </a:r>
            <a:endParaRPr lang="en-US" sz="1250" dirty="0"/>
          </a:p>
        </p:txBody>
      </p:sp>
      <p:sp>
        <p:nvSpPr>
          <p:cNvPr id="27" name="Shape 25"/>
          <p:cNvSpPr/>
          <p:nvPr/>
        </p:nvSpPr>
        <p:spPr>
          <a:xfrm>
            <a:off x="3474720" y="2999232"/>
            <a:ext cx="137160" cy="137160"/>
          </a:xfrm>
          <a:prstGeom prst="ellipse">
            <a:avLst/>
          </a:prstGeom>
          <a:solidFill>
            <a:srgbClr val="34D399"/>
          </a:solidFill>
          <a:ln w="12700">
            <a:solidFill>
              <a:srgbClr val="34D399"/>
            </a:solidFill>
            <a:prstDash val="solid"/>
          </a:ln>
        </p:spPr>
      </p:sp>
      <p:sp>
        <p:nvSpPr>
          <p:cNvPr id="28" name="Text 26"/>
          <p:cNvSpPr/>
          <p:nvPr/>
        </p:nvSpPr>
        <p:spPr>
          <a:xfrm>
            <a:off x="3694176" y="292608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CNN model (TensorFlow/Keras)</a:t>
            </a:r>
            <a:endParaRPr lang="en-US" sz="1250" dirty="0"/>
          </a:p>
        </p:txBody>
      </p:sp>
      <p:sp>
        <p:nvSpPr>
          <p:cNvPr id="29" name="Shape 27"/>
          <p:cNvSpPr/>
          <p:nvPr/>
        </p:nvSpPr>
        <p:spPr>
          <a:xfrm>
            <a:off x="3474720" y="3502152"/>
            <a:ext cx="137160" cy="137160"/>
          </a:xfrm>
          <a:prstGeom prst="ellipse">
            <a:avLst/>
          </a:prstGeom>
          <a:solidFill>
            <a:srgbClr val="34D399"/>
          </a:solidFill>
          <a:ln w="12700">
            <a:solidFill>
              <a:srgbClr val="34D399"/>
            </a:solidFill>
            <a:prstDash val="solid"/>
          </a:ln>
        </p:spPr>
      </p:sp>
      <p:sp>
        <p:nvSpPr>
          <p:cNvPr id="30" name="Text 28"/>
          <p:cNvSpPr/>
          <p:nvPr/>
        </p:nvSpPr>
        <p:spPr>
          <a:xfrm>
            <a:off x="3694176" y="342900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OpenStreetMap address API</a:t>
            </a:r>
            <a:endParaRPr lang="en-US" sz="1250" dirty="0"/>
          </a:p>
        </p:txBody>
      </p:sp>
      <p:sp>
        <p:nvSpPr>
          <p:cNvPr id="31" name="Shape 29"/>
          <p:cNvSpPr/>
          <p:nvPr/>
        </p:nvSpPr>
        <p:spPr>
          <a:xfrm>
            <a:off x="6099048" y="3035808"/>
            <a:ext cx="201168" cy="0"/>
          </a:xfrm>
          <a:prstGeom prst="line">
            <a:avLst/>
          </a:prstGeom>
          <a:noFill/>
          <a:ln w="25400">
            <a:solidFill>
              <a:srgbClr val="94A3B8"/>
            </a:solidFill>
            <a:prstDash val="solid"/>
          </a:ln>
        </p:spPr>
      </p:sp>
      <p:sp>
        <p:nvSpPr>
          <p:cNvPr id="32" name="Text 30"/>
          <p:cNvSpPr/>
          <p:nvPr/>
        </p:nvSpPr>
        <p:spPr>
          <a:xfrm>
            <a:off x="6071616" y="2944368"/>
            <a:ext cx="228600" cy="182880"/>
          </a:xfrm>
          <a:prstGeom prst="rect">
            <a:avLst/>
          </a:prstGeom>
          <a:noFill/>
          <a:ln/>
        </p:spPr>
        <p:txBody>
          <a:bodyPr wrap="square" lIns="0" tIns="0" rIns="0" bIns="0" rtlCol="0" anchor="ctr"/>
          <a:lstStyle/>
          <a:p>
            <a:pPr marL="0" indent="0" algn="ctr">
              <a:buNone/>
            </a:pP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33" name="Shape 31"/>
          <p:cNvSpPr/>
          <p:nvPr/>
        </p:nvSpPr>
        <p:spPr>
          <a:xfrm>
            <a:off x="6254496" y="1298448"/>
            <a:ext cx="2788920" cy="3474720"/>
          </a:xfrm>
          <a:prstGeom prst="rect">
            <a:avLst/>
          </a:prstGeom>
          <a:solidFill>
            <a:srgbClr val="112244"/>
          </a:solidFill>
          <a:ln w="19050">
            <a:solidFill>
              <a:srgbClr val="FB923C"/>
            </a:solidFill>
            <a:prstDash val="solid"/>
          </a:ln>
          <a:effectLst>
            <a:outerShdw blurRad="127000" dist="38100" dir="8100000" algn="bl" rotWithShape="0">
              <a:srgbClr val="000000">
                <a:alpha val="22000"/>
              </a:srgbClr>
            </a:outerShdw>
          </a:effectLst>
        </p:spPr>
      </p:sp>
      <p:sp>
        <p:nvSpPr>
          <p:cNvPr id="34" name="Shape 32"/>
          <p:cNvSpPr/>
          <p:nvPr/>
        </p:nvSpPr>
        <p:spPr>
          <a:xfrm>
            <a:off x="6254496" y="1298448"/>
            <a:ext cx="2788920" cy="475488"/>
          </a:xfrm>
          <a:prstGeom prst="rect">
            <a:avLst/>
          </a:prstGeom>
          <a:solidFill>
            <a:srgbClr val="FB923C"/>
          </a:solidFill>
          <a:ln w="12700">
            <a:solidFill>
              <a:srgbClr val="FB923C"/>
            </a:solidFill>
            <a:prstDash val="solid"/>
          </a:ln>
        </p:spPr>
      </p:sp>
      <p:sp>
        <p:nvSpPr>
          <p:cNvPr id="35" name="Text 33"/>
          <p:cNvSpPr/>
          <p:nvPr/>
        </p:nvSpPr>
        <p:spPr>
          <a:xfrm>
            <a:off x="6327648" y="1316736"/>
            <a:ext cx="2642616" cy="438912"/>
          </a:xfrm>
          <a:prstGeom prst="rect">
            <a:avLst/>
          </a:prstGeom>
          <a:noFill/>
          <a:ln/>
        </p:spPr>
        <p:txBody>
          <a:bodyPr wrap="square"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OUTPUT</a:t>
            </a:r>
            <a:endParaRPr lang="en-US" sz="1300" dirty="0"/>
          </a:p>
          <a:p>
            <a:pPr marL="0" indent="0" algn="ctr">
              <a:buNone/>
            </a:pPr>
            <a:r>
              <a:rPr lang="en-US" sz="1300" b="1" dirty="0">
                <a:solidFill>
                  <a:srgbClr val="0A1628"/>
                </a:solidFill>
                <a:latin typeface="Calibri" pitchFamily="34" charset="0"/>
                <a:ea typeface="Calibri" pitchFamily="34" charset="-122"/>
                <a:cs typeface="Calibri" pitchFamily="34" charset="-120"/>
              </a:rPr>
              <a:t>(Response)</a:t>
            </a:r>
            <a:endParaRPr lang="en-US" sz="1300" dirty="0"/>
          </a:p>
        </p:txBody>
      </p:sp>
      <p:sp>
        <p:nvSpPr>
          <p:cNvPr id="36" name="Shape 34"/>
          <p:cNvSpPr/>
          <p:nvPr/>
        </p:nvSpPr>
        <p:spPr>
          <a:xfrm>
            <a:off x="6419088" y="1993392"/>
            <a:ext cx="137160" cy="137160"/>
          </a:xfrm>
          <a:prstGeom prst="ellipse">
            <a:avLst/>
          </a:prstGeom>
          <a:solidFill>
            <a:srgbClr val="FB923C"/>
          </a:solidFill>
          <a:ln w="12700">
            <a:solidFill>
              <a:srgbClr val="FB923C"/>
            </a:solidFill>
            <a:prstDash val="solid"/>
          </a:ln>
        </p:spPr>
      </p:sp>
      <p:sp>
        <p:nvSpPr>
          <p:cNvPr id="37" name="Text 35"/>
          <p:cNvSpPr/>
          <p:nvPr/>
        </p:nvSpPr>
        <p:spPr>
          <a:xfrm>
            <a:off x="6638544" y="192024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Disaster type + confidence</a:t>
            </a:r>
            <a:endParaRPr lang="en-US" sz="1250" dirty="0"/>
          </a:p>
        </p:txBody>
      </p:sp>
      <p:sp>
        <p:nvSpPr>
          <p:cNvPr id="38" name="Shape 36"/>
          <p:cNvSpPr/>
          <p:nvPr/>
        </p:nvSpPr>
        <p:spPr>
          <a:xfrm>
            <a:off x="6419088" y="2496312"/>
            <a:ext cx="137160" cy="137160"/>
          </a:xfrm>
          <a:prstGeom prst="ellipse">
            <a:avLst/>
          </a:prstGeom>
          <a:solidFill>
            <a:srgbClr val="FB923C"/>
          </a:solidFill>
          <a:ln w="12700">
            <a:solidFill>
              <a:srgbClr val="FB923C"/>
            </a:solidFill>
            <a:prstDash val="solid"/>
          </a:ln>
        </p:spPr>
      </p:sp>
      <p:sp>
        <p:nvSpPr>
          <p:cNvPr id="39" name="Text 37"/>
          <p:cNvSpPr/>
          <p:nvPr/>
        </p:nvSpPr>
        <p:spPr>
          <a:xfrm>
            <a:off x="6638544" y="242316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Severity classification</a:t>
            </a:r>
            <a:endParaRPr lang="en-US" sz="1250" dirty="0"/>
          </a:p>
        </p:txBody>
      </p:sp>
      <p:sp>
        <p:nvSpPr>
          <p:cNvPr id="40" name="Shape 38"/>
          <p:cNvSpPr/>
          <p:nvPr/>
        </p:nvSpPr>
        <p:spPr>
          <a:xfrm>
            <a:off x="6419088" y="2999232"/>
            <a:ext cx="137160" cy="137160"/>
          </a:xfrm>
          <a:prstGeom prst="ellipse">
            <a:avLst/>
          </a:prstGeom>
          <a:solidFill>
            <a:srgbClr val="FB923C"/>
          </a:solidFill>
          <a:ln w="12700">
            <a:solidFill>
              <a:srgbClr val="FB923C"/>
            </a:solidFill>
            <a:prstDash val="solid"/>
          </a:ln>
        </p:spPr>
      </p:sp>
      <p:sp>
        <p:nvSpPr>
          <p:cNvPr id="41" name="Text 39"/>
          <p:cNvSpPr/>
          <p:nvPr/>
        </p:nvSpPr>
        <p:spPr>
          <a:xfrm>
            <a:off x="6638544" y="292608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Location: lat/lon + address</a:t>
            </a:r>
            <a:endParaRPr lang="en-US" sz="1250" dirty="0"/>
          </a:p>
        </p:txBody>
      </p:sp>
      <p:sp>
        <p:nvSpPr>
          <p:cNvPr id="42" name="Shape 40"/>
          <p:cNvSpPr/>
          <p:nvPr/>
        </p:nvSpPr>
        <p:spPr>
          <a:xfrm>
            <a:off x="6419088" y="3502152"/>
            <a:ext cx="137160" cy="137160"/>
          </a:xfrm>
          <a:prstGeom prst="ellipse">
            <a:avLst/>
          </a:prstGeom>
          <a:solidFill>
            <a:srgbClr val="FB923C"/>
          </a:solidFill>
          <a:ln w="12700">
            <a:solidFill>
              <a:srgbClr val="FB923C"/>
            </a:solidFill>
            <a:prstDash val="solid"/>
          </a:ln>
        </p:spPr>
      </p:sp>
      <p:sp>
        <p:nvSpPr>
          <p:cNvPr id="43" name="Text 41"/>
          <p:cNvSpPr/>
          <p:nvPr/>
        </p:nvSpPr>
        <p:spPr>
          <a:xfrm>
            <a:off x="6638544" y="3429000"/>
            <a:ext cx="2304288" cy="347472"/>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Emergency service buttons</a:t>
            </a:r>
            <a:endParaRPr lang="en-US" sz="1250" dirty="0"/>
          </a:p>
        </p:txBody>
      </p:sp>
      <p:sp>
        <p:nvSpPr>
          <p:cNvPr id="44" name="Shape 42"/>
          <p:cNvSpPr/>
          <p:nvPr/>
        </p:nvSpPr>
        <p:spPr>
          <a:xfrm>
            <a:off x="365760" y="4919472"/>
            <a:ext cx="8412480" cy="173736"/>
          </a:xfrm>
          <a:prstGeom prst="rect">
            <a:avLst/>
          </a:prstGeom>
          <a:solidFill>
            <a:srgbClr val="0A1628"/>
          </a:solidFill>
          <a:ln w="15240">
            <a:solidFill>
              <a:srgbClr val="818CF8"/>
            </a:solidFill>
            <a:prstDash val="solid"/>
          </a:ln>
          <a:effectLst>
            <a:outerShdw blurRad="127000" dist="38100" dir="8100000" algn="bl" rotWithShape="0">
              <a:srgbClr val="000000">
                <a:alpha val="22000"/>
              </a:srgbClr>
            </a:outerShdw>
          </a:effectLst>
        </p:spPr>
      </p:sp>
      <p:sp>
        <p:nvSpPr>
          <p:cNvPr id="45" name="Shape 43"/>
          <p:cNvSpPr/>
          <p:nvPr/>
        </p:nvSpPr>
        <p:spPr>
          <a:xfrm>
            <a:off x="365760" y="4919472"/>
            <a:ext cx="64008" cy="173736"/>
          </a:xfrm>
          <a:prstGeom prst="rect">
            <a:avLst/>
          </a:prstGeom>
          <a:solidFill>
            <a:srgbClr val="818CF8"/>
          </a:solidFill>
          <a:ln w="12700">
            <a:solidFill>
              <a:srgbClr val="818CF8"/>
            </a:solidFill>
            <a:prstDash val="solid"/>
          </a:ln>
        </p:spPr>
      </p:sp>
      <p:sp>
        <p:nvSpPr>
          <p:cNvPr id="46" name="Text 44"/>
          <p:cNvSpPr/>
          <p:nvPr/>
        </p:nvSpPr>
        <p:spPr>
          <a:xfrm>
            <a:off x="594360" y="4919472"/>
            <a:ext cx="8046720" cy="173736"/>
          </a:xfrm>
          <a:prstGeom prst="rect">
            <a:avLst/>
          </a:prstGeom>
          <a:noFill/>
          <a:ln/>
        </p:spPr>
        <p:txBody>
          <a:bodyPr wrap="square" lIns="0" tIns="0" rIns="0" bIns="0" rtlCol="0" anchor="ctr"/>
          <a:lstStyle/>
          <a:p>
            <a:pPr marL="0" indent="0">
              <a:buNone/>
            </a:pPr>
            <a:r>
              <a:rPr lang="en-US" sz="1000" i="1" dirty="0">
                <a:solidFill>
                  <a:srgbClr val="CBD5E1"/>
                </a:solidFill>
                <a:latin typeface="Calibri" pitchFamily="34" charset="0"/>
                <a:ea typeface="Calibri" pitchFamily="34" charset="-122"/>
                <a:cs typeface="Calibri" pitchFamily="34" charset="-120"/>
              </a:rPr>
              <a:t>Architecture includes UML diagrams: Use Case, Structured Component, and Class diagrams — covering all system actors and interactions.</a:t>
            </a:r>
            <a:endParaRPr lang="en-US" sz="1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Technologies Used</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Tools, Languages, Libraries &amp; Platforms</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7 / 18</a:t>
            </a:r>
            <a:endParaRPr lang="en-US" sz="1000" dirty="0"/>
          </a:p>
        </p:txBody>
      </p:sp>
      <p:sp>
        <p:nvSpPr>
          <p:cNvPr id="7" name="Shape 5"/>
          <p:cNvSpPr/>
          <p:nvPr/>
        </p:nvSpPr>
        <p:spPr>
          <a:xfrm>
            <a:off x="365760" y="1298448"/>
            <a:ext cx="2788920" cy="1645920"/>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2788920" cy="365760"/>
          </a:xfrm>
          <a:prstGeom prst="rect">
            <a:avLst/>
          </a:prstGeom>
          <a:solidFill>
            <a:srgbClr val="38BDF8"/>
          </a:solidFill>
          <a:ln w="12700">
            <a:solidFill>
              <a:srgbClr val="38BDF8"/>
            </a:solidFill>
            <a:prstDash val="solid"/>
          </a:ln>
        </p:spPr>
      </p:sp>
      <p:sp>
        <p:nvSpPr>
          <p:cNvPr id="9" name="Text 7"/>
          <p:cNvSpPr/>
          <p:nvPr/>
        </p:nvSpPr>
        <p:spPr>
          <a:xfrm>
            <a:off x="457200" y="1298448"/>
            <a:ext cx="260604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Language</a:t>
            </a:r>
            <a:endParaRPr lang="en-US" sz="1300" dirty="0"/>
          </a:p>
        </p:txBody>
      </p:sp>
      <p:sp>
        <p:nvSpPr>
          <p:cNvPr id="10" name="Shape 8"/>
          <p:cNvSpPr/>
          <p:nvPr/>
        </p:nvSpPr>
        <p:spPr>
          <a:xfrm>
            <a:off x="530352" y="1892808"/>
            <a:ext cx="118872" cy="118872"/>
          </a:xfrm>
          <a:prstGeom prst="ellipse">
            <a:avLst/>
          </a:prstGeom>
          <a:solidFill>
            <a:srgbClr val="38BDF8"/>
          </a:solidFill>
          <a:ln w="12700">
            <a:solidFill>
              <a:srgbClr val="38BDF8"/>
            </a:solidFill>
            <a:prstDash val="solid"/>
          </a:ln>
        </p:spPr>
      </p:sp>
      <p:sp>
        <p:nvSpPr>
          <p:cNvPr id="11" name="Text 9"/>
          <p:cNvSpPr/>
          <p:nvPr/>
        </p:nvSpPr>
        <p:spPr>
          <a:xfrm>
            <a:off x="731520" y="1773936"/>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Python 3.x — primary language</a:t>
            </a:r>
            <a:endParaRPr lang="en-US" sz="1200" dirty="0"/>
          </a:p>
        </p:txBody>
      </p:sp>
      <p:sp>
        <p:nvSpPr>
          <p:cNvPr id="12" name="Shape 10"/>
          <p:cNvSpPr/>
          <p:nvPr/>
        </p:nvSpPr>
        <p:spPr>
          <a:xfrm>
            <a:off x="530352" y="2331720"/>
            <a:ext cx="118872" cy="118872"/>
          </a:xfrm>
          <a:prstGeom prst="ellipse">
            <a:avLst/>
          </a:prstGeom>
          <a:solidFill>
            <a:srgbClr val="38BDF8"/>
          </a:solidFill>
          <a:ln w="12700">
            <a:solidFill>
              <a:srgbClr val="38BDF8"/>
            </a:solidFill>
            <a:prstDash val="solid"/>
          </a:ln>
        </p:spPr>
      </p:sp>
      <p:sp>
        <p:nvSpPr>
          <p:cNvPr id="13" name="Text 11"/>
          <p:cNvSpPr/>
          <p:nvPr/>
        </p:nvSpPr>
        <p:spPr>
          <a:xfrm>
            <a:off x="731520" y="2212848"/>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HTML5, CSS3, JavaScript — frontend</a:t>
            </a:r>
            <a:endParaRPr lang="en-US" sz="1200" dirty="0"/>
          </a:p>
        </p:txBody>
      </p:sp>
      <p:sp>
        <p:nvSpPr>
          <p:cNvPr id="14" name="Shape 12"/>
          <p:cNvSpPr/>
          <p:nvPr/>
        </p:nvSpPr>
        <p:spPr>
          <a:xfrm>
            <a:off x="3310128" y="1298448"/>
            <a:ext cx="2788920" cy="1645920"/>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15" name="Shape 13"/>
          <p:cNvSpPr/>
          <p:nvPr/>
        </p:nvSpPr>
        <p:spPr>
          <a:xfrm>
            <a:off x="3310128" y="1298448"/>
            <a:ext cx="2788920" cy="365760"/>
          </a:xfrm>
          <a:prstGeom prst="rect">
            <a:avLst/>
          </a:prstGeom>
          <a:solidFill>
            <a:srgbClr val="34D399"/>
          </a:solidFill>
          <a:ln w="12700">
            <a:solidFill>
              <a:srgbClr val="34D399"/>
            </a:solidFill>
            <a:prstDash val="solid"/>
          </a:ln>
        </p:spPr>
      </p:sp>
      <p:sp>
        <p:nvSpPr>
          <p:cNvPr id="16" name="Text 14"/>
          <p:cNvSpPr/>
          <p:nvPr/>
        </p:nvSpPr>
        <p:spPr>
          <a:xfrm>
            <a:off x="3401568" y="1298448"/>
            <a:ext cx="260604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Framework</a:t>
            </a:r>
            <a:endParaRPr lang="en-US" sz="1300" dirty="0"/>
          </a:p>
        </p:txBody>
      </p:sp>
      <p:sp>
        <p:nvSpPr>
          <p:cNvPr id="17" name="Shape 15"/>
          <p:cNvSpPr/>
          <p:nvPr/>
        </p:nvSpPr>
        <p:spPr>
          <a:xfrm>
            <a:off x="3474720" y="1892808"/>
            <a:ext cx="118872" cy="118872"/>
          </a:xfrm>
          <a:prstGeom prst="ellipse">
            <a:avLst/>
          </a:prstGeom>
          <a:solidFill>
            <a:srgbClr val="34D399"/>
          </a:solidFill>
          <a:ln w="12700">
            <a:solidFill>
              <a:srgbClr val="34D399"/>
            </a:solidFill>
            <a:prstDash val="solid"/>
          </a:ln>
        </p:spPr>
      </p:sp>
      <p:sp>
        <p:nvSpPr>
          <p:cNvPr id="18" name="Text 16"/>
          <p:cNvSpPr/>
          <p:nvPr/>
        </p:nvSpPr>
        <p:spPr>
          <a:xfrm>
            <a:off x="3675888" y="1773936"/>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Flask — web backend &amp; routing</a:t>
            </a:r>
            <a:endParaRPr lang="en-US" sz="1200" dirty="0"/>
          </a:p>
        </p:txBody>
      </p:sp>
      <p:sp>
        <p:nvSpPr>
          <p:cNvPr id="19" name="Shape 17"/>
          <p:cNvSpPr/>
          <p:nvPr/>
        </p:nvSpPr>
        <p:spPr>
          <a:xfrm>
            <a:off x="3474720" y="2331720"/>
            <a:ext cx="118872" cy="118872"/>
          </a:xfrm>
          <a:prstGeom prst="ellipse">
            <a:avLst/>
          </a:prstGeom>
          <a:solidFill>
            <a:srgbClr val="34D399"/>
          </a:solidFill>
          <a:ln w="12700">
            <a:solidFill>
              <a:srgbClr val="34D399"/>
            </a:solidFill>
            <a:prstDash val="solid"/>
          </a:ln>
        </p:spPr>
      </p:sp>
      <p:sp>
        <p:nvSpPr>
          <p:cNvPr id="20" name="Text 18"/>
          <p:cNvSpPr/>
          <p:nvPr/>
        </p:nvSpPr>
        <p:spPr>
          <a:xfrm>
            <a:off x="3675888" y="2212848"/>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Gradio — alternate UI experimentation</a:t>
            </a:r>
            <a:endParaRPr lang="en-US" sz="1200" dirty="0"/>
          </a:p>
        </p:txBody>
      </p:sp>
      <p:sp>
        <p:nvSpPr>
          <p:cNvPr id="21" name="Shape 19"/>
          <p:cNvSpPr/>
          <p:nvPr/>
        </p:nvSpPr>
        <p:spPr>
          <a:xfrm>
            <a:off x="6254496" y="1298448"/>
            <a:ext cx="2788920" cy="1645920"/>
          </a:xfrm>
          <a:prstGeom prst="rect">
            <a:avLst/>
          </a:prstGeom>
          <a:solidFill>
            <a:srgbClr val="112244"/>
          </a:solidFill>
          <a:ln w="15240">
            <a:solidFill>
              <a:srgbClr val="FB923C"/>
            </a:solidFill>
            <a:prstDash val="solid"/>
          </a:ln>
          <a:effectLst>
            <a:outerShdw blurRad="127000" dist="38100" dir="8100000" algn="bl" rotWithShape="0">
              <a:srgbClr val="000000">
                <a:alpha val="22000"/>
              </a:srgbClr>
            </a:outerShdw>
          </a:effectLst>
        </p:spPr>
      </p:sp>
      <p:sp>
        <p:nvSpPr>
          <p:cNvPr id="22" name="Shape 20"/>
          <p:cNvSpPr/>
          <p:nvPr/>
        </p:nvSpPr>
        <p:spPr>
          <a:xfrm>
            <a:off x="6254496" y="1298448"/>
            <a:ext cx="2788920" cy="365760"/>
          </a:xfrm>
          <a:prstGeom prst="rect">
            <a:avLst/>
          </a:prstGeom>
          <a:solidFill>
            <a:srgbClr val="FB923C"/>
          </a:solidFill>
          <a:ln w="12700">
            <a:solidFill>
              <a:srgbClr val="FB923C"/>
            </a:solidFill>
            <a:prstDash val="solid"/>
          </a:ln>
        </p:spPr>
      </p:sp>
      <p:sp>
        <p:nvSpPr>
          <p:cNvPr id="23" name="Text 21"/>
          <p:cNvSpPr/>
          <p:nvPr/>
        </p:nvSpPr>
        <p:spPr>
          <a:xfrm>
            <a:off x="6345936" y="1298448"/>
            <a:ext cx="260604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Deep Learning</a:t>
            </a:r>
            <a:endParaRPr lang="en-US" sz="1300" dirty="0"/>
          </a:p>
        </p:txBody>
      </p:sp>
      <p:sp>
        <p:nvSpPr>
          <p:cNvPr id="24" name="Shape 22"/>
          <p:cNvSpPr/>
          <p:nvPr/>
        </p:nvSpPr>
        <p:spPr>
          <a:xfrm>
            <a:off x="6419088" y="1892808"/>
            <a:ext cx="118872" cy="118872"/>
          </a:xfrm>
          <a:prstGeom prst="ellipse">
            <a:avLst/>
          </a:prstGeom>
          <a:solidFill>
            <a:srgbClr val="FB923C"/>
          </a:solidFill>
          <a:ln w="12700">
            <a:solidFill>
              <a:srgbClr val="FB923C"/>
            </a:solidFill>
            <a:prstDash val="solid"/>
          </a:ln>
        </p:spPr>
      </p:sp>
      <p:sp>
        <p:nvSpPr>
          <p:cNvPr id="25" name="Text 23"/>
          <p:cNvSpPr/>
          <p:nvPr/>
        </p:nvSpPr>
        <p:spPr>
          <a:xfrm>
            <a:off x="6620256" y="1773936"/>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TensorFlow / Keras — CNN model</a:t>
            </a:r>
            <a:endParaRPr lang="en-US" sz="1200" dirty="0"/>
          </a:p>
        </p:txBody>
      </p:sp>
      <p:sp>
        <p:nvSpPr>
          <p:cNvPr id="26" name="Shape 24"/>
          <p:cNvSpPr/>
          <p:nvPr/>
        </p:nvSpPr>
        <p:spPr>
          <a:xfrm>
            <a:off x="6419088" y="2331720"/>
            <a:ext cx="118872" cy="118872"/>
          </a:xfrm>
          <a:prstGeom prst="ellipse">
            <a:avLst/>
          </a:prstGeom>
          <a:solidFill>
            <a:srgbClr val="FB923C"/>
          </a:solidFill>
          <a:ln w="12700">
            <a:solidFill>
              <a:srgbClr val="FB923C"/>
            </a:solidFill>
            <a:prstDash val="solid"/>
          </a:ln>
        </p:spPr>
      </p:sp>
      <p:sp>
        <p:nvSpPr>
          <p:cNvPr id="27" name="Text 25"/>
          <p:cNvSpPr/>
          <p:nvPr/>
        </p:nvSpPr>
        <p:spPr>
          <a:xfrm>
            <a:off x="6620256" y="2212848"/>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CNN architecture — custom built</a:t>
            </a:r>
            <a:endParaRPr lang="en-US" sz="1200" dirty="0"/>
          </a:p>
        </p:txBody>
      </p:sp>
      <p:sp>
        <p:nvSpPr>
          <p:cNvPr id="28" name="Shape 26"/>
          <p:cNvSpPr/>
          <p:nvPr/>
        </p:nvSpPr>
        <p:spPr>
          <a:xfrm>
            <a:off x="365760" y="3081528"/>
            <a:ext cx="2788920" cy="1645920"/>
          </a:xfrm>
          <a:prstGeom prst="rect">
            <a:avLst/>
          </a:prstGeom>
          <a:solidFill>
            <a:srgbClr val="112244"/>
          </a:solidFill>
          <a:ln w="15240">
            <a:solidFill>
              <a:srgbClr val="FBBF24"/>
            </a:solidFill>
            <a:prstDash val="solid"/>
          </a:ln>
          <a:effectLst>
            <a:outerShdw blurRad="127000" dist="38100" dir="8100000" algn="bl" rotWithShape="0">
              <a:srgbClr val="000000">
                <a:alpha val="22000"/>
              </a:srgbClr>
            </a:outerShdw>
          </a:effectLst>
        </p:spPr>
      </p:sp>
      <p:sp>
        <p:nvSpPr>
          <p:cNvPr id="29" name="Shape 27"/>
          <p:cNvSpPr/>
          <p:nvPr/>
        </p:nvSpPr>
        <p:spPr>
          <a:xfrm>
            <a:off x="365760" y="3081528"/>
            <a:ext cx="2788920" cy="365760"/>
          </a:xfrm>
          <a:prstGeom prst="rect">
            <a:avLst/>
          </a:prstGeom>
          <a:solidFill>
            <a:srgbClr val="FBBF24"/>
          </a:solidFill>
          <a:ln w="12700">
            <a:solidFill>
              <a:srgbClr val="FBBF24"/>
            </a:solidFill>
            <a:prstDash val="solid"/>
          </a:ln>
        </p:spPr>
      </p:sp>
      <p:sp>
        <p:nvSpPr>
          <p:cNvPr id="30" name="Text 28"/>
          <p:cNvSpPr/>
          <p:nvPr/>
        </p:nvSpPr>
        <p:spPr>
          <a:xfrm>
            <a:off x="457200" y="3081528"/>
            <a:ext cx="260604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Image Processing</a:t>
            </a:r>
            <a:endParaRPr lang="en-US" sz="1300" dirty="0"/>
          </a:p>
        </p:txBody>
      </p:sp>
      <p:sp>
        <p:nvSpPr>
          <p:cNvPr id="31" name="Shape 29"/>
          <p:cNvSpPr/>
          <p:nvPr/>
        </p:nvSpPr>
        <p:spPr>
          <a:xfrm>
            <a:off x="530352" y="3675888"/>
            <a:ext cx="118872" cy="118872"/>
          </a:xfrm>
          <a:prstGeom prst="ellipse">
            <a:avLst/>
          </a:prstGeom>
          <a:solidFill>
            <a:srgbClr val="FBBF24"/>
          </a:solidFill>
          <a:ln w="12700">
            <a:solidFill>
              <a:srgbClr val="FBBF24"/>
            </a:solidFill>
            <a:prstDash val="solid"/>
          </a:ln>
        </p:spPr>
      </p:sp>
      <p:sp>
        <p:nvSpPr>
          <p:cNvPr id="32" name="Text 30"/>
          <p:cNvSpPr/>
          <p:nvPr/>
        </p:nvSpPr>
        <p:spPr>
          <a:xfrm>
            <a:off x="731520" y="3557016"/>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OpenCV (cv2) — resize, normalize</a:t>
            </a:r>
            <a:endParaRPr lang="en-US" sz="1200" dirty="0"/>
          </a:p>
        </p:txBody>
      </p:sp>
      <p:sp>
        <p:nvSpPr>
          <p:cNvPr id="33" name="Shape 31"/>
          <p:cNvSpPr/>
          <p:nvPr/>
        </p:nvSpPr>
        <p:spPr>
          <a:xfrm>
            <a:off x="530352" y="4114800"/>
            <a:ext cx="118872" cy="118872"/>
          </a:xfrm>
          <a:prstGeom prst="ellipse">
            <a:avLst/>
          </a:prstGeom>
          <a:solidFill>
            <a:srgbClr val="FBBF24"/>
          </a:solidFill>
          <a:ln w="12700">
            <a:solidFill>
              <a:srgbClr val="FBBF24"/>
            </a:solidFill>
            <a:prstDash val="solid"/>
          </a:ln>
        </p:spPr>
      </p:sp>
      <p:sp>
        <p:nvSpPr>
          <p:cNvPr id="34" name="Text 32"/>
          <p:cNvSpPr/>
          <p:nvPr/>
        </p:nvSpPr>
        <p:spPr>
          <a:xfrm>
            <a:off x="731520" y="3995928"/>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Canny Edge Detection — landslide support</a:t>
            </a:r>
            <a:endParaRPr lang="en-US" sz="1200" dirty="0"/>
          </a:p>
        </p:txBody>
      </p:sp>
      <p:sp>
        <p:nvSpPr>
          <p:cNvPr id="35" name="Shape 33"/>
          <p:cNvSpPr/>
          <p:nvPr/>
        </p:nvSpPr>
        <p:spPr>
          <a:xfrm>
            <a:off x="3310128" y="3081528"/>
            <a:ext cx="2788920" cy="1645920"/>
          </a:xfrm>
          <a:prstGeom prst="rect">
            <a:avLst/>
          </a:prstGeom>
          <a:solidFill>
            <a:srgbClr val="112244"/>
          </a:solidFill>
          <a:ln w="15240">
            <a:solidFill>
              <a:srgbClr val="818CF8"/>
            </a:solidFill>
            <a:prstDash val="solid"/>
          </a:ln>
          <a:effectLst>
            <a:outerShdw blurRad="127000" dist="38100" dir="8100000" algn="bl" rotWithShape="0">
              <a:srgbClr val="000000">
                <a:alpha val="22000"/>
              </a:srgbClr>
            </a:outerShdw>
          </a:effectLst>
        </p:spPr>
      </p:sp>
      <p:sp>
        <p:nvSpPr>
          <p:cNvPr id="36" name="Shape 34"/>
          <p:cNvSpPr/>
          <p:nvPr/>
        </p:nvSpPr>
        <p:spPr>
          <a:xfrm>
            <a:off x="3310128" y="3081528"/>
            <a:ext cx="2788920" cy="365760"/>
          </a:xfrm>
          <a:prstGeom prst="rect">
            <a:avLst/>
          </a:prstGeom>
          <a:solidFill>
            <a:srgbClr val="818CF8"/>
          </a:solidFill>
          <a:ln w="12700">
            <a:solidFill>
              <a:srgbClr val="818CF8"/>
            </a:solidFill>
            <a:prstDash val="solid"/>
          </a:ln>
        </p:spPr>
      </p:sp>
      <p:sp>
        <p:nvSpPr>
          <p:cNvPr id="37" name="Text 35"/>
          <p:cNvSpPr/>
          <p:nvPr/>
        </p:nvSpPr>
        <p:spPr>
          <a:xfrm>
            <a:off x="3401568" y="3081528"/>
            <a:ext cx="260604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APIs &amp; Tools</a:t>
            </a:r>
            <a:endParaRPr lang="en-US" sz="1300" dirty="0"/>
          </a:p>
        </p:txBody>
      </p:sp>
      <p:sp>
        <p:nvSpPr>
          <p:cNvPr id="38" name="Shape 36"/>
          <p:cNvSpPr/>
          <p:nvPr/>
        </p:nvSpPr>
        <p:spPr>
          <a:xfrm>
            <a:off x="3474720" y="3675888"/>
            <a:ext cx="118872" cy="118872"/>
          </a:xfrm>
          <a:prstGeom prst="ellipse">
            <a:avLst/>
          </a:prstGeom>
          <a:solidFill>
            <a:srgbClr val="818CF8"/>
          </a:solidFill>
          <a:ln w="12700">
            <a:solidFill>
              <a:srgbClr val="818CF8"/>
            </a:solidFill>
            <a:prstDash val="solid"/>
          </a:ln>
        </p:spPr>
      </p:sp>
      <p:sp>
        <p:nvSpPr>
          <p:cNvPr id="39" name="Text 37"/>
          <p:cNvSpPr/>
          <p:nvPr/>
        </p:nvSpPr>
        <p:spPr>
          <a:xfrm>
            <a:off x="3675888" y="3557016"/>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Geolocation API — GPS capture</a:t>
            </a:r>
            <a:endParaRPr lang="en-US" sz="1200" dirty="0"/>
          </a:p>
        </p:txBody>
      </p:sp>
      <p:sp>
        <p:nvSpPr>
          <p:cNvPr id="40" name="Shape 38"/>
          <p:cNvSpPr/>
          <p:nvPr/>
        </p:nvSpPr>
        <p:spPr>
          <a:xfrm>
            <a:off x="3474720" y="4114800"/>
            <a:ext cx="118872" cy="118872"/>
          </a:xfrm>
          <a:prstGeom prst="ellipse">
            <a:avLst/>
          </a:prstGeom>
          <a:solidFill>
            <a:srgbClr val="818CF8"/>
          </a:solidFill>
          <a:ln w="12700">
            <a:solidFill>
              <a:srgbClr val="818CF8"/>
            </a:solidFill>
            <a:prstDash val="solid"/>
          </a:ln>
        </p:spPr>
      </p:sp>
      <p:sp>
        <p:nvSpPr>
          <p:cNvPr id="41" name="Text 39"/>
          <p:cNvSpPr/>
          <p:nvPr/>
        </p:nvSpPr>
        <p:spPr>
          <a:xfrm>
            <a:off x="3675888" y="3995928"/>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OpenStreetMap — address conversion</a:t>
            </a:r>
            <a:endParaRPr lang="en-US" sz="1200" dirty="0"/>
          </a:p>
        </p:txBody>
      </p:sp>
      <p:sp>
        <p:nvSpPr>
          <p:cNvPr id="42" name="Shape 40"/>
          <p:cNvSpPr/>
          <p:nvPr/>
        </p:nvSpPr>
        <p:spPr>
          <a:xfrm>
            <a:off x="3474720" y="4553712"/>
            <a:ext cx="118872" cy="118872"/>
          </a:xfrm>
          <a:prstGeom prst="ellipse">
            <a:avLst/>
          </a:prstGeom>
          <a:solidFill>
            <a:srgbClr val="818CF8"/>
          </a:solidFill>
          <a:ln w="12700">
            <a:solidFill>
              <a:srgbClr val="818CF8"/>
            </a:solidFill>
            <a:prstDash val="solid"/>
          </a:ln>
        </p:spPr>
      </p:sp>
      <p:sp>
        <p:nvSpPr>
          <p:cNvPr id="43" name="Text 41"/>
          <p:cNvSpPr/>
          <p:nvPr/>
        </p:nvSpPr>
        <p:spPr>
          <a:xfrm>
            <a:off x="3675888" y="4434840"/>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Google Maps — navigation link</a:t>
            </a:r>
            <a:endParaRPr lang="en-US" sz="1200" dirty="0"/>
          </a:p>
        </p:txBody>
      </p:sp>
      <p:sp>
        <p:nvSpPr>
          <p:cNvPr id="44" name="Shape 42"/>
          <p:cNvSpPr/>
          <p:nvPr/>
        </p:nvSpPr>
        <p:spPr>
          <a:xfrm>
            <a:off x="6254496" y="3081528"/>
            <a:ext cx="2788920" cy="1645920"/>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45" name="Shape 43"/>
          <p:cNvSpPr/>
          <p:nvPr/>
        </p:nvSpPr>
        <p:spPr>
          <a:xfrm>
            <a:off x="6254496" y="3081528"/>
            <a:ext cx="2788920" cy="365760"/>
          </a:xfrm>
          <a:prstGeom prst="rect">
            <a:avLst/>
          </a:prstGeom>
          <a:solidFill>
            <a:srgbClr val="F87171"/>
          </a:solidFill>
          <a:ln w="12700">
            <a:solidFill>
              <a:srgbClr val="F87171"/>
            </a:solidFill>
            <a:prstDash val="solid"/>
          </a:ln>
        </p:spPr>
      </p:sp>
      <p:sp>
        <p:nvSpPr>
          <p:cNvPr id="46" name="Text 44"/>
          <p:cNvSpPr/>
          <p:nvPr/>
        </p:nvSpPr>
        <p:spPr>
          <a:xfrm>
            <a:off x="6345936" y="3081528"/>
            <a:ext cx="2606040" cy="365760"/>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Platform</a:t>
            </a:r>
            <a:endParaRPr lang="en-US" sz="1300" dirty="0"/>
          </a:p>
        </p:txBody>
      </p:sp>
      <p:sp>
        <p:nvSpPr>
          <p:cNvPr id="47" name="Shape 45"/>
          <p:cNvSpPr/>
          <p:nvPr/>
        </p:nvSpPr>
        <p:spPr>
          <a:xfrm>
            <a:off x="6419088" y="3675888"/>
            <a:ext cx="118872" cy="118872"/>
          </a:xfrm>
          <a:prstGeom prst="ellipse">
            <a:avLst/>
          </a:prstGeom>
          <a:solidFill>
            <a:srgbClr val="F87171"/>
          </a:solidFill>
          <a:ln w="12700">
            <a:solidFill>
              <a:srgbClr val="F87171"/>
            </a:solidFill>
            <a:prstDash val="solid"/>
          </a:ln>
        </p:spPr>
      </p:sp>
      <p:sp>
        <p:nvSpPr>
          <p:cNvPr id="48" name="Text 46"/>
          <p:cNvSpPr/>
          <p:nvPr/>
        </p:nvSpPr>
        <p:spPr>
          <a:xfrm>
            <a:off x="6620256" y="3557016"/>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Google Colab — model training</a:t>
            </a:r>
            <a:endParaRPr lang="en-US" sz="1200" dirty="0"/>
          </a:p>
        </p:txBody>
      </p:sp>
      <p:sp>
        <p:nvSpPr>
          <p:cNvPr id="49" name="Shape 47"/>
          <p:cNvSpPr/>
          <p:nvPr/>
        </p:nvSpPr>
        <p:spPr>
          <a:xfrm>
            <a:off x="6419088" y="4114800"/>
            <a:ext cx="118872" cy="118872"/>
          </a:xfrm>
          <a:prstGeom prst="ellipse">
            <a:avLst/>
          </a:prstGeom>
          <a:solidFill>
            <a:srgbClr val="F87171"/>
          </a:solidFill>
          <a:ln w="12700">
            <a:solidFill>
              <a:srgbClr val="F87171"/>
            </a:solidFill>
            <a:prstDash val="solid"/>
          </a:ln>
        </p:spPr>
      </p:sp>
      <p:sp>
        <p:nvSpPr>
          <p:cNvPr id="50" name="Text 48"/>
          <p:cNvSpPr/>
          <p:nvPr/>
        </p:nvSpPr>
        <p:spPr>
          <a:xfrm>
            <a:off x="6620256" y="3995928"/>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VS Code — development IDE</a:t>
            </a:r>
            <a:endParaRPr lang="en-US" sz="1200" dirty="0"/>
          </a:p>
        </p:txBody>
      </p:sp>
      <p:sp>
        <p:nvSpPr>
          <p:cNvPr id="51" name="Shape 49"/>
          <p:cNvSpPr/>
          <p:nvPr/>
        </p:nvSpPr>
        <p:spPr>
          <a:xfrm>
            <a:off x="6419088" y="4553712"/>
            <a:ext cx="118872" cy="118872"/>
          </a:xfrm>
          <a:prstGeom prst="ellipse">
            <a:avLst/>
          </a:prstGeom>
          <a:solidFill>
            <a:srgbClr val="F87171"/>
          </a:solidFill>
          <a:ln w="12700">
            <a:solidFill>
              <a:srgbClr val="F87171"/>
            </a:solidFill>
            <a:prstDash val="solid"/>
          </a:ln>
        </p:spPr>
      </p:sp>
      <p:sp>
        <p:nvSpPr>
          <p:cNvPr id="52" name="Text 50"/>
          <p:cNvSpPr/>
          <p:nvPr/>
        </p:nvSpPr>
        <p:spPr>
          <a:xfrm>
            <a:off x="6620256" y="4434840"/>
            <a:ext cx="2331720" cy="347472"/>
          </a:xfrm>
          <a:prstGeom prst="rect">
            <a:avLst/>
          </a:prstGeom>
          <a:noFill/>
          <a:ln/>
        </p:spPr>
        <p:txBody>
          <a:bodyPr wrap="square" lIns="0" tIns="0" rIns="0" bIns="0" rtlCol="0" anchor="ctr"/>
          <a:lstStyle/>
          <a:p>
            <a:pPr marL="0" indent="0">
              <a:buNone/>
            </a:pPr>
            <a:r>
              <a:rPr lang="en-US" sz="1200" dirty="0">
                <a:solidFill>
                  <a:srgbClr val="CBD5E1"/>
                </a:solidFill>
                <a:latin typeface="Calibri" pitchFamily="34" charset="0"/>
                <a:ea typeface="Calibri" pitchFamily="34" charset="-122"/>
                <a:cs typeface="Calibri" pitchFamily="34" charset="-120"/>
              </a:rPr>
              <a:t>Git — version control</a:t>
            </a:r>
            <a:endParaRPr 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Methodology</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Research &amp; Development Approach</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8 / 18</a:t>
            </a:r>
            <a:endParaRPr lang="en-US" sz="1000" dirty="0"/>
          </a:p>
        </p:txBody>
      </p:sp>
      <p:sp>
        <p:nvSpPr>
          <p:cNvPr id="7" name="Shape 5"/>
          <p:cNvSpPr/>
          <p:nvPr/>
        </p:nvSpPr>
        <p:spPr>
          <a:xfrm>
            <a:off x="365760" y="1298448"/>
            <a:ext cx="4251960" cy="1143000"/>
          </a:xfrm>
          <a:prstGeom prst="rect">
            <a:avLst/>
          </a:prstGeom>
          <a:solidFill>
            <a:srgbClr val="0D1E38"/>
          </a:solidFill>
          <a:ln w="15240">
            <a:solidFill>
              <a:srgbClr val="38BDF8"/>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64008" cy="1143000"/>
          </a:xfrm>
          <a:prstGeom prst="rect">
            <a:avLst/>
          </a:prstGeom>
          <a:solidFill>
            <a:srgbClr val="38BDF8"/>
          </a:solidFill>
          <a:ln w="12700">
            <a:solidFill>
              <a:srgbClr val="38BDF8"/>
            </a:solidFill>
            <a:prstDash val="solid"/>
          </a:ln>
        </p:spPr>
      </p:sp>
      <p:sp>
        <p:nvSpPr>
          <p:cNvPr id="9" name="Shape 7"/>
          <p:cNvSpPr/>
          <p:nvPr/>
        </p:nvSpPr>
        <p:spPr>
          <a:xfrm>
            <a:off x="530352" y="1645920"/>
            <a:ext cx="438912" cy="438912"/>
          </a:xfrm>
          <a:prstGeom prst="ellipse">
            <a:avLst/>
          </a:prstGeom>
          <a:solidFill>
            <a:srgbClr val="38BDF8"/>
          </a:solidFill>
          <a:ln w="12700">
            <a:solidFill>
              <a:srgbClr val="38BDF8"/>
            </a:solidFill>
            <a:prstDash val="solid"/>
          </a:ln>
        </p:spPr>
      </p:sp>
      <p:sp>
        <p:nvSpPr>
          <p:cNvPr id="10" name="Text 8"/>
          <p:cNvSpPr/>
          <p:nvPr/>
        </p:nvSpPr>
        <p:spPr>
          <a:xfrm>
            <a:off x="530352" y="1664208"/>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01</a:t>
            </a:r>
            <a:endParaRPr lang="en-US" sz="1300" dirty="0"/>
          </a:p>
        </p:txBody>
      </p:sp>
      <p:sp>
        <p:nvSpPr>
          <p:cNvPr id="11" name="Text 9"/>
          <p:cNvSpPr/>
          <p:nvPr/>
        </p:nvSpPr>
        <p:spPr>
          <a:xfrm>
            <a:off x="1078992" y="1362456"/>
            <a:ext cx="3429000" cy="329184"/>
          </a:xfrm>
          <a:prstGeom prst="rect">
            <a:avLst/>
          </a:prstGeom>
          <a:noFill/>
          <a:ln/>
        </p:spPr>
        <p:txBody>
          <a:bodyPr wrap="square" lIns="0" tIns="0" rIns="0" bIns="0" rtlCol="0" anchor="ctr"/>
          <a:lstStyle/>
          <a:p>
            <a:pPr marL="0" indent="0">
              <a:buNone/>
            </a:pPr>
            <a:r>
              <a:rPr lang="en-US" sz="1400" b="1" dirty="0">
                <a:solidFill>
                  <a:srgbClr val="38BDF8"/>
                </a:solidFill>
                <a:latin typeface="Calibri" pitchFamily="34" charset="0"/>
                <a:ea typeface="Calibri" pitchFamily="34" charset="-122"/>
                <a:cs typeface="Calibri" pitchFamily="34" charset="-120"/>
              </a:rPr>
              <a:t>Data Collection</a:t>
            </a:r>
            <a:endParaRPr lang="en-US" sz="1400" dirty="0"/>
          </a:p>
        </p:txBody>
      </p:sp>
      <p:sp>
        <p:nvSpPr>
          <p:cNvPr id="12" name="Text 10"/>
          <p:cNvSpPr/>
          <p:nvPr/>
        </p:nvSpPr>
        <p:spPr>
          <a:xfrm>
            <a:off x="1078992" y="1709928"/>
            <a:ext cx="342900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Images of Flood, Landslide, and Normal environments collected from Google Images, Kaggle, and public repositories. JPG/PNG format, organized in class-specific folders.</a:t>
            </a:r>
            <a:endParaRPr lang="en-US" sz="1100" dirty="0"/>
          </a:p>
        </p:txBody>
      </p:sp>
      <p:sp>
        <p:nvSpPr>
          <p:cNvPr id="13" name="Shape 11"/>
          <p:cNvSpPr/>
          <p:nvPr/>
        </p:nvSpPr>
        <p:spPr>
          <a:xfrm>
            <a:off x="4773168" y="1298448"/>
            <a:ext cx="4251960" cy="1143000"/>
          </a:xfrm>
          <a:prstGeom prst="rect">
            <a:avLst/>
          </a:prstGeom>
          <a:solidFill>
            <a:srgbClr val="0D1E38"/>
          </a:solidFill>
          <a:ln w="15240">
            <a:solidFill>
              <a:srgbClr val="34D399"/>
            </a:solidFill>
            <a:prstDash val="solid"/>
          </a:ln>
          <a:effectLst>
            <a:outerShdw blurRad="127000" dist="38100" dir="8100000" algn="bl" rotWithShape="0">
              <a:srgbClr val="000000">
                <a:alpha val="22000"/>
              </a:srgbClr>
            </a:outerShdw>
          </a:effectLst>
        </p:spPr>
      </p:sp>
      <p:sp>
        <p:nvSpPr>
          <p:cNvPr id="14" name="Shape 12"/>
          <p:cNvSpPr/>
          <p:nvPr/>
        </p:nvSpPr>
        <p:spPr>
          <a:xfrm>
            <a:off x="4773168" y="1298448"/>
            <a:ext cx="64008" cy="1143000"/>
          </a:xfrm>
          <a:prstGeom prst="rect">
            <a:avLst/>
          </a:prstGeom>
          <a:solidFill>
            <a:srgbClr val="34D399"/>
          </a:solidFill>
          <a:ln w="12700">
            <a:solidFill>
              <a:srgbClr val="34D399"/>
            </a:solidFill>
            <a:prstDash val="solid"/>
          </a:ln>
        </p:spPr>
      </p:sp>
      <p:sp>
        <p:nvSpPr>
          <p:cNvPr id="15" name="Shape 13"/>
          <p:cNvSpPr/>
          <p:nvPr/>
        </p:nvSpPr>
        <p:spPr>
          <a:xfrm>
            <a:off x="4937760" y="1645920"/>
            <a:ext cx="438912" cy="438912"/>
          </a:xfrm>
          <a:prstGeom prst="ellipse">
            <a:avLst/>
          </a:prstGeom>
          <a:solidFill>
            <a:srgbClr val="34D399"/>
          </a:solidFill>
          <a:ln w="12700">
            <a:solidFill>
              <a:srgbClr val="34D399"/>
            </a:solidFill>
            <a:prstDash val="solid"/>
          </a:ln>
        </p:spPr>
      </p:sp>
      <p:sp>
        <p:nvSpPr>
          <p:cNvPr id="16" name="Text 14"/>
          <p:cNvSpPr/>
          <p:nvPr/>
        </p:nvSpPr>
        <p:spPr>
          <a:xfrm>
            <a:off x="4937760" y="1664208"/>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02</a:t>
            </a:r>
            <a:endParaRPr lang="en-US" sz="1300" dirty="0"/>
          </a:p>
        </p:txBody>
      </p:sp>
      <p:sp>
        <p:nvSpPr>
          <p:cNvPr id="17" name="Text 15"/>
          <p:cNvSpPr/>
          <p:nvPr/>
        </p:nvSpPr>
        <p:spPr>
          <a:xfrm>
            <a:off x="5486400" y="1362456"/>
            <a:ext cx="3429000" cy="329184"/>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Data Preprocessing</a:t>
            </a:r>
            <a:endParaRPr lang="en-US" sz="1400" dirty="0"/>
          </a:p>
        </p:txBody>
      </p:sp>
      <p:sp>
        <p:nvSpPr>
          <p:cNvPr id="18" name="Text 16"/>
          <p:cNvSpPr/>
          <p:nvPr/>
        </p:nvSpPr>
        <p:spPr>
          <a:xfrm>
            <a:off x="5486400" y="1709928"/>
            <a:ext cx="342900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All images resized to 224×224 pixels and pixel values normalized to [0,1] range using OpenCV. Balanced classes to prevent model bias during training.</a:t>
            </a:r>
            <a:endParaRPr lang="en-US" sz="1100" dirty="0"/>
          </a:p>
        </p:txBody>
      </p:sp>
      <p:sp>
        <p:nvSpPr>
          <p:cNvPr id="19" name="Shape 17"/>
          <p:cNvSpPr/>
          <p:nvPr/>
        </p:nvSpPr>
        <p:spPr>
          <a:xfrm>
            <a:off x="365760" y="2560320"/>
            <a:ext cx="4251960" cy="1143000"/>
          </a:xfrm>
          <a:prstGeom prst="rect">
            <a:avLst/>
          </a:prstGeom>
          <a:solidFill>
            <a:srgbClr val="0D1E38"/>
          </a:solidFill>
          <a:ln w="15240">
            <a:solidFill>
              <a:srgbClr val="FBBF24"/>
            </a:solidFill>
            <a:prstDash val="solid"/>
          </a:ln>
          <a:effectLst>
            <a:outerShdw blurRad="127000" dist="38100" dir="8100000" algn="bl" rotWithShape="0">
              <a:srgbClr val="000000">
                <a:alpha val="22000"/>
              </a:srgbClr>
            </a:outerShdw>
          </a:effectLst>
        </p:spPr>
      </p:sp>
      <p:sp>
        <p:nvSpPr>
          <p:cNvPr id="20" name="Shape 18"/>
          <p:cNvSpPr/>
          <p:nvPr/>
        </p:nvSpPr>
        <p:spPr>
          <a:xfrm>
            <a:off x="365760" y="2560320"/>
            <a:ext cx="64008" cy="1143000"/>
          </a:xfrm>
          <a:prstGeom prst="rect">
            <a:avLst/>
          </a:prstGeom>
          <a:solidFill>
            <a:srgbClr val="FBBF24"/>
          </a:solidFill>
          <a:ln w="12700">
            <a:solidFill>
              <a:srgbClr val="FBBF24"/>
            </a:solidFill>
            <a:prstDash val="solid"/>
          </a:ln>
        </p:spPr>
      </p:sp>
      <p:sp>
        <p:nvSpPr>
          <p:cNvPr id="21" name="Shape 19"/>
          <p:cNvSpPr/>
          <p:nvPr/>
        </p:nvSpPr>
        <p:spPr>
          <a:xfrm>
            <a:off x="530352" y="2907792"/>
            <a:ext cx="438912" cy="438912"/>
          </a:xfrm>
          <a:prstGeom prst="ellipse">
            <a:avLst/>
          </a:prstGeom>
          <a:solidFill>
            <a:srgbClr val="FBBF24"/>
          </a:solidFill>
          <a:ln w="12700">
            <a:solidFill>
              <a:srgbClr val="FBBF24"/>
            </a:solidFill>
            <a:prstDash val="solid"/>
          </a:ln>
        </p:spPr>
      </p:sp>
      <p:sp>
        <p:nvSpPr>
          <p:cNvPr id="22" name="Text 20"/>
          <p:cNvSpPr/>
          <p:nvPr/>
        </p:nvSpPr>
        <p:spPr>
          <a:xfrm>
            <a:off x="530352" y="2926080"/>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03</a:t>
            </a:r>
            <a:endParaRPr lang="en-US" sz="1300" dirty="0"/>
          </a:p>
        </p:txBody>
      </p:sp>
      <p:sp>
        <p:nvSpPr>
          <p:cNvPr id="23" name="Text 21"/>
          <p:cNvSpPr/>
          <p:nvPr/>
        </p:nvSpPr>
        <p:spPr>
          <a:xfrm>
            <a:off x="1078992" y="2624328"/>
            <a:ext cx="3429000" cy="329184"/>
          </a:xfrm>
          <a:prstGeom prst="rect">
            <a:avLst/>
          </a:prstGeom>
          <a:noFill/>
          <a:ln/>
        </p:spPr>
        <p:txBody>
          <a:bodyPr wrap="square" lIns="0" tIns="0" rIns="0" bIns="0" rtlCol="0" anchor="ctr"/>
          <a:lstStyle/>
          <a:p>
            <a:pPr marL="0" indent="0">
              <a:buNone/>
            </a:pPr>
            <a:r>
              <a:rPr lang="en-US" sz="1400" b="1" dirty="0">
                <a:solidFill>
                  <a:srgbClr val="FBBF24"/>
                </a:solidFill>
                <a:latin typeface="Calibri" pitchFamily="34" charset="0"/>
                <a:ea typeface="Calibri" pitchFamily="34" charset="-122"/>
                <a:cs typeface="Calibri" pitchFamily="34" charset="-120"/>
              </a:rPr>
              <a:t>Model Design</a:t>
            </a:r>
            <a:endParaRPr lang="en-US" sz="1400" dirty="0"/>
          </a:p>
        </p:txBody>
      </p:sp>
      <p:sp>
        <p:nvSpPr>
          <p:cNvPr id="24" name="Text 22"/>
          <p:cNvSpPr/>
          <p:nvPr/>
        </p:nvSpPr>
        <p:spPr>
          <a:xfrm>
            <a:off x="1078992" y="2971800"/>
            <a:ext cx="342900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CNN architecture designed with Convolutional, Pooling, and Dense layers. Trained on Google Colab. Saved as .h5 format for deployment in Flask backend.</a:t>
            </a:r>
            <a:endParaRPr lang="en-US" sz="1100" dirty="0"/>
          </a:p>
        </p:txBody>
      </p:sp>
      <p:sp>
        <p:nvSpPr>
          <p:cNvPr id="25" name="Shape 23"/>
          <p:cNvSpPr/>
          <p:nvPr/>
        </p:nvSpPr>
        <p:spPr>
          <a:xfrm>
            <a:off x="4773168" y="2560320"/>
            <a:ext cx="4251960" cy="1143000"/>
          </a:xfrm>
          <a:prstGeom prst="rect">
            <a:avLst/>
          </a:prstGeom>
          <a:solidFill>
            <a:srgbClr val="0D1E38"/>
          </a:solidFill>
          <a:ln w="15240">
            <a:solidFill>
              <a:srgbClr val="FB923C"/>
            </a:solidFill>
            <a:prstDash val="solid"/>
          </a:ln>
          <a:effectLst>
            <a:outerShdw blurRad="127000" dist="38100" dir="8100000" algn="bl" rotWithShape="0">
              <a:srgbClr val="000000">
                <a:alpha val="22000"/>
              </a:srgbClr>
            </a:outerShdw>
          </a:effectLst>
        </p:spPr>
      </p:sp>
      <p:sp>
        <p:nvSpPr>
          <p:cNvPr id="26" name="Shape 24"/>
          <p:cNvSpPr/>
          <p:nvPr/>
        </p:nvSpPr>
        <p:spPr>
          <a:xfrm>
            <a:off x="4773168" y="2560320"/>
            <a:ext cx="64008" cy="1143000"/>
          </a:xfrm>
          <a:prstGeom prst="rect">
            <a:avLst/>
          </a:prstGeom>
          <a:solidFill>
            <a:srgbClr val="FB923C"/>
          </a:solidFill>
          <a:ln w="12700">
            <a:solidFill>
              <a:srgbClr val="FB923C"/>
            </a:solidFill>
            <a:prstDash val="solid"/>
          </a:ln>
        </p:spPr>
      </p:sp>
      <p:sp>
        <p:nvSpPr>
          <p:cNvPr id="27" name="Shape 25"/>
          <p:cNvSpPr/>
          <p:nvPr/>
        </p:nvSpPr>
        <p:spPr>
          <a:xfrm>
            <a:off x="4937760" y="2907792"/>
            <a:ext cx="438912" cy="438912"/>
          </a:xfrm>
          <a:prstGeom prst="ellipse">
            <a:avLst/>
          </a:prstGeom>
          <a:solidFill>
            <a:srgbClr val="FB923C"/>
          </a:solidFill>
          <a:ln w="12700">
            <a:solidFill>
              <a:srgbClr val="FB923C"/>
            </a:solidFill>
            <a:prstDash val="solid"/>
          </a:ln>
        </p:spPr>
      </p:sp>
      <p:sp>
        <p:nvSpPr>
          <p:cNvPr id="28" name="Text 26"/>
          <p:cNvSpPr/>
          <p:nvPr/>
        </p:nvSpPr>
        <p:spPr>
          <a:xfrm>
            <a:off x="4937760" y="2926080"/>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04</a:t>
            </a:r>
            <a:endParaRPr lang="en-US" sz="1300" dirty="0"/>
          </a:p>
        </p:txBody>
      </p:sp>
      <p:sp>
        <p:nvSpPr>
          <p:cNvPr id="29" name="Text 27"/>
          <p:cNvSpPr/>
          <p:nvPr/>
        </p:nvSpPr>
        <p:spPr>
          <a:xfrm>
            <a:off x="5486400" y="2624328"/>
            <a:ext cx="3429000" cy="329184"/>
          </a:xfrm>
          <a:prstGeom prst="rect">
            <a:avLst/>
          </a:prstGeom>
          <a:noFill/>
          <a:ln/>
        </p:spPr>
        <p:txBody>
          <a:bodyPr wrap="square" lIns="0" tIns="0" rIns="0" bIns="0" rtlCol="0" anchor="ctr"/>
          <a:lstStyle/>
          <a:p>
            <a:pPr marL="0" indent="0">
              <a:buNone/>
            </a:pPr>
            <a:r>
              <a:rPr lang="en-US" sz="1400" b="1" dirty="0">
                <a:solidFill>
                  <a:srgbClr val="FB923C"/>
                </a:solidFill>
                <a:latin typeface="Calibri" pitchFamily="34" charset="0"/>
                <a:ea typeface="Calibri" pitchFamily="34" charset="-122"/>
                <a:cs typeface="Calibri" pitchFamily="34" charset="-120"/>
              </a:rPr>
              <a:t>Hybrid Detection</a:t>
            </a:r>
            <a:endParaRPr lang="en-US" sz="1400" dirty="0"/>
          </a:p>
        </p:txBody>
      </p:sp>
      <p:sp>
        <p:nvSpPr>
          <p:cNvPr id="30" name="Text 28"/>
          <p:cNvSpPr/>
          <p:nvPr/>
        </p:nvSpPr>
        <p:spPr>
          <a:xfrm>
            <a:off x="5486400" y="2971800"/>
            <a:ext cx="342900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CNN classification combined with Canny Edge Detection for improved landslide identification. Decision module assigns final disaster type, severity, and confidence.</a:t>
            </a:r>
            <a:endParaRPr lang="en-US" sz="1100" dirty="0"/>
          </a:p>
        </p:txBody>
      </p:sp>
      <p:sp>
        <p:nvSpPr>
          <p:cNvPr id="31" name="Shape 29"/>
          <p:cNvSpPr/>
          <p:nvPr/>
        </p:nvSpPr>
        <p:spPr>
          <a:xfrm>
            <a:off x="365760" y="3822192"/>
            <a:ext cx="4251960" cy="1143000"/>
          </a:xfrm>
          <a:prstGeom prst="rect">
            <a:avLst/>
          </a:prstGeom>
          <a:solidFill>
            <a:srgbClr val="0D1E38"/>
          </a:solidFill>
          <a:ln w="15240">
            <a:solidFill>
              <a:srgbClr val="818CF8"/>
            </a:solidFill>
            <a:prstDash val="solid"/>
          </a:ln>
          <a:effectLst>
            <a:outerShdw blurRad="127000" dist="38100" dir="8100000" algn="bl" rotWithShape="0">
              <a:srgbClr val="000000">
                <a:alpha val="22000"/>
              </a:srgbClr>
            </a:outerShdw>
          </a:effectLst>
        </p:spPr>
      </p:sp>
      <p:sp>
        <p:nvSpPr>
          <p:cNvPr id="32" name="Shape 30"/>
          <p:cNvSpPr/>
          <p:nvPr/>
        </p:nvSpPr>
        <p:spPr>
          <a:xfrm>
            <a:off x="365760" y="3822192"/>
            <a:ext cx="64008" cy="1143000"/>
          </a:xfrm>
          <a:prstGeom prst="rect">
            <a:avLst/>
          </a:prstGeom>
          <a:solidFill>
            <a:srgbClr val="818CF8"/>
          </a:solidFill>
          <a:ln w="12700">
            <a:solidFill>
              <a:srgbClr val="818CF8"/>
            </a:solidFill>
            <a:prstDash val="solid"/>
          </a:ln>
        </p:spPr>
      </p:sp>
      <p:sp>
        <p:nvSpPr>
          <p:cNvPr id="33" name="Shape 31"/>
          <p:cNvSpPr/>
          <p:nvPr/>
        </p:nvSpPr>
        <p:spPr>
          <a:xfrm>
            <a:off x="530352" y="4169664"/>
            <a:ext cx="438912" cy="438912"/>
          </a:xfrm>
          <a:prstGeom prst="ellipse">
            <a:avLst/>
          </a:prstGeom>
          <a:solidFill>
            <a:srgbClr val="818CF8"/>
          </a:solidFill>
          <a:ln w="12700">
            <a:solidFill>
              <a:srgbClr val="818CF8"/>
            </a:solidFill>
            <a:prstDash val="solid"/>
          </a:ln>
        </p:spPr>
      </p:sp>
      <p:sp>
        <p:nvSpPr>
          <p:cNvPr id="34" name="Text 32"/>
          <p:cNvSpPr/>
          <p:nvPr/>
        </p:nvSpPr>
        <p:spPr>
          <a:xfrm>
            <a:off x="530352" y="4187952"/>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05</a:t>
            </a:r>
            <a:endParaRPr lang="en-US" sz="1300" dirty="0"/>
          </a:p>
        </p:txBody>
      </p:sp>
      <p:sp>
        <p:nvSpPr>
          <p:cNvPr id="35" name="Text 33"/>
          <p:cNvSpPr/>
          <p:nvPr/>
        </p:nvSpPr>
        <p:spPr>
          <a:xfrm>
            <a:off x="1078992" y="3886200"/>
            <a:ext cx="3429000" cy="329184"/>
          </a:xfrm>
          <a:prstGeom prst="rect">
            <a:avLst/>
          </a:prstGeom>
          <a:noFill/>
          <a:ln/>
        </p:spPr>
        <p:txBody>
          <a:bodyPr wrap="square" lIns="0" tIns="0" rIns="0" bIns="0" rtlCol="0" anchor="ctr"/>
          <a:lstStyle/>
          <a:p>
            <a:pPr marL="0" indent="0">
              <a:buNone/>
            </a:pPr>
            <a:r>
              <a:rPr lang="en-US" sz="1400" b="1" dirty="0">
                <a:solidFill>
                  <a:srgbClr val="818CF8"/>
                </a:solidFill>
                <a:latin typeface="Calibri" pitchFamily="34" charset="0"/>
                <a:ea typeface="Calibri" pitchFamily="34" charset="-122"/>
                <a:cs typeface="Calibri" pitchFamily="34" charset="-120"/>
              </a:rPr>
              <a:t>System Integration</a:t>
            </a:r>
            <a:endParaRPr lang="en-US" sz="1400" dirty="0"/>
          </a:p>
        </p:txBody>
      </p:sp>
      <p:sp>
        <p:nvSpPr>
          <p:cNvPr id="36" name="Text 34"/>
          <p:cNvSpPr/>
          <p:nvPr/>
        </p:nvSpPr>
        <p:spPr>
          <a:xfrm>
            <a:off x="1078992" y="4233672"/>
            <a:ext cx="342900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Trained model integrated into Flask web app. Location module captures GPS, converts to address via API. Emergency services and Google Maps link added.</a:t>
            </a:r>
            <a:endParaRPr lang="en-US" sz="1100" dirty="0"/>
          </a:p>
        </p:txBody>
      </p:sp>
      <p:sp>
        <p:nvSpPr>
          <p:cNvPr id="37" name="Shape 35"/>
          <p:cNvSpPr/>
          <p:nvPr/>
        </p:nvSpPr>
        <p:spPr>
          <a:xfrm>
            <a:off x="4773168" y="3822192"/>
            <a:ext cx="4251960" cy="1143000"/>
          </a:xfrm>
          <a:prstGeom prst="rect">
            <a:avLst/>
          </a:prstGeom>
          <a:solidFill>
            <a:srgbClr val="0D1E38"/>
          </a:solidFill>
          <a:ln w="15240">
            <a:solidFill>
              <a:srgbClr val="F87171"/>
            </a:solidFill>
            <a:prstDash val="solid"/>
          </a:ln>
          <a:effectLst>
            <a:outerShdw blurRad="127000" dist="38100" dir="8100000" algn="bl" rotWithShape="0">
              <a:srgbClr val="000000">
                <a:alpha val="22000"/>
              </a:srgbClr>
            </a:outerShdw>
          </a:effectLst>
        </p:spPr>
      </p:sp>
      <p:sp>
        <p:nvSpPr>
          <p:cNvPr id="38" name="Shape 36"/>
          <p:cNvSpPr/>
          <p:nvPr/>
        </p:nvSpPr>
        <p:spPr>
          <a:xfrm>
            <a:off x="4773168" y="3822192"/>
            <a:ext cx="64008" cy="1143000"/>
          </a:xfrm>
          <a:prstGeom prst="rect">
            <a:avLst/>
          </a:prstGeom>
          <a:solidFill>
            <a:srgbClr val="F87171"/>
          </a:solidFill>
          <a:ln w="12700">
            <a:solidFill>
              <a:srgbClr val="F87171"/>
            </a:solidFill>
            <a:prstDash val="solid"/>
          </a:ln>
        </p:spPr>
      </p:sp>
      <p:sp>
        <p:nvSpPr>
          <p:cNvPr id="39" name="Shape 37"/>
          <p:cNvSpPr/>
          <p:nvPr/>
        </p:nvSpPr>
        <p:spPr>
          <a:xfrm>
            <a:off x="4937760" y="4169664"/>
            <a:ext cx="438912" cy="438912"/>
          </a:xfrm>
          <a:prstGeom prst="ellipse">
            <a:avLst/>
          </a:prstGeom>
          <a:solidFill>
            <a:srgbClr val="F87171"/>
          </a:solidFill>
          <a:ln w="12700">
            <a:solidFill>
              <a:srgbClr val="F87171"/>
            </a:solidFill>
            <a:prstDash val="solid"/>
          </a:ln>
        </p:spPr>
      </p:sp>
      <p:sp>
        <p:nvSpPr>
          <p:cNvPr id="40" name="Text 38"/>
          <p:cNvSpPr/>
          <p:nvPr/>
        </p:nvSpPr>
        <p:spPr>
          <a:xfrm>
            <a:off x="4937760" y="4187952"/>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06</a:t>
            </a:r>
            <a:endParaRPr lang="en-US" sz="1300" dirty="0"/>
          </a:p>
        </p:txBody>
      </p:sp>
      <p:sp>
        <p:nvSpPr>
          <p:cNvPr id="41" name="Text 39"/>
          <p:cNvSpPr/>
          <p:nvPr/>
        </p:nvSpPr>
        <p:spPr>
          <a:xfrm>
            <a:off x="5486400" y="3886200"/>
            <a:ext cx="3429000" cy="329184"/>
          </a:xfrm>
          <a:prstGeom prst="rect">
            <a:avLst/>
          </a:prstGeom>
          <a:noFill/>
          <a:ln/>
        </p:spPr>
        <p:txBody>
          <a:bodyPr wrap="square" lIns="0" tIns="0" rIns="0" bIns="0"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Testing &amp; Validation</a:t>
            </a:r>
            <a:endParaRPr lang="en-US" sz="1400" dirty="0"/>
          </a:p>
        </p:txBody>
      </p:sp>
      <p:sp>
        <p:nvSpPr>
          <p:cNvPr id="42" name="Text 40"/>
          <p:cNvSpPr/>
          <p:nvPr/>
        </p:nvSpPr>
        <p:spPr>
          <a:xfrm>
            <a:off x="5486400" y="4233672"/>
            <a:ext cx="3429000" cy="658368"/>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System tested with diverse real-world images: flood scenes, landslide areas, and normal environments. Accuracy, Precision, Recall, and F1-Score measured.</a:t>
            </a:r>
            <a:endParaRPr lang="en-US" sz="11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Model — CNN (Convolutional Neural Network)</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The Core Intelligence Behind Disaster Detection</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9 / 18</a:t>
            </a:r>
            <a:endParaRPr lang="en-US" sz="1000" dirty="0"/>
          </a:p>
        </p:txBody>
      </p:sp>
      <p:sp>
        <p:nvSpPr>
          <p:cNvPr id="7" name="Shape 5"/>
          <p:cNvSpPr/>
          <p:nvPr/>
        </p:nvSpPr>
        <p:spPr>
          <a:xfrm>
            <a:off x="107175" y="1325880"/>
            <a:ext cx="1234440" cy="868680"/>
          </a:xfrm>
          <a:prstGeom prst="rect">
            <a:avLst/>
          </a:prstGeom>
          <a:solidFill>
            <a:srgbClr val="0D1E38"/>
          </a:solidFill>
          <a:ln w="19050">
            <a:solidFill>
              <a:srgbClr val="38BDF8"/>
            </a:solidFill>
            <a:prstDash val="solid"/>
          </a:ln>
          <a:effectLst>
            <a:outerShdw blurRad="127000" dist="38100" dir="8100000" algn="bl" rotWithShape="0">
              <a:srgbClr val="000000">
                <a:alpha val="22000"/>
              </a:srgbClr>
            </a:outerShdw>
          </a:effectLst>
        </p:spPr>
      </p:sp>
      <p:sp>
        <p:nvSpPr>
          <p:cNvPr id="8" name="Text 6"/>
          <p:cNvSpPr/>
          <p:nvPr/>
        </p:nvSpPr>
        <p:spPr>
          <a:xfrm>
            <a:off x="292608" y="1389888"/>
            <a:ext cx="1161288" cy="740664"/>
          </a:xfrm>
          <a:prstGeom prst="rect">
            <a:avLst/>
          </a:prstGeom>
          <a:noFill/>
          <a:ln/>
        </p:spPr>
        <p:txBody>
          <a:bodyPr wrap="square" rtlCol="0" anchor="ctr"/>
          <a:lstStyle/>
          <a:p>
            <a:pPr marL="0" indent="0" algn="ctr">
              <a:buNone/>
            </a:pPr>
            <a:r>
              <a:rPr lang="en-US" sz="1050" b="1" dirty="0">
                <a:solidFill>
                  <a:srgbClr val="38BDF8"/>
                </a:solidFill>
                <a:latin typeface="Calibri" pitchFamily="34" charset="0"/>
                <a:ea typeface="Calibri" pitchFamily="34" charset="-122"/>
                <a:cs typeface="Calibri" pitchFamily="34" charset="-120"/>
              </a:rPr>
              <a:t>Input</a:t>
            </a:r>
            <a:endParaRPr lang="en-US" sz="1050" dirty="0"/>
          </a:p>
          <a:p>
            <a:pPr marL="0" indent="0" algn="ctr">
              <a:buNone/>
            </a:pPr>
            <a:r>
              <a:rPr lang="en-US" sz="1050" b="1" dirty="0">
                <a:solidFill>
                  <a:srgbClr val="38BDF8"/>
                </a:solidFill>
                <a:latin typeface="Calibri" pitchFamily="34" charset="0"/>
                <a:ea typeface="Calibri" pitchFamily="34" charset="-122"/>
                <a:cs typeface="Calibri" pitchFamily="34" charset="-120"/>
              </a:rPr>
              <a:t>224×224×3</a:t>
            </a:r>
            <a:endParaRPr lang="en-US" sz="1050" dirty="0"/>
          </a:p>
        </p:txBody>
      </p:sp>
      <p:sp>
        <p:nvSpPr>
          <p:cNvPr id="9" name="Shape 7"/>
          <p:cNvSpPr/>
          <p:nvPr/>
        </p:nvSpPr>
        <p:spPr>
          <a:xfrm>
            <a:off x="1362885" y="1764792"/>
            <a:ext cx="164592" cy="0"/>
          </a:xfrm>
          <a:prstGeom prst="line">
            <a:avLst/>
          </a:prstGeom>
          <a:noFill/>
          <a:ln w="19050">
            <a:solidFill>
              <a:srgbClr val="94A3B8"/>
            </a:solidFill>
            <a:prstDash val="solid"/>
          </a:ln>
        </p:spPr>
      </p:sp>
      <p:sp>
        <p:nvSpPr>
          <p:cNvPr id="10" name="Shape 8"/>
          <p:cNvSpPr/>
          <p:nvPr/>
        </p:nvSpPr>
        <p:spPr>
          <a:xfrm>
            <a:off x="1527475" y="1325880"/>
            <a:ext cx="1024128" cy="868680"/>
          </a:xfrm>
          <a:prstGeom prst="rect">
            <a:avLst/>
          </a:prstGeom>
          <a:solidFill>
            <a:srgbClr val="0D1E38"/>
          </a:solidFill>
          <a:ln w="19050">
            <a:solidFill>
              <a:srgbClr val="38BDF8"/>
            </a:solidFill>
            <a:prstDash val="solid"/>
          </a:ln>
          <a:effectLst>
            <a:outerShdw blurRad="127000" dist="38100" dir="8100000" algn="bl" rotWithShape="0">
              <a:srgbClr val="000000">
                <a:alpha val="22000"/>
              </a:srgbClr>
            </a:outerShdw>
          </a:effectLst>
        </p:spPr>
      </p:sp>
      <p:sp>
        <p:nvSpPr>
          <p:cNvPr id="11" name="Text 9"/>
          <p:cNvSpPr/>
          <p:nvPr/>
        </p:nvSpPr>
        <p:spPr>
          <a:xfrm>
            <a:off x="1691640" y="1389888"/>
            <a:ext cx="950976" cy="740664"/>
          </a:xfrm>
          <a:prstGeom prst="rect">
            <a:avLst/>
          </a:prstGeom>
          <a:noFill/>
          <a:ln/>
        </p:spPr>
        <p:txBody>
          <a:bodyPr wrap="square" rtlCol="0" anchor="ctr"/>
          <a:lstStyle/>
          <a:p>
            <a:pPr marL="0" indent="0" algn="ctr">
              <a:buNone/>
            </a:pPr>
            <a:r>
              <a:rPr lang="en-US" sz="1050" b="1" dirty="0">
                <a:solidFill>
                  <a:srgbClr val="38BDF8"/>
                </a:solidFill>
                <a:latin typeface="Calibri" pitchFamily="34" charset="0"/>
                <a:ea typeface="Calibri" pitchFamily="34" charset="-122"/>
                <a:cs typeface="Calibri" pitchFamily="34" charset="-120"/>
              </a:rPr>
              <a:t>Conv</a:t>
            </a:r>
            <a:endParaRPr lang="en-US" sz="1050" dirty="0"/>
          </a:p>
          <a:p>
            <a:pPr marL="0" indent="0" algn="ctr">
              <a:buNone/>
            </a:pPr>
            <a:r>
              <a:rPr lang="en-US" sz="1050" b="1" dirty="0">
                <a:solidFill>
                  <a:srgbClr val="38BDF8"/>
                </a:solidFill>
                <a:latin typeface="Calibri" pitchFamily="34" charset="0"/>
                <a:ea typeface="Calibri" pitchFamily="34" charset="-122"/>
                <a:cs typeface="Calibri" pitchFamily="34" charset="-120"/>
              </a:rPr>
              <a:t>Layer 1</a:t>
            </a:r>
            <a:endParaRPr lang="en-US" sz="1050" dirty="0"/>
          </a:p>
        </p:txBody>
      </p:sp>
      <p:sp>
        <p:nvSpPr>
          <p:cNvPr id="12" name="Shape 10"/>
          <p:cNvSpPr/>
          <p:nvPr/>
        </p:nvSpPr>
        <p:spPr>
          <a:xfrm>
            <a:off x="2565778" y="1764792"/>
            <a:ext cx="164592" cy="0"/>
          </a:xfrm>
          <a:prstGeom prst="line">
            <a:avLst/>
          </a:prstGeom>
          <a:noFill/>
          <a:ln w="19050">
            <a:solidFill>
              <a:srgbClr val="94A3B8"/>
            </a:solidFill>
            <a:prstDash val="solid"/>
          </a:ln>
        </p:spPr>
      </p:sp>
      <p:sp>
        <p:nvSpPr>
          <p:cNvPr id="13" name="Shape 11"/>
          <p:cNvSpPr/>
          <p:nvPr/>
        </p:nvSpPr>
        <p:spPr>
          <a:xfrm>
            <a:off x="2737463" y="1325880"/>
            <a:ext cx="1024128" cy="868680"/>
          </a:xfrm>
          <a:prstGeom prst="rect">
            <a:avLst/>
          </a:prstGeom>
          <a:solidFill>
            <a:srgbClr val="0D1E38"/>
          </a:solidFill>
          <a:ln w="19050">
            <a:solidFill>
              <a:srgbClr val="818CF8"/>
            </a:solidFill>
            <a:prstDash val="solid"/>
          </a:ln>
          <a:effectLst>
            <a:outerShdw blurRad="127000" dist="38100" dir="8100000" algn="bl" rotWithShape="0">
              <a:srgbClr val="000000">
                <a:alpha val="22000"/>
              </a:srgbClr>
            </a:outerShdw>
          </a:effectLst>
        </p:spPr>
      </p:sp>
      <p:sp>
        <p:nvSpPr>
          <p:cNvPr id="14" name="Text 12"/>
          <p:cNvSpPr/>
          <p:nvPr/>
        </p:nvSpPr>
        <p:spPr>
          <a:xfrm>
            <a:off x="2880360" y="1389888"/>
            <a:ext cx="950976" cy="740664"/>
          </a:xfrm>
          <a:prstGeom prst="rect">
            <a:avLst/>
          </a:prstGeom>
          <a:noFill/>
          <a:ln/>
        </p:spPr>
        <p:txBody>
          <a:bodyPr wrap="square" rtlCol="0" anchor="ctr"/>
          <a:lstStyle/>
          <a:p>
            <a:pPr marL="0" indent="0" algn="ctr">
              <a:buNone/>
            </a:pPr>
            <a:r>
              <a:rPr lang="en-US" sz="1050" b="1" dirty="0">
                <a:solidFill>
                  <a:srgbClr val="818CF8"/>
                </a:solidFill>
                <a:latin typeface="Calibri" pitchFamily="34" charset="0"/>
                <a:ea typeface="Calibri" pitchFamily="34" charset="-122"/>
                <a:cs typeface="Calibri" pitchFamily="34" charset="-120"/>
              </a:rPr>
              <a:t>Max</a:t>
            </a:r>
            <a:endParaRPr lang="en-US" sz="1050" dirty="0"/>
          </a:p>
          <a:p>
            <a:pPr marL="0" indent="0" algn="ctr">
              <a:buNone/>
            </a:pPr>
            <a:r>
              <a:rPr lang="en-US" sz="1050" b="1" dirty="0">
                <a:solidFill>
                  <a:srgbClr val="818CF8"/>
                </a:solidFill>
                <a:latin typeface="Calibri" pitchFamily="34" charset="0"/>
                <a:ea typeface="Calibri" pitchFamily="34" charset="-122"/>
                <a:cs typeface="Calibri" pitchFamily="34" charset="-120"/>
              </a:rPr>
              <a:t>Pooling</a:t>
            </a:r>
            <a:endParaRPr lang="en-US" sz="1050" dirty="0"/>
          </a:p>
        </p:txBody>
      </p:sp>
      <p:sp>
        <p:nvSpPr>
          <p:cNvPr id="15" name="Shape 13"/>
          <p:cNvSpPr/>
          <p:nvPr/>
        </p:nvSpPr>
        <p:spPr>
          <a:xfrm>
            <a:off x="3761587" y="1764792"/>
            <a:ext cx="164592" cy="0"/>
          </a:xfrm>
          <a:prstGeom prst="line">
            <a:avLst/>
          </a:prstGeom>
          <a:noFill/>
          <a:ln w="19050">
            <a:solidFill>
              <a:srgbClr val="94A3B8"/>
            </a:solidFill>
            <a:prstDash val="solid"/>
          </a:ln>
        </p:spPr>
      </p:sp>
      <p:sp>
        <p:nvSpPr>
          <p:cNvPr id="16" name="Shape 14"/>
          <p:cNvSpPr/>
          <p:nvPr/>
        </p:nvSpPr>
        <p:spPr>
          <a:xfrm>
            <a:off x="3919093" y="1325880"/>
            <a:ext cx="1024128" cy="868680"/>
          </a:xfrm>
          <a:prstGeom prst="rect">
            <a:avLst/>
          </a:prstGeom>
          <a:solidFill>
            <a:srgbClr val="0D1E38"/>
          </a:solidFill>
          <a:ln w="19050">
            <a:solidFill>
              <a:srgbClr val="38BDF8"/>
            </a:solidFill>
            <a:prstDash val="solid"/>
          </a:ln>
          <a:effectLst>
            <a:outerShdw blurRad="127000" dist="38100" dir="8100000" algn="bl" rotWithShape="0">
              <a:srgbClr val="000000">
                <a:alpha val="22000"/>
              </a:srgbClr>
            </a:outerShdw>
          </a:effectLst>
        </p:spPr>
      </p:sp>
      <p:sp>
        <p:nvSpPr>
          <p:cNvPr id="17" name="Text 15"/>
          <p:cNvSpPr/>
          <p:nvPr/>
        </p:nvSpPr>
        <p:spPr>
          <a:xfrm>
            <a:off x="4069080" y="1389888"/>
            <a:ext cx="950976" cy="740664"/>
          </a:xfrm>
          <a:prstGeom prst="rect">
            <a:avLst/>
          </a:prstGeom>
          <a:noFill/>
          <a:ln/>
        </p:spPr>
        <p:txBody>
          <a:bodyPr wrap="square" rtlCol="0" anchor="ctr"/>
          <a:lstStyle/>
          <a:p>
            <a:pPr marL="0" indent="0" algn="ctr">
              <a:buNone/>
            </a:pPr>
            <a:r>
              <a:rPr lang="en-US" sz="1050" b="1" dirty="0">
                <a:solidFill>
                  <a:srgbClr val="38BDF8"/>
                </a:solidFill>
                <a:latin typeface="Calibri" pitchFamily="34" charset="0"/>
                <a:ea typeface="Calibri" pitchFamily="34" charset="-122"/>
                <a:cs typeface="Calibri" pitchFamily="34" charset="-120"/>
              </a:rPr>
              <a:t>Conv</a:t>
            </a:r>
            <a:endParaRPr lang="en-US" sz="1050" dirty="0"/>
          </a:p>
          <a:p>
            <a:pPr marL="0" indent="0" algn="ctr">
              <a:buNone/>
            </a:pPr>
            <a:r>
              <a:rPr lang="en-US" sz="1050" b="1" dirty="0">
                <a:solidFill>
                  <a:srgbClr val="38BDF8"/>
                </a:solidFill>
                <a:latin typeface="Calibri" pitchFamily="34" charset="0"/>
                <a:ea typeface="Calibri" pitchFamily="34" charset="-122"/>
                <a:cs typeface="Calibri" pitchFamily="34" charset="-120"/>
              </a:rPr>
              <a:t>Layer 2</a:t>
            </a:r>
            <a:endParaRPr lang="en-US" sz="1050" dirty="0"/>
          </a:p>
        </p:txBody>
      </p:sp>
      <p:sp>
        <p:nvSpPr>
          <p:cNvPr id="18" name="Shape 16"/>
          <p:cNvSpPr/>
          <p:nvPr/>
        </p:nvSpPr>
        <p:spPr>
          <a:xfrm>
            <a:off x="4929040" y="1764792"/>
            <a:ext cx="164592" cy="0"/>
          </a:xfrm>
          <a:prstGeom prst="line">
            <a:avLst/>
          </a:prstGeom>
          <a:noFill/>
          <a:ln w="19050">
            <a:solidFill>
              <a:srgbClr val="94A3B8"/>
            </a:solidFill>
            <a:prstDash val="solid"/>
          </a:ln>
        </p:spPr>
      </p:sp>
      <p:sp>
        <p:nvSpPr>
          <p:cNvPr id="19" name="Shape 17"/>
          <p:cNvSpPr/>
          <p:nvPr/>
        </p:nvSpPr>
        <p:spPr>
          <a:xfrm>
            <a:off x="5086551" y="1325880"/>
            <a:ext cx="1024128" cy="868680"/>
          </a:xfrm>
          <a:prstGeom prst="rect">
            <a:avLst/>
          </a:prstGeom>
          <a:solidFill>
            <a:srgbClr val="0D1E38"/>
          </a:solidFill>
          <a:ln w="19050">
            <a:solidFill>
              <a:srgbClr val="818CF8"/>
            </a:solidFill>
            <a:prstDash val="solid"/>
          </a:ln>
          <a:effectLst>
            <a:outerShdw blurRad="127000" dist="38100" dir="8100000" algn="bl" rotWithShape="0">
              <a:srgbClr val="000000">
                <a:alpha val="22000"/>
              </a:srgbClr>
            </a:outerShdw>
          </a:effectLst>
        </p:spPr>
      </p:sp>
      <p:sp>
        <p:nvSpPr>
          <p:cNvPr id="20" name="Text 18"/>
          <p:cNvSpPr/>
          <p:nvPr/>
        </p:nvSpPr>
        <p:spPr>
          <a:xfrm>
            <a:off x="5257800" y="1389888"/>
            <a:ext cx="950976" cy="740664"/>
          </a:xfrm>
          <a:prstGeom prst="rect">
            <a:avLst/>
          </a:prstGeom>
          <a:noFill/>
          <a:ln/>
        </p:spPr>
        <p:txBody>
          <a:bodyPr wrap="square" rtlCol="0" anchor="ctr"/>
          <a:lstStyle/>
          <a:p>
            <a:pPr marL="0" indent="0" algn="ctr">
              <a:buNone/>
            </a:pPr>
            <a:r>
              <a:rPr lang="en-US" sz="1050" b="1" dirty="0">
                <a:solidFill>
                  <a:srgbClr val="818CF8"/>
                </a:solidFill>
                <a:latin typeface="Calibri" pitchFamily="34" charset="0"/>
                <a:ea typeface="Calibri" pitchFamily="34" charset="-122"/>
                <a:cs typeface="Calibri" pitchFamily="34" charset="-120"/>
              </a:rPr>
              <a:t>Max</a:t>
            </a:r>
            <a:endParaRPr lang="en-US" sz="1050" dirty="0"/>
          </a:p>
          <a:p>
            <a:pPr marL="0" indent="0" algn="ctr">
              <a:buNone/>
            </a:pPr>
            <a:r>
              <a:rPr lang="en-US" sz="1050" b="1" dirty="0">
                <a:solidFill>
                  <a:srgbClr val="818CF8"/>
                </a:solidFill>
                <a:latin typeface="Calibri" pitchFamily="34" charset="0"/>
                <a:ea typeface="Calibri" pitchFamily="34" charset="-122"/>
                <a:cs typeface="Calibri" pitchFamily="34" charset="-120"/>
              </a:rPr>
              <a:t>Pooling</a:t>
            </a:r>
            <a:endParaRPr lang="en-US" sz="1050" dirty="0"/>
          </a:p>
        </p:txBody>
      </p:sp>
      <p:sp>
        <p:nvSpPr>
          <p:cNvPr id="21" name="Shape 19"/>
          <p:cNvSpPr/>
          <p:nvPr/>
        </p:nvSpPr>
        <p:spPr>
          <a:xfrm>
            <a:off x="6096504" y="1764792"/>
            <a:ext cx="164592" cy="0"/>
          </a:xfrm>
          <a:prstGeom prst="line">
            <a:avLst/>
          </a:prstGeom>
          <a:noFill/>
          <a:ln w="19050">
            <a:solidFill>
              <a:srgbClr val="94A3B8"/>
            </a:solidFill>
            <a:prstDash val="solid"/>
          </a:ln>
        </p:spPr>
      </p:sp>
      <p:sp>
        <p:nvSpPr>
          <p:cNvPr id="22" name="Shape 20"/>
          <p:cNvSpPr/>
          <p:nvPr/>
        </p:nvSpPr>
        <p:spPr>
          <a:xfrm>
            <a:off x="6268184" y="1325880"/>
            <a:ext cx="1024128" cy="868680"/>
          </a:xfrm>
          <a:prstGeom prst="rect">
            <a:avLst/>
          </a:prstGeom>
          <a:solidFill>
            <a:srgbClr val="0D1E38"/>
          </a:solidFill>
          <a:ln w="19050">
            <a:solidFill>
              <a:srgbClr val="FBBF24"/>
            </a:solidFill>
            <a:prstDash val="solid"/>
          </a:ln>
          <a:effectLst>
            <a:outerShdw blurRad="127000" dist="38100" dir="8100000" algn="bl" rotWithShape="0">
              <a:srgbClr val="000000">
                <a:alpha val="22000"/>
              </a:srgbClr>
            </a:outerShdw>
          </a:effectLst>
        </p:spPr>
      </p:sp>
      <p:sp>
        <p:nvSpPr>
          <p:cNvPr id="23" name="Text 21"/>
          <p:cNvSpPr/>
          <p:nvPr/>
        </p:nvSpPr>
        <p:spPr>
          <a:xfrm>
            <a:off x="6446520" y="1389888"/>
            <a:ext cx="950976" cy="740664"/>
          </a:xfrm>
          <a:prstGeom prst="rect">
            <a:avLst/>
          </a:prstGeom>
          <a:noFill/>
          <a:ln/>
        </p:spPr>
        <p:txBody>
          <a:bodyPr wrap="square"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Flatten</a:t>
            </a:r>
            <a:endParaRPr lang="en-US" sz="1050" dirty="0"/>
          </a:p>
        </p:txBody>
      </p:sp>
      <p:sp>
        <p:nvSpPr>
          <p:cNvPr id="24" name="Shape 22"/>
          <p:cNvSpPr/>
          <p:nvPr/>
        </p:nvSpPr>
        <p:spPr>
          <a:xfrm>
            <a:off x="7292304" y="1764792"/>
            <a:ext cx="164592" cy="0"/>
          </a:xfrm>
          <a:prstGeom prst="line">
            <a:avLst/>
          </a:prstGeom>
          <a:noFill/>
          <a:ln w="19050">
            <a:solidFill>
              <a:srgbClr val="94A3B8"/>
            </a:solidFill>
            <a:prstDash val="solid"/>
          </a:ln>
        </p:spPr>
      </p:sp>
      <p:sp>
        <p:nvSpPr>
          <p:cNvPr id="25" name="Shape 23"/>
          <p:cNvSpPr/>
          <p:nvPr/>
        </p:nvSpPr>
        <p:spPr>
          <a:xfrm>
            <a:off x="7463988" y="1325880"/>
            <a:ext cx="1024128" cy="868680"/>
          </a:xfrm>
          <a:prstGeom prst="rect">
            <a:avLst/>
          </a:prstGeom>
          <a:solidFill>
            <a:srgbClr val="0D1E38"/>
          </a:solidFill>
          <a:ln w="19050">
            <a:solidFill>
              <a:srgbClr val="FB923C"/>
            </a:solidFill>
            <a:prstDash val="solid"/>
          </a:ln>
          <a:effectLst>
            <a:outerShdw blurRad="127000" dist="38100" dir="8100000" algn="bl" rotWithShape="0">
              <a:srgbClr val="000000">
                <a:alpha val="22000"/>
              </a:srgbClr>
            </a:outerShdw>
          </a:effectLst>
        </p:spPr>
      </p:sp>
      <p:sp>
        <p:nvSpPr>
          <p:cNvPr id="26" name="Text 24"/>
          <p:cNvSpPr/>
          <p:nvPr/>
        </p:nvSpPr>
        <p:spPr>
          <a:xfrm>
            <a:off x="7635240" y="1389888"/>
            <a:ext cx="950976" cy="740664"/>
          </a:xfrm>
          <a:prstGeom prst="rect">
            <a:avLst/>
          </a:prstGeom>
          <a:noFill/>
          <a:ln/>
        </p:spPr>
        <p:txBody>
          <a:bodyPr wrap="square" rtlCol="0" anchor="ctr"/>
          <a:lstStyle/>
          <a:p>
            <a:pPr marL="0" indent="0" algn="ctr">
              <a:buNone/>
            </a:pPr>
            <a:r>
              <a:rPr lang="en-US" sz="1050" b="1" dirty="0">
                <a:solidFill>
                  <a:srgbClr val="FB923C"/>
                </a:solidFill>
                <a:latin typeface="Calibri" pitchFamily="34" charset="0"/>
                <a:ea typeface="Calibri" pitchFamily="34" charset="-122"/>
                <a:cs typeface="Calibri" pitchFamily="34" charset="-120"/>
              </a:rPr>
              <a:t>Dense</a:t>
            </a:r>
            <a:endParaRPr lang="en-US" sz="1050" dirty="0"/>
          </a:p>
          <a:p>
            <a:pPr marL="0" indent="0" algn="ctr">
              <a:buNone/>
            </a:pPr>
            <a:r>
              <a:rPr lang="en-US" sz="1050" b="1" dirty="0">
                <a:solidFill>
                  <a:srgbClr val="FB923C"/>
                </a:solidFill>
                <a:latin typeface="Calibri" pitchFamily="34" charset="0"/>
                <a:ea typeface="Calibri" pitchFamily="34" charset="-122"/>
                <a:cs typeface="Calibri" pitchFamily="34" charset="-120"/>
              </a:rPr>
              <a:t>Layer</a:t>
            </a:r>
            <a:endParaRPr lang="en-US" sz="1050" dirty="0"/>
          </a:p>
        </p:txBody>
      </p:sp>
      <p:sp>
        <p:nvSpPr>
          <p:cNvPr id="27" name="Shape 25"/>
          <p:cNvSpPr/>
          <p:nvPr/>
        </p:nvSpPr>
        <p:spPr>
          <a:xfrm>
            <a:off x="8495207" y="1764792"/>
            <a:ext cx="164592" cy="0"/>
          </a:xfrm>
          <a:prstGeom prst="line">
            <a:avLst/>
          </a:prstGeom>
          <a:noFill/>
          <a:ln w="19050">
            <a:solidFill>
              <a:srgbClr val="94A3B8"/>
            </a:solidFill>
            <a:prstDash val="solid"/>
          </a:ln>
        </p:spPr>
      </p:sp>
      <p:sp>
        <p:nvSpPr>
          <p:cNvPr id="28" name="Shape 26"/>
          <p:cNvSpPr/>
          <p:nvPr/>
        </p:nvSpPr>
        <p:spPr>
          <a:xfrm>
            <a:off x="8652277" y="1314449"/>
            <a:ext cx="1107982" cy="868680"/>
          </a:xfrm>
          <a:prstGeom prst="rect">
            <a:avLst/>
          </a:prstGeom>
          <a:solidFill>
            <a:srgbClr val="0D1E38"/>
          </a:solidFill>
          <a:ln w="19050">
            <a:solidFill>
              <a:srgbClr val="34D399"/>
            </a:solidFill>
            <a:prstDash val="solid"/>
          </a:ln>
          <a:effectLst>
            <a:outerShdw blurRad="127000" dist="38100" dir="8100000" algn="bl" rotWithShape="0">
              <a:srgbClr val="000000">
                <a:alpha val="22000"/>
              </a:srgbClr>
            </a:outerShdw>
          </a:effectLst>
        </p:spPr>
      </p:sp>
      <p:sp>
        <p:nvSpPr>
          <p:cNvPr id="29" name="Text 27"/>
          <p:cNvSpPr/>
          <p:nvPr/>
        </p:nvSpPr>
        <p:spPr>
          <a:xfrm>
            <a:off x="8823960" y="1389888"/>
            <a:ext cx="1161288" cy="740664"/>
          </a:xfrm>
          <a:prstGeom prst="rect">
            <a:avLst/>
          </a:prstGeom>
          <a:noFill/>
          <a:ln/>
        </p:spPr>
        <p:txBody>
          <a:bodyPr wrap="square"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o</a:t>
            </a:r>
            <a:r>
              <a:rPr lang="en-US" sz="1050" b="1" dirty="0" smtClean="0">
                <a:solidFill>
                  <a:srgbClr val="34D399"/>
                </a:solidFill>
                <a:latin typeface="Calibri" pitchFamily="34" charset="0"/>
                <a:ea typeface="Calibri" pitchFamily="34" charset="-122"/>
                <a:cs typeface="Calibri" pitchFamily="34" charset="-120"/>
              </a:rPr>
              <a:t>utput</a:t>
            </a:r>
            <a:endParaRPr lang="en-US" sz="1050" dirty="0"/>
          </a:p>
          <a:p>
            <a:pPr marL="0" indent="0" algn="ctr">
              <a:buNone/>
            </a:pPr>
            <a:r>
              <a:rPr lang="en-US" sz="1050" b="1" dirty="0">
                <a:solidFill>
                  <a:srgbClr val="34D399"/>
                </a:solidFill>
                <a:latin typeface="Calibri" pitchFamily="34" charset="0"/>
                <a:ea typeface="Calibri" pitchFamily="34" charset="-122"/>
                <a:cs typeface="Calibri" pitchFamily="34" charset="-120"/>
              </a:rPr>
              <a:t>3 Classes</a:t>
            </a:r>
            <a:endParaRPr lang="en-US" sz="1050" dirty="0"/>
          </a:p>
        </p:txBody>
      </p:sp>
      <p:sp>
        <p:nvSpPr>
          <p:cNvPr id="30" name="Shape 28"/>
          <p:cNvSpPr/>
          <p:nvPr/>
        </p:nvSpPr>
        <p:spPr>
          <a:xfrm>
            <a:off x="365760" y="2395728"/>
            <a:ext cx="4160520" cy="2514600"/>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31" name="Shape 29"/>
          <p:cNvSpPr/>
          <p:nvPr/>
        </p:nvSpPr>
        <p:spPr>
          <a:xfrm>
            <a:off x="365760" y="2395728"/>
            <a:ext cx="64008" cy="2514600"/>
          </a:xfrm>
          <a:prstGeom prst="rect">
            <a:avLst/>
          </a:prstGeom>
          <a:solidFill>
            <a:srgbClr val="38BDF8"/>
          </a:solidFill>
          <a:ln w="12700">
            <a:solidFill>
              <a:srgbClr val="38BDF8"/>
            </a:solidFill>
            <a:prstDash val="solid"/>
          </a:ln>
        </p:spPr>
      </p:sp>
      <p:sp>
        <p:nvSpPr>
          <p:cNvPr id="32" name="Text 30"/>
          <p:cNvSpPr/>
          <p:nvPr/>
        </p:nvSpPr>
        <p:spPr>
          <a:xfrm>
            <a:off x="594360" y="2468880"/>
            <a:ext cx="3794760" cy="347472"/>
          </a:xfrm>
          <a:prstGeom prst="rect">
            <a:avLst/>
          </a:prstGeom>
          <a:noFill/>
          <a:ln/>
        </p:spPr>
        <p:txBody>
          <a:bodyPr wrap="square" lIns="0" tIns="0" rIns="0" bIns="0" rtlCol="0" anchor="ctr"/>
          <a:lstStyle/>
          <a:p>
            <a:pPr marL="0" indent="0">
              <a:buNone/>
            </a:pPr>
            <a:r>
              <a:rPr lang="en-US" sz="1500" b="1" dirty="0">
                <a:solidFill>
                  <a:srgbClr val="38BDF8"/>
                </a:solidFill>
                <a:latin typeface="Calibri" pitchFamily="34" charset="0"/>
                <a:ea typeface="Calibri" pitchFamily="34" charset="-122"/>
                <a:cs typeface="Calibri" pitchFamily="34" charset="-120"/>
              </a:rPr>
              <a:t>How the CNN Works</a:t>
            </a:r>
            <a:endParaRPr lang="en-US" sz="1500" dirty="0"/>
          </a:p>
        </p:txBody>
      </p:sp>
      <p:sp>
        <p:nvSpPr>
          <p:cNvPr id="33" name="Shape 31"/>
          <p:cNvSpPr/>
          <p:nvPr/>
        </p:nvSpPr>
        <p:spPr>
          <a:xfrm>
            <a:off x="621792" y="2990088"/>
            <a:ext cx="118872" cy="118872"/>
          </a:xfrm>
          <a:prstGeom prst="ellipse">
            <a:avLst/>
          </a:prstGeom>
          <a:solidFill>
            <a:srgbClr val="38BDF8"/>
          </a:solidFill>
          <a:ln w="12700">
            <a:solidFill>
              <a:srgbClr val="38BDF8"/>
            </a:solidFill>
            <a:prstDash val="solid"/>
          </a:ln>
        </p:spPr>
      </p:sp>
      <p:sp>
        <p:nvSpPr>
          <p:cNvPr id="34" name="Text 32"/>
          <p:cNvSpPr/>
          <p:nvPr/>
        </p:nvSpPr>
        <p:spPr>
          <a:xfrm>
            <a:off x="822960" y="2880360"/>
            <a:ext cx="36118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Input image resized to 224×224 px and normalized</a:t>
            </a:r>
            <a:endParaRPr lang="en-US" sz="1150" dirty="0"/>
          </a:p>
        </p:txBody>
      </p:sp>
      <p:sp>
        <p:nvSpPr>
          <p:cNvPr id="35" name="Shape 33"/>
          <p:cNvSpPr/>
          <p:nvPr/>
        </p:nvSpPr>
        <p:spPr>
          <a:xfrm>
            <a:off x="621792" y="3310128"/>
            <a:ext cx="118872" cy="118872"/>
          </a:xfrm>
          <a:prstGeom prst="ellipse">
            <a:avLst/>
          </a:prstGeom>
          <a:solidFill>
            <a:srgbClr val="38BDF8"/>
          </a:solidFill>
          <a:ln w="12700">
            <a:solidFill>
              <a:srgbClr val="38BDF8"/>
            </a:solidFill>
            <a:prstDash val="solid"/>
          </a:ln>
        </p:spPr>
      </p:sp>
      <p:sp>
        <p:nvSpPr>
          <p:cNvPr id="36" name="Text 34"/>
          <p:cNvSpPr/>
          <p:nvPr/>
        </p:nvSpPr>
        <p:spPr>
          <a:xfrm>
            <a:off x="822960" y="3200400"/>
            <a:ext cx="36118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Convolutional layers extract visual features (edges, textures, colors)</a:t>
            </a:r>
            <a:endParaRPr lang="en-US" sz="1150" dirty="0"/>
          </a:p>
        </p:txBody>
      </p:sp>
      <p:sp>
        <p:nvSpPr>
          <p:cNvPr id="37" name="Shape 35"/>
          <p:cNvSpPr/>
          <p:nvPr/>
        </p:nvSpPr>
        <p:spPr>
          <a:xfrm>
            <a:off x="621792" y="3630168"/>
            <a:ext cx="118872" cy="118872"/>
          </a:xfrm>
          <a:prstGeom prst="ellipse">
            <a:avLst/>
          </a:prstGeom>
          <a:solidFill>
            <a:srgbClr val="38BDF8"/>
          </a:solidFill>
          <a:ln w="12700">
            <a:solidFill>
              <a:srgbClr val="38BDF8"/>
            </a:solidFill>
            <a:prstDash val="solid"/>
          </a:ln>
        </p:spPr>
      </p:sp>
      <p:sp>
        <p:nvSpPr>
          <p:cNvPr id="38" name="Text 36"/>
          <p:cNvSpPr/>
          <p:nvPr/>
        </p:nvSpPr>
        <p:spPr>
          <a:xfrm>
            <a:off x="822960" y="3520440"/>
            <a:ext cx="36118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Pooling layers reduce dimensions while retaining key features</a:t>
            </a:r>
            <a:endParaRPr lang="en-US" sz="1150" dirty="0"/>
          </a:p>
        </p:txBody>
      </p:sp>
      <p:sp>
        <p:nvSpPr>
          <p:cNvPr id="39" name="Shape 37"/>
          <p:cNvSpPr/>
          <p:nvPr/>
        </p:nvSpPr>
        <p:spPr>
          <a:xfrm>
            <a:off x="621792" y="3950208"/>
            <a:ext cx="118872" cy="118872"/>
          </a:xfrm>
          <a:prstGeom prst="ellipse">
            <a:avLst/>
          </a:prstGeom>
          <a:solidFill>
            <a:srgbClr val="38BDF8"/>
          </a:solidFill>
          <a:ln w="12700">
            <a:solidFill>
              <a:srgbClr val="38BDF8"/>
            </a:solidFill>
            <a:prstDash val="solid"/>
          </a:ln>
        </p:spPr>
      </p:sp>
      <p:sp>
        <p:nvSpPr>
          <p:cNvPr id="40" name="Text 38"/>
          <p:cNvSpPr/>
          <p:nvPr/>
        </p:nvSpPr>
        <p:spPr>
          <a:xfrm>
            <a:off x="822960" y="3840480"/>
            <a:ext cx="36118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Flattened into 1D vector and passed to Dense layers</a:t>
            </a:r>
            <a:endParaRPr lang="en-US" sz="1150" dirty="0"/>
          </a:p>
        </p:txBody>
      </p:sp>
      <p:sp>
        <p:nvSpPr>
          <p:cNvPr id="41" name="Shape 39"/>
          <p:cNvSpPr/>
          <p:nvPr/>
        </p:nvSpPr>
        <p:spPr>
          <a:xfrm>
            <a:off x="621792" y="4270248"/>
            <a:ext cx="118872" cy="118872"/>
          </a:xfrm>
          <a:prstGeom prst="ellipse">
            <a:avLst/>
          </a:prstGeom>
          <a:solidFill>
            <a:srgbClr val="38BDF8"/>
          </a:solidFill>
          <a:ln w="12700">
            <a:solidFill>
              <a:srgbClr val="38BDF8"/>
            </a:solidFill>
            <a:prstDash val="solid"/>
          </a:ln>
        </p:spPr>
      </p:sp>
      <p:sp>
        <p:nvSpPr>
          <p:cNvPr id="42" name="Text 40"/>
          <p:cNvSpPr/>
          <p:nvPr/>
        </p:nvSpPr>
        <p:spPr>
          <a:xfrm>
            <a:off x="822960" y="4160520"/>
            <a:ext cx="36118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Output layer gives probability for each of 3 disaster classes</a:t>
            </a:r>
            <a:endParaRPr lang="en-US" sz="1150" dirty="0"/>
          </a:p>
        </p:txBody>
      </p:sp>
      <p:sp>
        <p:nvSpPr>
          <p:cNvPr id="43" name="Shape 41"/>
          <p:cNvSpPr/>
          <p:nvPr/>
        </p:nvSpPr>
        <p:spPr>
          <a:xfrm>
            <a:off x="621792" y="4590288"/>
            <a:ext cx="118872" cy="118872"/>
          </a:xfrm>
          <a:prstGeom prst="ellipse">
            <a:avLst/>
          </a:prstGeom>
          <a:solidFill>
            <a:srgbClr val="38BDF8"/>
          </a:solidFill>
          <a:ln w="12700">
            <a:solidFill>
              <a:srgbClr val="38BDF8"/>
            </a:solidFill>
            <a:prstDash val="solid"/>
          </a:ln>
        </p:spPr>
      </p:sp>
      <p:sp>
        <p:nvSpPr>
          <p:cNvPr id="44" name="Text 42"/>
          <p:cNvSpPr/>
          <p:nvPr/>
        </p:nvSpPr>
        <p:spPr>
          <a:xfrm>
            <a:off x="822960" y="4480560"/>
            <a:ext cx="3611880" cy="30175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argmax() selects highest-probability class as final prediction</a:t>
            </a:r>
            <a:endParaRPr lang="en-US" sz="1150" dirty="0"/>
          </a:p>
        </p:txBody>
      </p:sp>
      <p:sp>
        <p:nvSpPr>
          <p:cNvPr id="45" name="Shape 43"/>
          <p:cNvSpPr/>
          <p:nvPr/>
        </p:nvSpPr>
        <p:spPr>
          <a:xfrm>
            <a:off x="4709160" y="2395727"/>
            <a:ext cx="4069080" cy="2615751"/>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46" name="Shape 44"/>
          <p:cNvSpPr/>
          <p:nvPr/>
        </p:nvSpPr>
        <p:spPr>
          <a:xfrm>
            <a:off x="4709160" y="2395728"/>
            <a:ext cx="64008" cy="2514600"/>
          </a:xfrm>
          <a:prstGeom prst="rect">
            <a:avLst/>
          </a:prstGeom>
          <a:solidFill>
            <a:srgbClr val="34D399"/>
          </a:solidFill>
          <a:ln w="12700">
            <a:solidFill>
              <a:srgbClr val="34D399"/>
            </a:solidFill>
            <a:prstDash val="solid"/>
          </a:ln>
        </p:spPr>
      </p:sp>
      <p:sp>
        <p:nvSpPr>
          <p:cNvPr id="47" name="Text 45"/>
          <p:cNvSpPr/>
          <p:nvPr/>
        </p:nvSpPr>
        <p:spPr>
          <a:xfrm>
            <a:off x="4937760" y="2468880"/>
            <a:ext cx="3657600" cy="347472"/>
          </a:xfrm>
          <a:prstGeom prst="rect">
            <a:avLst/>
          </a:prstGeom>
          <a:noFill/>
          <a:ln/>
        </p:spPr>
        <p:txBody>
          <a:bodyPr wrap="square" lIns="0" tIns="0" rIns="0" bIns="0" rtlCol="0" anchor="ctr"/>
          <a:lstStyle/>
          <a:p>
            <a:pPr marL="0" indent="0">
              <a:buNone/>
            </a:pPr>
            <a:r>
              <a:rPr lang="en-US" sz="1500" b="1" dirty="0">
                <a:solidFill>
                  <a:srgbClr val="34D399"/>
                </a:solidFill>
                <a:latin typeface="Calibri" pitchFamily="34" charset="0"/>
                <a:ea typeface="Calibri" pitchFamily="34" charset="-122"/>
                <a:cs typeface="Calibri" pitchFamily="34" charset="-120"/>
              </a:rPr>
              <a:t>Severity Classification</a:t>
            </a:r>
            <a:endParaRPr lang="en-US" sz="1500" dirty="0"/>
          </a:p>
        </p:txBody>
      </p:sp>
      <p:sp>
        <p:nvSpPr>
          <p:cNvPr id="48" name="Shape 46"/>
          <p:cNvSpPr/>
          <p:nvPr/>
        </p:nvSpPr>
        <p:spPr>
          <a:xfrm>
            <a:off x="4937760" y="2944368"/>
            <a:ext cx="3657600" cy="384048"/>
          </a:xfrm>
          <a:prstGeom prst="rect">
            <a:avLst/>
          </a:prstGeom>
          <a:solidFill>
            <a:srgbClr val="0D1E38"/>
          </a:solidFill>
          <a:ln w="12700">
            <a:solidFill>
              <a:srgbClr val="F87171"/>
            </a:solidFill>
            <a:prstDash val="solid"/>
          </a:ln>
          <a:effectLst>
            <a:outerShdw blurRad="127000" dist="38100" dir="8100000" algn="bl" rotWithShape="0">
              <a:srgbClr val="000000">
                <a:alpha val="22000"/>
              </a:srgbClr>
            </a:outerShdw>
          </a:effectLst>
        </p:spPr>
      </p:sp>
      <p:sp>
        <p:nvSpPr>
          <p:cNvPr id="49" name="Shape 47"/>
          <p:cNvSpPr/>
          <p:nvPr/>
        </p:nvSpPr>
        <p:spPr>
          <a:xfrm>
            <a:off x="4937760" y="2944368"/>
            <a:ext cx="1097280" cy="384048"/>
          </a:xfrm>
          <a:prstGeom prst="rect">
            <a:avLst/>
          </a:prstGeom>
          <a:solidFill>
            <a:srgbClr val="F87171"/>
          </a:solidFill>
          <a:ln w="12700">
            <a:solidFill>
              <a:srgbClr val="F87171"/>
            </a:solidFill>
            <a:prstDash val="solid"/>
          </a:ln>
        </p:spPr>
      </p:sp>
      <p:sp>
        <p:nvSpPr>
          <p:cNvPr id="50" name="Text 48"/>
          <p:cNvSpPr/>
          <p:nvPr/>
        </p:nvSpPr>
        <p:spPr>
          <a:xfrm>
            <a:off x="4937760" y="2944368"/>
            <a:ext cx="1097280" cy="38404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&gt; </a:t>
            </a:r>
            <a:r>
              <a:rPr lang="en-US" sz="1300" b="1" dirty="0" smtClean="0">
                <a:solidFill>
                  <a:srgbClr val="0A1628"/>
                </a:solidFill>
                <a:latin typeface="Calibri" pitchFamily="34" charset="0"/>
                <a:ea typeface="Calibri" pitchFamily="34" charset="-122"/>
                <a:cs typeface="Calibri" pitchFamily="34" charset="-120"/>
              </a:rPr>
              <a:t>75%</a:t>
            </a:r>
            <a:endParaRPr lang="en-US" sz="1300" dirty="0"/>
          </a:p>
        </p:txBody>
      </p:sp>
      <p:sp>
        <p:nvSpPr>
          <p:cNvPr id="51" name="Text 49"/>
          <p:cNvSpPr/>
          <p:nvPr/>
        </p:nvSpPr>
        <p:spPr>
          <a:xfrm>
            <a:off x="6126480" y="3008376"/>
            <a:ext cx="2377440" cy="256032"/>
          </a:xfrm>
          <a:prstGeom prst="rect">
            <a:avLst/>
          </a:prstGeom>
          <a:noFill/>
          <a:ln/>
        </p:spPr>
        <p:txBody>
          <a:bodyPr wrap="square" lIns="0" tIns="0" rIns="0" bIns="0" rtlCol="0" anchor="ctr"/>
          <a:lstStyle/>
          <a:p>
            <a:pPr marL="0" indent="0">
              <a:buNone/>
            </a:pPr>
            <a:r>
              <a:rPr lang="en-US" sz="1400" b="1" dirty="0">
                <a:solidFill>
                  <a:srgbClr val="F87171"/>
                </a:solidFill>
                <a:latin typeface="Calibri" pitchFamily="34" charset="0"/>
                <a:ea typeface="Calibri" pitchFamily="34" charset="-122"/>
                <a:cs typeface="Calibri" pitchFamily="34" charset="-120"/>
              </a:rPr>
              <a:t>HIGH</a:t>
            </a:r>
            <a:endParaRPr lang="en-US" sz="1400" dirty="0"/>
          </a:p>
        </p:txBody>
      </p:sp>
      <p:sp>
        <p:nvSpPr>
          <p:cNvPr id="52" name="Shape 50"/>
          <p:cNvSpPr/>
          <p:nvPr/>
        </p:nvSpPr>
        <p:spPr>
          <a:xfrm>
            <a:off x="4937760" y="3383280"/>
            <a:ext cx="3657600" cy="384048"/>
          </a:xfrm>
          <a:prstGeom prst="rect">
            <a:avLst/>
          </a:prstGeom>
          <a:solidFill>
            <a:srgbClr val="0D1E38"/>
          </a:solidFill>
          <a:ln w="12700">
            <a:solidFill>
              <a:srgbClr val="FB923C"/>
            </a:solidFill>
            <a:prstDash val="solid"/>
          </a:ln>
          <a:effectLst>
            <a:outerShdw blurRad="127000" dist="38100" dir="8100000" algn="bl" rotWithShape="0">
              <a:srgbClr val="000000">
                <a:alpha val="22000"/>
              </a:srgbClr>
            </a:outerShdw>
          </a:effectLst>
        </p:spPr>
      </p:sp>
      <p:sp>
        <p:nvSpPr>
          <p:cNvPr id="53" name="Shape 51"/>
          <p:cNvSpPr/>
          <p:nvPr/>
        </p:nvSpPr>
        <p:spPr>
          <a:xfrm>
            <a:off x="4937760" y="3383280"/>
            <a:ext cx="1097280" cy="384048"/>
          </a:xfrm>
          <a:prstGeom prst="rect">
            <a:avLst/>
          </a:prstGeom>
          <a:solidFill>
            <a:srgbClr val="FB923C"/>
          </a:solidFill>
          <a:ln w="12700">
            <a:solidFill>
              <a:srgbClr val="FB923C"/>
            </a:solidFill>
            <a:prstDash val="solid"/>
          </a:ln>
        </p:spPr>
      </p:sp>
      <p:sp>
        <p:nvSpPr>
          <p:cNvPr id="54" name="Text 52"/>
          <p:cNvSpPr/>
          <p:nvPr/>
        </p:nvSpPr>
        <p:spPr>
          <a:xfrm>
            <a:off x="4937760" y="3383280"/>
            <a:ext cx="1097280" cy="38404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60 – </a:t>
            </a:r>
            <a:r>
              <a:rPr lang="en-US" sz="1300" b="1" dirty="0" smtClean="0">
                <a:solidFill>
                  <a:srgbClr val="0A1628"/>
                </a:solidFill>
                <a:latin typeface="Calibri" pitchFamily="34" charset="0"/>
                <a:ea typeface="Calibri" pitchFamily="34" charset="-122"/>
                <a:cs typeface="Calibri" pitchFamily="34" charset="-120"/>
              </a:rPr>
              <a:t>75</a:t>
            </a:r>
            <a:r>
              <a:rPr lang="en-US" sz="1300" b="1" dirty="0" smtClean="0">
                <a:solidFill>
                  <a:srgbClr val="0A1628"/>
                </a:solidFill>
                <a:latin typeface="Calibri" pitchFamily="34" charset="0"/>
                <a:ea typeface="Calibri" pitchFamily="34" charset="-122"/>
                <a:cs typeface="Calibri" pitchFamily="34" charset="-120"/>
              </a:rPr>
              <a:t>%</a:t>
            </a:r>
            <a:endParaRPr lang="en-US" sz="1300" dirty="0"/>
          </a:p>
        </p:txBody>
      </p:sp>
      <p:sp>
        <p:nvSpPr>
          <p:cNvPr id="55" name="Text 53"/>
          <p:cNvSpPr/>
          <p:nvPr/>
        </p:nvSpPr>
        <p:spPr>
          <a:xfrm>
            <a:off x="6126480" y="3447288"/>
            <a:ext cx="2377440" cy="256032"/>
          </a:xfrm>
          <a:prstGeom prst="rect">
            <a:avLst/>
          </a:prstGeom>
          <a:noFill/>
          <a:ln/>
        </p:spPr>
        <p:txBody>
          <a:bodyPr wrap="square" lIns="0" tIns="0" rIns="0" bIns="0" rtlCol="0" anchor="ctr"/>
          <a:lstStyle/>
          <a:p>
            <a:pPr marL="0" indent="0">
              <a:buNone/>
            </a:pPr>
            <a:r>
              <a:rPr lang="en-US" sz="1400" b="1" dirty="0">
                <a:solidFill>
                  <a:srgbClr val="FB923C"/>
                </a:solidFill>
                <a:latin typeface="Calibri" pitchFamily="34" charset="0"/>
                <a:ea typeface="Calibri" pitchFamily="34" charset="-122"/>
                <a:cs typeface="Calibri" pitchFamily="34" charset="-120"/>
              </a:rPr>
              <a:t>MODERATE</a:t>
            </a:r>
            <a:endParaRPr lang="en-US" sz="1400" dirty="0"/>
          </a:p>
        </p:txBody>
      </p:sp>
      <p:sp>
        <p:nvSpPr>
          <p:cNvPr id="56" name="Shape 54"/>
          <p:cNvSpPr/>
          <p:nvPr/>
        </p:nvSpPr>
        <p:spPr>
          <a:xfrm>
            <a:off x="4937760" y="3822192"/>
            <a:ext cx="3657600" cy="384048"/>
          </a:xfrm>
          <a:prstGeom prst="rect">
            <a:avLst/>
          </a:prstGeom>
          <a:solidFill>
            <a:srgbClr val="0D1E38"/>
          </a:solidFill>
          <a:ln w="12700">
            <a:solidFill>
              <a:srgbClr val="FBBF24"/>
            </a:solidFill>
            <a:prstDash val="solid"/>
          </a:ln>
          <a:effectLst>
            <a:outerShdw blurRad="127000" dist="38100" dir="8100000" algn="bl" rotWithShape="0">
              <a:srgbClr val="000000">
                <a:alpha val="22000"/>
              </a:srgbClr>
            </a:outerShdw>
          </a:effectLst>
        </p:spPr>
      </p:sp>
      <p:sp>
        <p:nvSpPr>
          <p:cNvPr id="57" name="Shape 55"/>
          <p:cNvSpPr/>
          <p:nvPr/>
        </p:nvSpPr>
        <p:spPr>
          <a:xfrm>
            <a:off x="4937760" y="3822192"/>
            <a:ext cx="1097280" cy="384048"/>
          </a:xfrm>
          <a:prstGeom prst="rect">
            <a:avLst/>
          </a:prstGeom>
          <a:solidFill>
            <a:srgbClr val="FBBF24"/>
          </a:solidFill>
          <a:ln w="12700">
            <a:solidFill>
              <a:srgbClr val="FBBF24"/>
            </a:solidFill>
            <a:prstDash val="solid"/>
          </a:ln>
        </p:spPr>
      </p:sp>
      <p:sp>
        <p:nvSpPr>
          <p:cNvPr id="58" name="Text 56"/>
          <p:cNvSpPr/>
          <p:nvPr/>
        </p:nvSpPr>
        <p:spPr>
          <a:xfrm>
            <a:off x="4937760" y="3822192"/>
            <a:ext cx="1097280" cy="38404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40 – 60%</a:t>
            </a:r>
            <a:endParaRPr lang="en-US" sz="1300" dirty="0"/>
          </a:p>
        </p:txBody>
      </p:sp>
      <p:sp>
        <p:nvSpPr>
          <p:cNvPr id="59" name="Text 57"/>
          <p:cNvSpPr/>
          <p:nvPr/>
        </p:nvSpPr>
        <p:spPr>
          <a:xfrm>
            <a:off x="6126480" y="3886200"/>
            <a:ext cx="2377440" cy="256032"/>
          </a:xfrm>
          <a:prstGeom prst="rect">
            <a:avLst/>
          </a:prstGeom>
          <a:noFill/>
          <a:ln/>
        </p:spPr>
        <p:txBody>
          <a:bodyPr wrap="square" lIns="0" tIns="0" rIns="0" bIns="0" rtlCol="0" anchor="ctr"/>
          <a:lstStyle/>
          <a:p>
            <a:pPr marL="0" indent="0">
              <a:buNone/>
            </a:pPr>
            <a:r>
              <a:rPr lang="en-US" sz="1400" b="1" dirty="0">
                <a:solidFill>
                  <a:srgbClr val="FBBF24"/>
                </a:solidFill>
                <a:latin typeface="Calibri" pitchFamily="34" charset="0"/>
                <a:ea typeface="Calibri" pitchFamily="34" charset="-122"/>
                <a:cs typeface="Calibri" pitchFamily="34" charset="-120"/>
              </a:rPr>
              <a:t>LOW</a:t>
            </a:r>
            <a:endParaRPr lang="en-US" sz="1400" dirty="0"/>
          </a:p>
        </p:txBody>
      </p:sp>
      <p:sp>
        <p:nvSpPr>
          <p:cNvPr id="60" name="Shape 58"/>
          <p:cNvSpPr/>
          <p:nvPr/>
        </p:nvSpPr>
        <p:spPr>
          <a:xfrm>
            <a:off x="4937760" y="4261104"/>
            <a:ext cx="3657600" cy="384048"/>
          </a:xfrm>
          <a:prstGeom prst="rect">
            <a:avLst/>
          </a:prstGeom>
          <a:solidFill>
            <a:srgbClr val="0D1E38"/>
          </a:solidFill>
          <a:ln w="12700">
            <a:solidFill>
              <a:srgbClr val="34D399"/>
            </a:solidFill>
            <a:prstDash val="solid"/>
          </a:ln>
          <a:effectLst>
            <a:outerShdw blurRad="127000" dist="38100" dir="8100000" algn="bl" rotWithShape="0">
              <a:srgbClr val="000000">
                <a:alpha val="22000"/>
              </a:srgbClr>
            </a:outerShdw>
          </a:effectLst>
        </p:spPr>
      </p:sp>
      <p:sp>
        <p:nvSpPr>
          <p:cNvPr id="61" name="Shape 59"/>
          <p:cNvSpPr/>
          <p:nvPr/>
        </p:nvSpPr>
        <p:spPr>
          <a:xfrm>
            <a:off x="4937760" y="4261104"/>
            <a:ext cx="1097280" cy="384048"/>
          </a:xfrm>
          <a:prstGeom prst="rect">
            <a:avLst/>
          </a:prstGeom>
          <a:solidFill>
            <a:srgbClr val="34D399"/>
          </a:solidFill>
          <a:ln w="12700">
            <a:solidFill>
              <a:srgbClr val="34D399"/>
            </a:solidFill>
            <a:prstDash val="solid"/>
          </a:ln>
        </p:spPr>
      </p:sp>
      <p:sp>
        <p:nvSpPr>
          <p:cNvPr id="62" name="Text 60"/>
          <p:cNvSpPr/>
          <p:nvPr/>
        </p:nvSpPr>
        <p:spPr>
          <a:xfrm>
            <a:off x="4937760" y="4261104"/>
            <a:ext cx="1097280" cy="38404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&lt; </a:t>
            </a:r>
            <a:r>
              <a:rPr lang="en-US" sz="1300" b="1" dirty="0">
                <a:solidFill>
                  <a:srgbClr val="0A1628"/>
                </a:solidFill>
                <a:latin typeface="Calibri" pitchFamily="34" charset="0"/>
                <a:ea typeface="Calibri" pitchFamily="34" charset="-122"/>
                <a:cs typeface="Calibri" pitchFamily="34" charset="-120"/>
              </a:rPr>
              <a:t>4</a:t>
            </a:r>
            <a:r>
              <a:rPr lang="en-US" sz="1300" b="1" dirty="0" smtClean="0">
                <a:solidFill>
                  <a:srgbClr val="0A1628"/>
                </a:solidFill>
                <a:latin typeface="Calibri" pitchFamily="34" charset="0"/>
                <a:ea typeface="Calibri" pitchFamily="34" charset="-122"/>
                <a:cs typeface="Calibri" pitchFamily="34" charset="-120"/>
              </a:rPr>
              <a:t>0</a:t>
            </a:r>
            <a:r>
              <a:rPr lang="en-US" sz="1300" b="1" dirty="0">
                <a:solidFill>
                  <a:srgbClr val="0A1628"/>
                </a:solidFill>
                <a:latin typeface="Calibri" pitchFamily="34" charset="0"/>
                <a:ea typeface="Calibri" pitchFamily="34" charset="-122"/>
                <a:cs typeface="Calibri" pitchFamily="34" charset="-120"/>
              </a:rPr>
              <a:t>%</a:t>
            </a:r>
            <a:endParaRPr lang="en-US" sz="1300" dirty="0"/>
          </a:p>
        </p:txBody>
      </p:sp>
      <p:sp>
        <p:nvSpPr>
          <p:cNvPr id="63" name="Text 61"/>
          <p:cNvSpPr/>
          <p:nvPr/>
        </p:nvSpPr>
        <p:spPr>
          <a:xfrm>
            <a:off x="6126480" y="4325112"/>
            <a:ext cx="2377440" cy="256032"/>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SAFE</a:t>
            </a:r>
            <a:endParaRPr lang="en-US" sz="1400" dirty="0"/>
          </a:p>
        </p:txBody>
      </p:sp>
      <p:sp>
        <p:nvSpPr>
          <p:cNvPr id="64" name="Text 62"/>
          <p:cNvSpPr/>
          <p:nvPr/>
        </p:nvSpPr>
        <p:spPr>
          <a:xfrm>
            <a:off x="4937760" y="4736592"/>
            <a:ext cx="3657600" cy="155448"/>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If confidence &lt; 50% → forced to NORMAL regardless of class prediction</a:t>
            </a:r>
            <a:endParaRPr lang="en-US" sz="10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Working Process</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End-to-End Step-by-Step System Flow</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10 / 18</a:t>
            </a:r>
            <a:endParaRPr lang="en-US" sz="1000" dirty="0"/>
          </a:p>
        </p:txBody>
      </p:sp>
      <p:sp>
        <p:nvSpPr>
          <p:cNvPr id="7" name="Shape 5"/>
          <p:cNvSpPr/>
          <p:nvPr/>
        </p:nvSpPr>
        <p:spPr>
          <a:xfrm>
            <a:off x="365760" y="1298448"/>
            <a:ext cx="4251960" cy="658368"/>
          </a:xfrm>
          <a:prstGeom prst="rect">
            <a:avLst/>
          </a:prstGeom>
          <a:solidFill>
            <a:srgbClr val="0D1E38"/>
          </a:solidFill>
          <a:ln w="12700">
            <a:solidFill>
              <a:srgbClr val="38BDF8"/>
            </a:solidFill>
            <a:prstDash val="solid"/>
          </a:ln>
          <a:effectLst>
            <a:outerShdw blurRad="127000" dist="38100" dir="8100000" algn="bl" rotWithShape="0">
              <a:srgbClr val="000000">
                <a:alpha val="22000"/>
              </a:srgbClr>
            </a:outerShdw>
          </a:effectLst>
        </p:spPr>
      </p:sp>
      <p:sp>
        <p:nvSpPr>
          <p:cNvPr id="8" name="Shape 6"/>
          <p:cNvSpPr/>
          <p:nvPr/>
        </p:nvSpPr>
        <p:spPr>
          <a:xfrm>
            <a:off x="457200" y="1408176"/>
            <a:ext cx="438912" cy="438912"/>
          </a:xfrm>
          <a:prstGeom prst="ellipse">
            <a:avLst/>
          </a:prstGeom>
          <a:solidFill>
            <a:srgbClr val="38BDF8"/>
          </a:solidFill>
          <a:ln w="12700">
            <a:solidFill>
              <a:srgbClr val="38BDF8"/>
            </a:solidFill>
            <a:prstDash val="solid"/>
          </a:ln>
        </p:spPr>
      </p:sp>
      <p:sp>
        <p:nvSpPr>
          <p:cNvPr id="9" name="Text 7"/>
          <p:cNvSpPr/>
          <p:nvPr/>
        </p:nvSpPr>
        <p:spPr>
          <a:xfrm>
            <a:off x="457200" y="1408176"/>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005840" y="1353312"/>
            <a:ext cx="3474720" cy="292608"/>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 User Input</a:t>
            </a:r>
            <a:endParaRPr lang="en-US" sz="1300" dirty="0"/>
          </a:p>
        </p:txBody>
      </p:sp>
      <p:sp>
        <p:nvSpPr>
          <p:cNvPr id="11" name="Text 9"/>
          <p:cNvSpPr/>
          <p:nvPr/>
        </p:nvSpPr>
        <p:spPr>
          <a:xfrm>
            <a:off x="1005840" y="1664208"/>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User enters name &amp; phone number on the web interface</a:t>
            </a:r>
            <a:endParaRPr lang="en-US" sz="1100" dirty="0"/>
          </a:p>
        </p:txBody>
      </p:sp>
      <p:sp>
        <p:nvSpPr>
          <p:cNvPr id="12" name="Shape 10"/>
          <p:cNvSpPr/>
          <p:nvPr/>
        </p:nvSpPr>
        <p:spPr>
          <a:xfrm>
            <a:off x="4773168" y="1298448"/>
            <a:ext cx="4251960" cy="658368"/>
          </a:xfrm>
          <a:prstGeom prst="rect">
            <a:avLst/>
          </a:prstGeom>
          <a:solidFill>
            <a:srgbClr val="0D1E38"/>
          </a:solidFill>
          <a:ln w="12700">
            <a:solidFill>
              <a:srgbClr val="38BDF8"/>
            </a:solidFill>
            <a:prstDash val="solid"/>
          </a:ln>
          <a:effectLst>
            <a:outerShdw blurRad="127000" dist="38100" dir="8100000" algn="bl" rotWithShape="0">
              <a:srgbClr val="000000">
                <a:alpha val="22000"/>
              </a:srgbClr>
            </a:outerShdw>
          </a:effectLst>
        </p:spPr>
      </p:sp>
      <p:sp>
        <p:nvSpPr>
          <p:cNvPr id="13" name="Shape 11"/>
          <p:cNvSpPr/>
          <p:nvPr/>
        </p:nvSpPr>
        <p:spPr>
          <a:xfrm>
            <a:off x="4864608" y="1408176"/>
            <a:ext cx="438912" cy="438912"/>
          </a:xfrm>
          <a:prstGeom prst="ellipse">
            <a:avLst/>
          </a:prstGeom>
          <a:solidFill>
            <a:srgbClr val="38BDF8"/>
          </a:solidFill>
          <a:ln w="12700">
            <a:solidFill>
              <a:srgbClr val="38BDF8"/>
            </a:solidFill>
            <a:prstDash val="solid"/>
          </a:ln>
        </p:spPr>
      </p:sp>
      <p:sp>
        <p:nvSpPr>
          <p:cNvPr id="14" name="Text 12"/>
          <p:cNvSpPr/>
          <p:nvPr/>
        </p:nvSpPr>
        <p:spPr>
          <a:xfrm>
            <a:off x="4864608" y="1408176"/>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413248" y="1353312"/>
            <a:ext cx="3474720" cy="292608"/>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 Image Upload</a:t>
            </a:r>
            <a:endParaRPr lang="en-US" sz="1300" dirty="0"/>
          </a:p>
        </p:txBody>
      </p:sp>
      <p:sp>
        <p:nvSpPr>
          <p:cNvPr id="16" name="Text 14"/>
          <p:cNvSpPr/>
          <p:nvPr/>
        </p:nvSpPr>
        <p:spPr>
          <a:xfrm>
            <a:off x="5413248" y="1664208"/>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User uploads a disaster image (JPG/PNG format)</a:t>
            </a:r>
            <a:endParaRPr lang="en-US" sz="1100" dirty="0"/>
          </a:p>
        </p:txBody>
      </p:sp>
      <p:sp>
        <p:nvSpPr>
          <p:cNvPr id="17" name="Shape 15"/>
          <p:cNvSpPr/>
          <p:nvPr/>
        </p:nvSpPr>
        <p:spPr>
          <a:xfrm>
            <a:off x="365760" y="2048256"/>
            <a:ext cx="4251960" cy="658368"/>
          </a:xfrm>
          <a:prstGeom prst="rect">
            <a:avLst/>
          </a:prstGeom>
          <a:solidFill>
            <a:srgbClr val="0D1E38"/>
          </a:solidFill>
          <a:ln w="12700">
            <a:solidFill>
              <a:srgbClr val="818CF8"/>
            </a:solidFill>
            <a:prstDash val="solid"/>
          </a:ln>
          <a:effectLst>
            <a:outerShdw blurRad="127000" dist="38100" dir="8100000" algn="bl" rotWithShape="0">
              <a:srgbClr val="000000">
                <a:alpha val="22000"/>
              </a:srgbClr>
            </a:outerShdw>
          </a:effectLst>
        </p:spPr>
      </p:sp>
      <p:sp>
        <p:nvSpPr>
          <p:cNvPr id="18" name="Shape 16"/>
          <p:cNvSpPr/>
          <p:nvPr/>
        </p:nvSpPr>
        <p:spPr>
          <a:xfrm>
            <a:off x="457200" y="2157984"/>
            <a:ext cx="438912" cy="438912"/>
          </a:xfrm>
          <a:prstGeom prst="ellipse">
            <a:avLst/>
          </a:prstGeom>
          <a:solidFill>
            <a:srgbClr val="818CF8"/>
          </a:solidFill>
          <a:ln w="12700">
            <a:solidFill>
              <a:srgbClr val="818CF8"/>
            </a:solidFill>
            <a:prstDash val="solid"/>
          </a:ln>
        </p:spPr>
      </p:sp>
      <p:sp>
        <p:nvSpPr>
          <p:cNvPr id="19" name="Text 17"/>
          <p:cNvSpPr/>
          <p:nvPr/>
        </p:nvSpPr>
        <p:spPr>
          <a:xfrm>
            <a:off x="457200" y="2157984"/>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005840" y="2103120"/>
            <a:ext cx="3474720" cy="292608"/>
          </a:xfrm>
          <a:prstGeom prst="rect">
            <a:avLst/>
          </a:prstGeom>
          <a:noFill/>
          <a:ln/>
        </p:spPr>
        <p:txBody>
          <a:bodyPr wrap="square" lIns="0" tIns="0" rIns="0" bIns="0" rtlCol="0" anchor="ctr"/>
          <a:lstStyle/>
          <a:p>
            <a:pPr marL="0" indent="0">
              <a:buNone/>
            </a:pPr>
            <a:r>
              <a:rPr lang="en-US" sz="1300" b="1" dirty="0">
                <a:solidFill>
                  <a:srgbClr val="818CF8"/>
                </a:solidFill>
                <a:latin typeface="Calibri" pitchFamily="34" charset="0"/>
                <a:ea typeface="Calibri" pitchFamily="34" charset="-122"/>
                <a:cs typeface="Calibri" pitchFamily="34" charset="-120"/>
              </a:rPr>
              <a:t>📍 Location Capture</a:t>
            </a:r>
            <a:endParaRPr lang="en-US" sz="1300" dirty="0"/>
          </a:p>
        </p:txBody>
      </p:sp>
      <p:sp>
        <p:nvSpPr>
          <p:cNvPr id="21" name="Text 19"/>
          <p:cNvSpPr/>
          <p:nvPr/>
        </p:nvSpPr>
        <p:spPr>
          <a:xfrm>
            <a:off x="1005840" y="2414016"/>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Browser captures GPS coordinates via Geolocation API</a:t>
            </a:r>
            <a:endParaRPr lang="en-US" sz="1100" dirty="0"/>
          </a:p>
        </p:txBody>
      </p:sp>
      <p:sp>
        <p:nvSpPr>
          <p:cNvPr id="22" name="Shape 20"/>
          <p:cNvSpPr/>
          <p:nvPr/>
        </p:nvSpPr>
        <p:spPr>
          <a:xfrm>
            <a:off x="4773168" y="2048256"/>
            <a:ext cx="4251960" cy="658368"/>
          </a:xfrm>
          <a:prstGeom prst="rect">
            <a:avLst/>
          </a:prstGeom>
          <a:solidFill>
            <a:srgbClr val="0D1E38"/>
          </a:solidFill>
          <a:ln w="12700">
            <a:solidFill>
              <a:srgbClr val="FBBF24"/>
            </a:solidFill>
            <a:prstDash val="solid"/>
          </a:ln>
          <a:effectLst>
            <a:outerShdw blurRad="127000" dist="38100" dir="8100000" algn="bl" rotWithShape="0">
              <a:srgbClr val="000000">
                <a:alpha val="22000"/>
              </a:srgbClr>
            </a:outerShdw>
          </a:effectLst>
        </p:spPr>
      </p:sp>
      <p:sp>
        <p:nvSpPr>
          <p:cNvPr id="23" name="Shape 21"/>
          <p:cNvSpPr/>
          <p:nvPr/>
        </p:nvSpPr>
        <p:spPr>
          <a:xfrm>
            <a:off x="4864608" y="2157984"/>
            <a:ext cx="438912" cy="438912"/>
          </a:xfrm>
          <a:prstGeom prst="ellipse">
            <a:avLst/>
          </a:prstGeom>
          <a:solidFill>
            <a:srgbClr val="FBBF24"/>
          </a:solidFill>
          <a:ln w="12700">
            <a:solidFill>
              <a:srgbClr val="FBBF24"/>
            </a:solidFill>
            <a:prstDash val="solid"/>
          </a:ln>
        </p:spPr>
      </p:sp>
      <p:sp>
        <p:nvSpPr>
          <p:cNvPr id="24" name="Text 22"/>
          <p:cNvSpPr/>
          <p:nvPr/>
        </p:nvSpPr>
        <p:spPr>
          <a:xfrm>
            <a:off x="4864608" y="2157984"/>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413248" y="2103120"/>
            <a:ext cx="3474720" cy="292608"/>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 Preprocessing</a:t>
            </a:r>
            <a:endParaRPr lang="en-US" sz="1300" dirty="0"/>
          </a:p>
        </p:txBody>
      </p:sp>
      <p:sp>
        <p:nvSpPr>
          <p:cNvPr id="26" name="Text 24"/>
          <p:cNvSpPr/>
          <p:nvPr/>
        </p:nvSpPr>
        <p:spPr>
          <a:xfrm>
            <a:off x="5413248" y="2414016"/>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OpenCV resizes image to 224×224 px and normalizes pixels</a:t>
            </a:r>
            <a:endParaRPr lang="en-US" sz="1100" dirty="0"/>
          </a:p>
        </p:txBody>
      </p:sp>
      <p:sp>
        <p:nvSpPr>
          <p:cNvPr id="27" name="Shape 25"/>
          <p:cNvSpPr/>
          <p:nvPr/>
        </p:nvSpPr>
        <p:spPr>
          <a:xfrm>
            <a:off x="365760" y="2798064"/>
            <a:ext cx="4251960" cy="658368"/>
          </a:xfrm>
          <a:prstGeom prst="rect">
            <a:avLst/>
          </a:prstGeom>
          <a:solidFill>
            <a:srgbClr val="0D1E38"/>
          </a:solidFill>
          <a:ln w="12700">
            <a:solidFill>
              <a:srgbClr val="FB923C"/>
            </a:solidFill>
            <a:prstDash val="solid"/>
          </a:ln>
          <a:effectLst>
            <a:outerShdw blurRad="127000" dist="38100" dir="8100000" algn="bl" rotWithShape="0">
              <a:srgbClr val="000000">
                <a:alpha val="22000"/>
              </a:srgbClr>
            </a:outerShdw>
          </a:effectLst>
        </p:spPr>
      </p:sp>
      <p:sp>
        <p:nvSpPr>
          <p:cNvPr id="28" name="Shape 26"/>
          <p:cNvSpPr/>
          <p:nvPr/>
        </p:nvSpPr>
        <p:spPr>
          <a:xfrm>
            <a:off x="457200" y="2907792"/>
            <a:ext cx="438912" cy="438912"/>
          </a:xfrm>
          <a:prstGeom prst="ellipse">
            <a:avLst/>
          </a:prstGeom>
          <a:solidFill>
            <a:srgbClr val="FB923C"/>
          </a:solidFill>
          <a:ln w="12700">
            <a:solidFill>
              <a:srgbClr val="FB923C"/>
            </a:solidFill>
            <a:prstDash val="solid"/>
          </a:ln>
        </p:spPr>
      </p:sp>
      <p:sp>
        <p:nvSpPr>
          <p:cNvPr id="29" name="Text 27"/>
          <p:cNvSpPr/>
          <p:nvPr/>
        </p:nvSpPr>
        <p:spPr>
          <a:xfrm>
            <a:off x="457200" y="2907792"/>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1005840" y="2852928"/>
            <a:ext cx="3474720" cy="292608"/>
          </a:xfrm>
          <a:prstGeom prst="rect">
            <a:avLst/>
          </a:prstGeom>
          <a:noFill/>
          <a:ln/>
        </p:spPr>
        <p:txBody>
          <a:bodyPr wrap="square" lIns="0" tIns="0" rIns="0" bIns="0" rtlCol="0" anchor="ctr"/>
          <a:lstStyle/>
          <a:p>
            <a:pPr marL="0" indent="0">
              <a:buNone/>
            </a:pPr>
            <a:r>
              <a:rPr lang="en-US" sz="1300" b="1" dirty="0">
                <a:solidFill>
                  <a:srgbClr val="FB923C"/>
                </a:solidFill>
                <a:latin typeface="Calibri" pitchFamily="34" charset="0"/>
                <a:ea typeface="Calibri" pitchFamily="34" charset="-122"/>
                <a:cs typeface="Calibri" pitchFamily="34" charset="-120"/>
              </a:rPr>
              <a:t>🧠 CNN Prediction</a:t>
            </a:r>
            <a:endParaRPr lang="en-US" sz="1300" dirty="0"/>
          </a:p>
        </p:txBody>
      </p:sp>
      <p:sp>
        <p:nvSpPr>
          <p:cNvPr id="31" name="Text 29"/>
          <p:cNvSpPr/>
          <p:nvPr/>
        </p:nvSpPr>
        <p:spPr>
          <a:xfrm>
            <a:off x="1005840" y="3163824"/>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Model classifies: Flood, Landslide, or Normal</a:t>
            </a:r>
            <a:endParaRPr lang="en-US" sz="1100" dirty="0"/>
          </a:p>
        </p:txBody>
      </p:sp>
      <p:sp>
        <p:nvSpPr>
          <p:cNvPr id="32" name="Shape 30"/>
          <p:cNvSpPr/>
          <p:nvPr/>
        </p:nvSpPr>
        <p:spPr>
          <a:xfrm>
            <a:off x="4773168" y="2798064"/>
            <a:ext cx="4251960" cy="658368"/>
          </a:xfrm>
          <a:prstGeom prst="rect">
            <a:avLst/>
          </a:prstGeom>
          <a:solidFill>
            <a:srgbClr val="0D1E38"/>
          </a:solidFill>
          <a:ln w="12700">
            <a:solidFill>
              <a:srgbClr val="FB923C"/>
            </a:solidFill>
            <a:prstDash val="solid"/>
          </a:ln>
          <a:effectLst>
            <a:outerShdw blurRad="127000" dist="38100" dir="8100000" algn="bl" rotWithShape="0">
              <a:srgbClr val="000000">
                <a:alpha val="22000"/>
              </a:srgbClr>
            </a:outerShdw>
          </a:effectLst>
        </p:spPr>
      </p:sp>
      <p:sp>
        <p:nvSpPr>
          <p:cNvPr id="33" name="Shape 31"/>
          <p:cNvSpPr/>
          <p:nvPr/>
        </p:nvSpPr>
        <p:spPr>
          <a:xfrm>
            <a:off x="4864608" y="2907792"/>
            <a:ext cx="438912" cy="438912"/>
          </a:xfrm>
          <a:prstGeom prst="ellipse">
            <a:avLst/>
          </a:prstGeom>
          <a:solidFill>
            <a:srgbClr val="FB923C"/>
          </a:solidFill>
          <a:ln w="12700">
            <a:solidFill>
              <a:srgbClr val="FB923C"/>
            </a:solidFill>
            <a:prstDash val="solid"/>
          </a:ln>
        </p:spPr>
      </p:sp>
      <p:sp>
        <p:nvSpPr>
          <p:cNvPr id="34" name="Text 32"/>
          <p:cNvSpPr/>
          <p:nvPr/>
        </p:nvSpPr>
        <p:spPr>
          <a:xfrm>
            <a:off x="4864608" y="2907792"/>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6</a:t>
            </a:r>
            <a:endParaRPr lang="en-US" sz="1300" dirty="0"/>
          </a:p>
        </p:txBody>
      </p:sp>
      <p:sp>
        <p:nvSpPr>
          <p:cNvPr id="35" name="Text 33"/>
          <p:cNvSpPr/>
          <p:nvPr/>
        </p:nvSpPr>
        <p:spPr>
          <a:xfrm>
            <a:off x="5413248" y="2852928"/>
            <a:ext cx="3474720" cy="292608"/>
          </a:xfrm>
          <a:prstGeom prst="rect">
            <a:avLst/>
          </a:prstGeom>
          <a:noFill/>
          <a:ln/>
        </p:spPr>
        <p:txBody>
          <a:bodyPr wrap="square" lIns="0" tIns="0" rIns="0" bIns="0" rtlCol="0" anchor="ctr"/>
          <a:lstStyle/>
          <a:p>
            <a:pPr marL="0" indent="0">
              <a:buNone/>
            </a:pPr>
            <a:r>
              <a:rPr lang="en-US" sz="1300" b="1" dirty="0">
                <a:solidFill>
                  <a:srgbClr val="FB923C"/>
                </a:solidFill>
                <a:latin typeface="Calibri" pitchFamily="34" charset="0"/>
                <a:ea typeface="Calibri" pitchFamily="34" charset="-122"/>
                <a:cs typeface="Calibri" pitchFamily="34" charset="-120"/>
              </a:rPr>
              <a:t>📊 Confidence Score</a:t>
            </a:r>
            <a:endParaRPr lang="en-US" sz="1300" dirty="0"/>
          </a:p>
        </p:txBody>
      </p:sp>
      <p:sp>
        <p:nvSpPr>
          <p:cNvPr id="36" name="Text 34"/>
          <p:cNvSpPr/>
          <p:nvPr/>
        </p:nvSpPr>
        <p:spPr>
          <a:xfrm>
            <a:off x="5413248" y="3163824"/>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Prediction probability (%) is computed for the result</a:t>
            </a:r>
            <a:endParaRPr lang="en-US" sz="1100" dirty="0"/>
          </a:p>
        </p:txBody>
      </p:sp>
      <p:sp>
        <p:nvSpPr>
          <p:cNvPr id="37" name="Shape 35"/>
          <p:cNvSpPr/>
          <p:nvPr/>
        </p:nvSpPr>
        <p:spPr>
          <a:xfrm>
            <a:off x="365760" y="3547872"/>
            <a:ext cx="4251960" cy="658368"/>
          </a:xfrm>
          <a:prstGeom prst="rect">
            <a:avLst/>
          </a:prstGeom>
          <a:solidFill>
            <a:srgbClr val="0D1E38"/>
          </a:solidFill>
          <a:ln w="12700">
            <a:solidFill>
              <a:srgbClr val="F87171"/>
            </a:solidFill>
            <a:prstDash val="solid"/>
          </a:ln>
          <a:effectLst>
            <a:outerShdw blurRad="127000" dist="38100" dir="8100000" algn="bl" rotWithShape="0">
              <a:srgbClr val="000000">
                <a:alpha val="22000"/>
              </a:srgbClr>
            </a:outerShdw>
          </a:effectLst>
        </p:spPr>
      </p:sp>
      <p:sp>
        <p:nvSpPr>
          <p:cNvPr id="38" name="Shape 36"/>
          <p:cNvSpPr/>
          <p:nvPr/>
        </p:nvSpPr>
        <p:spPr>
          <a:xfrm>
            <a:off x="457200" y="3657600"/>
            <a:ext cx="438912" cy="438912"/>
          </a:xfrm>
          <a:prstGeom prst="ellipse">
            <a:avLst/>
          </a:prstGeom>
          <a:solidFill>
            <a:srgbClr val="F87171"/>
          </a:solidFill>
          <a:ln w="12700">
            <a:solidFill>
              <a:srgbClr val="F87171"/>
            </a:solidFill>
            <a:prstDash val="solid"/>
          </a:ln>
        </p:spPr>
      </p:sp>
      <p:sp>
        <p:nvSpPr>
          <p:cNvPr id="39" name="Text 37"/>
          <p:cNvSpPr/>
          <p:nvPr/>
        </p:nvSpPr>
        <p:spPr>
          <a:xfrm>
            <a:off x="457200" y="3657600"/>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7</a:t>
            </a:r>
            <a:endParaRPr lang="en-US" sz="1300" dirty="0"/>
          </a:p>
        </p:txBody>
      </p:sp>
      <p:sp>
        <p:nvSpPr>
          <p:cNvPr id="40" name="Text 38"/>
          <p:cNvSpPr/>
          <p:nvPr/>
        </p:nvSpPr>
        <p:spPr>
          <a:xfrm>
            <a:off x="1005840" y="3602736"/>
            <a:ext cx="3474720" cy="292608"/>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 Severity Analysis</a:t>
            </a:r>
            <a:endParaRPr lang="en-US" sz="1300" dirty="0"/>
          </a:p>
        </p:txBody>
      </p:sp>
      <p:sp>
        <p:nvSpPr>
          <p:cNvPr id="41" name="Text 39"/>
          <p:cNvSpPr/>
          <p:nvPr/>
        </p:nvSpPr>
        <p:spPr>
          <a:xfrm>
            <a:off x="1005840" y="3913632"/>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System assigns: SAFE / LOW / MODERATE / HIGH risk</a:t>
            </a:r>
            <a:endParaRPr lang="en-US" sz="1100" dirty="0"/>
          </a:p>
        </p:txBody>
      </p:sp>
      <p:sp>
        <p:nvSpPr>
          <p:cNvPr id="42" name="Shape 40"/>
          <p:cNvSpPr/>
          <p:nvPr/>
        </p:nvSpPr>
        <p:spPr>
          <a:xfrm>
            <a:off x="4773168" y="3547872"/>
            <a:ext cx="4251960" cy="658368"/>
          </a:xfrm>
          <a:prstGeom prst="rect">
            <a:avLst/>
          </a:prstGeom>
          <a:solidFill>
            <a:srgbClr val="0D1E38"/>
          </a:solidFill>
          <a:ln w="12700">
            <a:solidFill>
              <a:srgbClr val="34D399"/>
            </a:solidFill>
            <a:prstDash val="solid"/>
          </a:ln>
          <a:effectLst>
            <a:outerShdw blurRad="127000" dist="38100" dir="8100000" algn="bl" rotWithShape="0">
              <a:srgbClr val="000000">
                <a:alpha val="22000"/>
              </a:srgbClr>
            </a:outerShdw>
          </a:effectLst>
        </p:spPr>
      </p:sp>
      <p:sp>
        <p:nvSpPr>
          <p:cNvPr id="43" name="Shape 41"/>
          <p:cNvSpPr/>
          <p:nvPr/>
        </p:nvSpPr>
        <p:spPr>
          <a:xfrm>
            <a:off x="4864608" y="3657600"/>
            <a:ext cx="438912" cy="438912"/>
          </a:xfrm>
          <a:prstGeom prst="ellipse">
            <a:avLst/>
          </a:prstGeom>
          <a:solidFill>
            <a:srgbClr val="34D399"/>
          </a:solidFill>
          <a:ln w="12700">
            <a:solidFill>
              <a:srgbClr val="34D399"/>
            </a:solidFill>
            <a:prstDash val="solid"/>
          </a:ln>
        </p:spPr>
      </p:sp>
      <p:sp>
        <p:nvSpPr>
          <p:cNvPr id="44" name="Text 42"/>
          <p:cNvSpPr/>
          <p:nvPr/>
        </p:nvSpPr>
        <p:spPr>
          <a:xfrm>
            <a:off x="4864608" y="3657600"/>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8</a:t>
            </a:r>
            <a:endParaRPr lang="en-US" sz="1300" dirty="0"/>
          </a:p>
        </p:txBody>
      </p:sp>
      <p:sp>
        <p:nvSpPr>
          <p:cNvPr id="45" name="Text 43"/>
          <p:cNvSpPr/>
          <p:nvPr/>
        </p:nvSpPr>
        <p:spPr>
          <a:xfrm>
            <a:off x="5413248" y="3602736"/>
            <a:ext cx="3474720" cy="292608"/>
          </a:xfrm>
          <a:prstGeom prst="rect">
            <a:avLst/>
          </a:prstGeom>
          <a:noFill/>
          <a:ln/>
        </p:spPr>
        <p:txBody>
          <a:bodyPr wrap="square" lIns="0" tIns="0" rIns="0" bIns="0"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 Address Conversion</a:t>
            </a:r>
            <a:endParaRPr lang="en-US" sz="1300" dirty="0"/>
          </a:p>
        </p:txBody>
      </p:sp>
      <p:sp>
        <p:nvSpPr>
          <p:cNvPr id="46" name="Text 44"/>
          <p:cNvSpPr/>
          <p:nvPr/>
        </p:nvSpPr>
        <p:spPr>
          <a:xfrm>
            <a:off x="5413248" y="3913632"/>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Lat/Lon converted to readable address via OpenStreetMap API</a:t>
            </a:r>
            <a:endParaRPr lang="en-US" sz="1100" dirty="0"/>
          </a:p>
        </p:txBody>
      </p:sp>
      <p:sp>
        <p:nvSpPr>
          <p:cNvPr id="47" name="Shape 45"/>
          <p:cNvSpPr/>
          <p:nvPr/>
        </p:nvSpPr>
        <p:spPr>
          <a:xfrm>
            <a:off x="365760" y="4297680"/>
            <a:ext cx="4251960" cy="658368"/>
          </a:xfrm>
          <a:prstGeom prst="rect">
            <a:avLst/>
          </a:prstGeom>
          <a:solidFill>
            <a:srgbClr val="0D1E38"/>
          </a:solidFill>
          <a:ln w="12700">
            <a:solidFill>
              <a:srgbClr val="34D399"/>
            </a:solidFill>
            <a:prstDash val="solid"/>
          </a:ln>
          <a:effectLst>
            <a:outerShdw blurRad="127000" dist="38100" dir="8100000" algn="bl" rotWithShape="0">
              <a:srgbClr val="000000">
                <a:alpha val="22000"/>
              </a:srgbClr>
            </a:outerShdw>
          </a:effectLst>
        </p:spPr>
      </p:sp>
      <p:sp>
        <p:nvSpPr>
          <p:cNvPr id="48" name="Shape 46"/>
          <p:cNvSpPr/>
          <p:nvPr/>
        </p:nvSpPr>
        <p:spPr>
          <a:xfrm>
            <a:off x="457200" y="4407408"/>
            <a:ext cx="438912" cy="438912"/>
          </a:xfrm>
          <a:prstGeom prst="ellipse">
            <a:avLst/>
          </a:prstGeom>
          <a:solidFill>
            <a:srgbClr val="34D399"/>
          </a:solidFill>
          <a:ln w="12700">
            <a:solidFill>
              <a:srgbClr val="34D399"/>
            </a:solidFill>
            <a:prstDash val="solid"/>
          </a:ln>
        </p:spPr>
      </p:sp>
      <p:sp>
        <p:nvSpPr>
          <p:cNvPr id="49" name="Text 47"/>
          <p:cNvSpPr/>
          <p:nvPr/>
        </p:nvSpPr>
        <p:spPr>
          <a:xfrm>
            <a:off x="457200" y="4407408"/>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9</a:t>
            </a:r>
            <a:endParaRPr lang="en-US" sz="1300" dirty="0"/>
          </a:p>
        </p:txBody>
      </p:sp>
      <p:sp>
        <p:nvSpPr>
          <p:cNvPr id="50" name="Text 48"/>
          <p:cNvSpPr/>
          <p:nvPr/>
        </p:nvSpPr>
        <p:spPr>
          <a:xfrm>
            <a:off x="1005840" y="4352544"/>
            <a:ext cx="3474720" cy="292608"/>
          </a:xfrm>
          <a:prstGeom prst="rect">
            <a:avLst/>
          </a:prstGeom>
          <a:noFill/>
          <a:ln/>
        </p:spPr>
        <p:txBody>
          <a:bodyPr wrap="square" lIns="0" tIns="0" rIns="0" bIns="0"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 Output Display</a:t>
            </a:r>
            <a:endParaRPr lang="en-US" sz="1300" dirty="0"/>
          </a:p>
        </p:txBody>
      </p:sp>
      <p:sp>
        <p:nvSpPr>
          <p:cNvPr id="51" name="Text 49"/>
          <p:cNvSpPr/>
          <p:nvPr/>
        </p:nvSpPr>
        <p:spPr>
          <a:xfrm>
            <a:off x="1005840" y="4663440"/>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All results shown on web page with location details</a:t>
            </a:r>
            <a:endParaRPr lang="en-US" sz="1100" dirty="0"/>
          </a:p>
        </p:txBody>
      </p:sp>
      <p:sp>
        <p:nvSpPr>
          <p:cNvPr id="52" name="Shape 50"/>
          <p:cNvSpPr/>
          <p:nvPr/>
        </p:nvSpPr>
        <p:spPr>
          <a:xfrm>
            <a:off x="4773168" y="4297680"/>
            <a:ext cx="4251960" cy="658368"/>
          </a:xfrm>
          <a:prstGeom prst="rect">
            <a:avLst/>
          </a:prstGeom>
          <a:solidFill>
            <a:srgbClr val="0D1E38"/>
          </a:solidFill>
          <a:ln w="12700">
            <a:solidFill>
              <a:srgbClr val="F87171"/>
            </a:solidFill>
            <a:prstDash val="solid"/>
          </a:ln>
          <a:effectLst>
            <a:outerShdw blurRad="127000" dist="38100" dir="8100000" algn="bl" rotWithShape="0">
              <a:srgbClr val="000000">
                <a:alpha val="22000"/>
              </a:srgbClr>
            </a:outerShdw>
          </a:effectLst>
        </p:spPr>
      </p:sp>
      <p:sp>
        <p:nvSpPr>
          <p:cNvPr id="53" name="Shape 51"/>
          <p:cNvSpPr/>
          <p:nvPr/>
        </p:nvSpPr>
        <p:spPr>
          <a:xfrm>
            <a:off x="4864608" y="4407408"/>
            <a:ext cx="438912" cy="438912"/>
          </a:xfrm>
          <a:prstGeom prst="ellipse">
            <a:avLst/>
          </a:prstGeom>
          <a:solidFill>
            <a:srgbClr val="F87171"/>
          </a:solidFill>
          <a:ln w="12700">
            <a:solidFill>
              <a:srgbClr val="F87171"/>
            </a:solidFill>
            <a:prstDash val="solid"/>
          </a:ln>
        </p:spPr>
      </p:sp>
      <p:sp>
        <p:nvSpPr>
          <p:cNvPr id="54" name="Text 52"/>
          <p:cNvSpPr/>
          <p:nvPr/>
        </p:nvSpPr>
        <p:spPr>
          <a:xfrm>
            <a:off x="4864608" y="4407408"/>
            <a:ext cx="438912" cy="438912"/>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10</a:t>
            </a:r>
            <a:endParaRPr lang="en-US" sz="1300" dirty="0"/>
          </a:p>
        </p:txBody>
      </p:sp>
      <p:sp>
        <p:nvSpPr>
          <p:cNvPr id="55" name="Text 53"/>
          <p:cNvSpPr/>
          <p:nvPr/>
        </p:nvSpPr>
        <p:spPr>
          <a:xfrm>
            <a:off x="5413248" y="4352544"/>
            <a:ext cx="3474720" cy="292608"/>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 Emergency Support</a:t>
            </a:r>
            <a:endParaRPr lang="en-US" sz="1300" dirty="0"/>
          </a:p>
        </p:txBody>
      </p:sp>
      <p:sp>
        <p:nvSpPr>
          <p:cNvPr id="56" name="Text 54"/>
          <p:cNvSpPr/>
          <p:nvPr/>
        </p:nvSpPr>
        <p:spPr>
          <a:xfrm>
            <a:off x="5413248" y="4663440"/>
            <a:ext cx="3474720" cy="25603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Police, Fire, Ambulance buttons + Google Maps link shown</a:t>
            </a:r>
            <a:endParaRPr lang="en-US" sz="11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16938" y="95258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Performance Analysis</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Accuracy, Metrics &amp; Model Behaviour</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12 / 18</a:t>
            </a:r>
            <a:endParaRPr lang="en-US" sz="1000" dirty="0"/>
          </a:p>
        </p:txBody>
      </p:sp>
      <p:graphicFrame>
        <p:nvGraphicFramePr>
          <p:cNvPr id="7" name="Chart 0"/>
          <p:cNvGraphicFramePr/>
          <p:nvPr>
            <p:extLst>
              <p:ext uri="{D42A27DB-BD31-4B8C-83A1-F6EECF244321}">
                <p14:modId xmlns:p14="http://schemas.microsoft.com/office/powerpoint/2010/main" val="3933315254"/>
              </p:ext>
            </p:extLst>
          </p:nvPr>
        </p:nvGraphicFramePr>
        <p:xfrm>
          <a:off x="365760" y="1298448"/>
          <a:ext cx="3419856"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5"/>
          <p:cNvSpPr/>
          <p:nvPr/>
        </p:nvSpPr>
        <p:spPr>
          <a:xfrm>
            <a:off x="365760" y="4389120"/>
            <a:ext cx="1078992" cy="658368"/>
          </a:xfrm>
          <a:prstGeom prst="rect">
            <a:avLst/>
          </a:prstGeom>
          <a:solidFill>
            <a:srgbClr val="0D1E38"/>
          </a:solidFill>
          <a:ln w="12700">
            <a:solidFill>
              <a:srgbClr val="38BDF8"/>
            </a:solidFill>
            <a:prstDash val="solid"/>
          </a:ln>
          <a:effectLst>
            <a:outerShdw blurRad="127000" dist="38100" dir="8100000" algn="bl" rotWithShape="0">
              <a:srgbClr val="000000">
                <a:alpha val="22000"/>
              </a:srgbClr>
            </a:outerShdw>
          </a:effectLst>
        </p:spPr>
      </p:sp>
      <p:sp>
        <p:nvSpPr>
          <p:cNvPr id="11" name="Text 6"/>
          <p:cNvSpPr/>
          <p:nvPr/>
        </p:nvSpPr>
        <p:spPr>
          <a:xfrm>
            <a:off x="365760" y="4425696"/>
            <a:ext cx="1078992" cy="347472"/>
          </a:xfrm>
          <a:prstGeom prst="rect">
            <a:avLst/>
          </a:prstGeom>
          <a:noFill/>
          <a:ln/>
        </p:spPr>
        <p:txBody>
          <a:bodyPr wrap="square" lIns="0" tIns="0" rIns="0" bIns="0" rtlCol="0" anchor="ctr"/>
          <a:lstStyle/>
          <a:p>
            <a:pPr marL="0" indent="0" algn="ctr">
              <a:buNone/>
            </a:pPr>
            <a:r>
              <a:rPr lang="en-US" sz="1900" b="1" dirty="0">
                <a:solidFill>
                  <a:srgbClr val="38BDF8"/>
                </a:solidFill>
                <a:latin typeface="Calibri" pitchFamily="34" charset="0"/>
                <a:ea typeface="Calibri" pitchFamily="34" charset="-122"/>
                <a:cs typeface="Calibri" pitchFamily="34" charset="-120"/>
              </a:rPr>
              <a:t>~84%</a:t>
            </a:r>
            <a:endParaRPr lang="en-US" sz="1900" dirty="0"/>
          </a:p>
        </p:txBody>
      </p:sp>
      <p:sp>
        <p:nvSpPr>
          <p:cNvPr id="12" name="Text 7"/>
          <p:cNvSpPr/>
          <p:nvPr/>
        </p:nvSpPr>
        <p:spPr>
          <a:xfrm>
            <a:off x="365760" y="4754880"/>
            <a:ext cx="1078992" cy="25603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Flood Accuracy</a:t>
            </a:r>
            <a:endParaRPr lang="en-US" sz="1000" dirty="0"/>
          </a:p>
        </p:txBody>
      </p:sp>
      <p:sp>
        <p:nvSpPr>
          <p:cNvPr id="13" name="Shape 8"/>
          <p:cNvSpPr/>
          <p:nvPr/>
        </p:nvSpPr>
        <p:spPr>
          <a:xfrm>
            <a:off x="1536192" y="4389120"/>
            <a:ext cx="1078992" cy="658368"/>
          </a:xfrm>
          <a:prstGeom prst="rect">
            <a:avLst/>
          </a:prstGeom>
          <a:solidFill>
            <a:srgbClr val="0D1E38"/>
          </a:solidFill>
          <a:ln w="12700">
            <a:solidFill>
              <a:srgbClr val="FB923C"/>
            </a:solidFill>
            <a:prstDash val="solid"/>
          </a:ln>
          <a:effectLst>
            <a:outerShdw blurRad="127000" dist="38100" dir="8100000" algn="bl" rotWithShape="0">
              <a:srgbClr val="000000">
                <a:alpha val="22000"/>
              </a:srgbClr>
            </a:outerShdw>
          </a:effectLst>
        </p:spPr>
      </p:sp>
      <p:sp>
        <p:nvSpPr>
          <p:cNvPr id="14" name="Text 9"/>
          <p:cNvSpPr/>
          <p:nvPr/>
        </p:nvSpPr>
        <p:spPr>
          <a:xfrm>
            <a:off x="1536192" y="4425696"/>
            <a:ext cx="1078992" cy="347472"/>
          </a:xfrm>
          <a:prstGeom prst="rect">
            <a:avLst/>
          </a:prstGeom>
          <a:noFill/>
          <a:ln/>
        </p:spPr>
        <p:txBody>
          <a:bodyPr wrap="square" lIns="0" tIns="0" rIns="0" bIns="0" rtlCol="0" anchor="ctr"/>
          <a:lstStyle/>
          <a:p>
            <a:pPr marL="0" indent="0" algn="ctr">
              <a:buNone/>
            </a:pPr>
            <a:r>
              <a:rPr lang="en-US" sz="1900" b="1" dirty="0">
                <a:solidFill>
                  <a:srgbClr val="FB923C"/>
                </a:solidFill>
                <a:latin typeface="Calibri" pitchFamily="34" charset="0"/>
                <a:ea typeface="Calibri" pitchFamily="34" charset="-122"/>
                <a:cs typeface="Calibri" pitchFamily="34" charset="-120"/>
              </a:rPr>
              <a:t>~78%</a:t>
            </a:r>
            <a:endParaRPr lang="en-US" sz="1900" dirty="0"/>
          </a:p>
        </p:txBody>
      </p:sp>
      <p:sp>
        <p:nvSpPr>
          <p:cNvPr id="15" name="Text 10"/>
          <p:cNvSpPr/>
          <p:nvPr/>
        </p:nvSpPr>
        <p:spPr>
          <a:xfrm>
            <a:off x="1536192" y="4754880"/>
            <a:ext cx="1078992" cy="25603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Landslide Acc.</a:t>
            </a:r>
            <a:endParaRPr lang="en-US" sz="1000" dirty="0"/>
          </a:p>
        </p:txBody>
      </p:sp>
      <p:sp>
        <p:nvSpPr>
          <p:cNvPr id="16" name="Shape 11"/>
          <p:cNvSpPr/>
          <p:nvPr/>
        </p:nvSpPr>
        <p:spPr>
          <a:xfrm>
            <a:off x="2706624" y="4389120"/>
            <a:ext cx="1078992" cy="658368"/>
          </a:xfrm>
          <a:prstGeom prst="rect">
            <a:avLst/>
          </a:prstGeom>
          <a:solidFill>
            <a:srgbClr val="0D1E38"/>
          </a:solidFill>
          <a:ln w="12700">
            <a:solidFill>
              <a:srgbClr val="34D399"/>
            </a:solidFill>
            <a:prstDash val="solid"/>
          </a:ln>
          <a:effectLst>
            <a:outerShdw blurRad="127000" dist="38100" dir="8100000" algn="bl" rotWithShape="0">
              <a:srgbClr val="000000">
                <a:alpha val="22000"/>
              </a:srgbClr>
            </a:outerShdw>
          </a:effectLst>
        </p:spPr>
      </p:sp>
      <p:sp>
        <p:nvSpPr>
          <p:cNvPr id="17" name="Text 12"/>
          <p:cNvSpPr/>
          <p:nvPr/>
        </p:nvSpPr>
        <p:spPr>
          <a:xfrm>
            <a:off x="2706624" y="4425696"/>
            <a:ext cx="1078992" cy="347472"/>
          </a:xfrm>
          <a:prstGeom prst="rect">
            <a:avLst/>
          </a:prstGeom>
          <a:noFill/>
          <a:ln/>
        </p:spPr>
        <p:txBody>
          <a:bodyPr wrap="square" lIns="0" tIns="0" rIns="0" bIns="0" rtlCol="0" anchor="ctr"/>
          <a:lstStyle/>
          <a:p>
            <a:pPr marL="0" indent="0" algn="ctr">
              <a:buNone/>
            </a:pPr>
            <a:r>
              <a:rPr lang="en-US" sz="1900" b="1" dirty="0">
                <a:solidFill>
                  <a:srgbClr val="34D399"/>
                </a:solidFill>
                <a:latin typeface="Calibri" pitchFamily="34" charset="0"/>
                <a:ea typeface="Calibri" pitchFamily="34" charset="-122"/>
                <a:cs typeface="Calibri" pitchFamily="34" charset="-120"/>
              </a:rPr>
              <a:t>~90%</a:t>
            </a:r>
            <a:endParaRPr lang="en-US" sz="1900" dirty="0"/>
          </a:p>
        </p:txBody>
      </p:sp>
      <p:sp>
        <p:nvSpPr>
          <p:cNvPr id="18" name="Text 13"/>
          <p:cNvSpPr/>
          <p:nvPr/>
        </p:nvSpPr>
        <p:spPr>
          <a:xfrm>
            <a:off x="2706624" y="4754880"/>
            <a:ext cx="1078992" cy="256032"/>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Normal Accuracy</a:t>
            </a:r>
            <a:endParaRPr lang="en-US" sz="1000" dirty="0"/>
          </a:p>
        </p:txBody>
      </p:sp>
      <p:pic>
        <p:nvPicPr>
          <p:cNvPr id="22" name="Picture 21"/>
          <p:cNvPicPr/>
          <p:nvPr/>
        </p:nvPicPr>
        <p:blipFill>
          <a:blip r:embed="rId4"/>
          <a:stretch>
            <a:fillRect/>
          </a:stretch>
        </p:blipFill>
        <p:spPr>
          <a:xfrm>
            <a:off x="4588938" y="1060704"/>
            <a:ext cx="4007485" cy="1930589"/>
          </a:xfrm>
          <a:prstGeom prst="rect">
            <a:avLst/>
          </a:prstGeom>
        </p:spPr>
      </p:pic>
      <p:pic>
        <p:nvPicPr>
          <p:cNvPr id="23" name="Picture 22"/>
          <p:cNvPicPr/>
          <p:nvPr/>
        </p:nvPicPr>
        <p:blipFill>
          <a:blip r:embed="rId5"/>
          <a:stretch>
            <a:fillRect/>
          </a:stretch>
        </p:blipFill>
        <p:spPr>
          <a:xfrm>
            <a:off x="4588938" y="3111795"/>
            <a:ext cx="4007485" cy="1978206"/>
          </a:xfrm>
          <a:prstGeom prst="rect">
            <a:avLst/>
          </a:prstGeom>
        </p:spPr>
      </p:pic>
    </p:spTree>
    <p:extLst>
      <p:ext uri="{BB962C8B-B14F-4D97-AF65-F5344CB8AC3E}">
        <p14:creationId xmlns:p14="http://schemas.microsoft.com/office/powerpoint/2010/main" val="13313755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smtClean="0">
                <a:solidFill>
                  <a:srgbClr val="FFFFFF"/>
                </a:solidFill>
                <a:latin typeface="Calibri" pitchFamily="34" charset="0"/>
                <a:ea typeface="Calibri" pitchFamily="34" charset="-122"/>
                <a:cs typeface="Calibri" pitchFamily="34" charset="-120"/>
              </a:rPr>
              <a:t>Output </a:t>
            </a:r>
            <a:r>
              <a:rPr lang="en-US" sz="3000" b="1" dirty="0">
                <a:solidFill>
                  <a:srgbClr val="FFFFFF"/>
                </a:solidFill>
                <a:latin typeface="Calibri" pitchFamily="34" charset="0"/>
                <a:ea typeface="Calibri" pitchFamily="34" charset="-122"/>
                <a:cs typeface="Calibri" pitchFamily="34" charset="-120"/>
              </a:rPr>
              <a:t>/ </a:t>
            </a:r>
            <a:r>
              <a:rPr lang="en-US" sz="3000" b="1" dirty="0" smtClean="0">
                <a:solidFill>
                  <a:srgbClr val="FFFFFF"/>
                </a:solidFill>
                <a:latin typeface="Calibri" pitchFamily="34" charset="0"/>
                <a:ea typeface="Calibri" pitchFamily="34" charset="-122"/>
                <a:cs typeface="Calibri" pitchFamily="34" charset="-120"/>
              </a:rPr>
              <a:t>Results </a:t>
            </a:r>
          </a:p>
          <a:p>
            <a:pPr marL="0" indent="0">
              <a:buNone/>
            </a:pPr>
            <a:r>
              <a:rPr lang="en-US" sz="1400" b="1" dirty="0" smtClean="0">
                <a:solidFill>
                  <a:srgbClr val="FFFFFF"/>
                </a:solidFill>
                <a:latin typeface="Calibri" pitchFamily="34" charset="0"/>
                <a:ea typeface="Calibri" pitchFamily="34" charset="-122"/>
                <a:cs typeface="Calibri" pitchFamily="34" charset="-120"/>
              </a:rPr>
              <a:t>For Web Application</a:t>
            </a:r>
            <a:endParaRPr lang="en-US" sz="1400" dirty="0" smtClean="0"/>
          </a:p>
          <a:p>
            <a:pPr marL="0" indent="0">
              <a:buNone/>
            </a:pPr>
            <a:endParaRPr lang="en-US" sz="1400" b="1" dirty="0" smtClean="0">
              <a:solidFill>
                <a:srgbClr val="FFFFFF"/>
              </a:solidFill>
              <a:latin typeface="Calibri" pitchFamily="34" charset="0"/>
              <a:ea typeface="Calibri" pitchFamily="34" charset="-122"/>
              <a:cs typeface="Calibri" pitchFamily="34" charset="-120"/>
            </a:endParaRPr>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What the System Returns to the User</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11 / 18</a:t>
            </a:r>
            <a:endParaRPr lang="en-US" sz="1000" dirty="0"/>
          </a:p>
        </p:txBody>
      </p:sp>
      <p:sp>
        <p:nvSpPr>
          <p:cNvPr id="7" name="Shape 5"/>
          <p:cNvSpPr/>
          <p:nvPr/>
        </p:nvSpPr>
        <p:spPr>
          <a:xfrm>
            <a:off x="365760" y="1298448"/>
            <a:ext cx="8412480" cy="658368"/>
          </a:xfrm>
          <a:prstGeom prst="rect">
            <a:avLst/>
          </a:prstGeom>
          <a:solidFill>
            <a:srgbClr val="0A1A10"/>
          </a:solidFill>
          <a:ln w="19050">
            <a:solidFill>
              <a:srgbClr val="34D399"/>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64008" cy="658368"/>
          </a:xfrm>
          <a:prstGeom prst="rect">
            <a:avLst/>
          </a:prstGeom>
          <a:solidFill>
            <a:srgbClr val="34D399"/>
          </a:solidFill>
          <a:ln w="12700">
            <a:solidFill>
              <a:srgbClr val="34D399"/>
            </a:solidFill>
            <a:prstDash val="solid"/>
          </a:ln>
        </p:spPr>
      </p:sp>
      <p:sp>
        <p:nvSpPr>
          <p:cNvPr id="9" name="Text 7"/>
          <p:cNvSpPr/>
          <p:nvPr/>
        </p:nvSpPr>
        <p:spPr>
          <a:xfrm>
            <a:off x="594360" y="1426464"/>
            <a:ext cx="8046720" cy="402336"/>
          </a:xfrm>
          <a:prstGeom prst="rect">
            <a:avLst/>
          </a:prstGeom>
          <a:noFill/>
          <a:ln/>
        </p:spPr>
        <p:txBody>
          <a:bodyPr wrap="square" lIns="0" tIns="0" rIns="0" bIns="0"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Sample Output  →  FLOOD  |  HIGH  |  86.63%  |  Location: 13.1112, 80.2045  |  Address: Chennai, Tamil Nadu, India</a:t>
            </a:r>
            <a:endParaRPr lang="en-US" sz="1350" dirty="0"/>
          </a:p>
        </p:txBody>
      </p:sp>
      <p:sp>
        <p:nvSpPr>
          <p:cNvPr id="10" name="Shape 8"/>
          <p:cNvSpPr/>
          <p:nvPr/>
        </p:nvSpPr>
        <p:spPr>
          <a:xfrm>
            <a:off x="365760" y="2121408"/>
            <a:ext cx="2788920" cy="1389888"/>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11" name="Shape 9"/>
          <p:cNvSpPr/>
          <p:nvPr/>
        </p:nvSpPr>
        <p:spPr>
          <a:xfrm>
            <a:off x="502920" y="2286000"/>
            <a:ext cx="502920" cy="502920"/>
          </a:xfrm>
          <a:prstGeom prst="ellipse">
            <a:avLst/>
          </a:prstGeom>
          <a:solidFill>
            <a:srgbClr val="F87171"/>
          </a:solidFill>
          <a:ln w="12700">
            <a:solidFill>
              <a:srgbClr val="F87171"/>
            </a:solidFill>
            <a:prstDash val="solid"/>
          </a:ln>
        </p:spPr>
      </p:sp>
      <p:sp>
        <p:nvSpPr>
          <p:cNvPr id="12" name="Text 10"/>
          <p:cNvSpPr/>
          <p:nvPr/>
        </p:nvSpPr>
        <p:spPr>
          <a:xfrm>
            <a:off x="502920" y="228600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1115568" y="2304288"/>
            <a:ext cx="1920240" cy="329184"/>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Disaster Type</a:t>
            </a:r>
            <a:endParaRPr lang="en-US" sz="1300" dirty="0"/>
          </a:p>
        </p:txBody>
      </p:sp>
      <p:sp>
        <p:nvSpPr>
          <p:cNvPr id="14" name="Text 12"/>
          <p:cNvSpPr/>
          <p:nvPr/>
        </p:nvSpPr>
        <p:spPr>
          <a:xfrm>
            <a:off x="475488" y="287121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FLOOD / LANDSLIDE / NORMAL</a:t>
            </a:r>
            <a:endParaRPr lang="en-US" sz="1100" dirty="0"/>
          </a:p>
        </p:txBody>
      </p:sp>
      <p:sp>
        <p:nvSpPr>
          <p:cNvPr id="15" name="Text 13"/>
          <p:cNvSpPr/>
          <p:nvPr/>
        </p:nvSpPr>
        <p:spPr>
          <a:xfrm>
            <a:off x="475488" y="321868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FLOOD detected</a:t>
            </a:r>
            <a:endParaRPr lang="en-US" sz="1050" dirty="0"/>
          </a:p>
        </p:txBody>
      </p:sp>
      <p:sp>
        <p:nvSpPr>
          <p:cNvPr id="16" name="Shape 14"/>
          <p:cNvSpPr/>
          <p:nvPr/>
        </p:nvSpPr>
        <p:spPr>
          <a:xfrm>
            <a:off x="3310128" y="2121408"/>
            <a:ext cx="2788920" cy="1389888"/>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17" name="Shape 15"/>
          <p:cNvSpPr/>
          <p:nvPr/>
        </p:nvSpPr>
        <p:spPr>
          <a:xfrm>
            <a:off x="3447288" y="2286000"/>
            <a:ext cx="502920" cy="502920"/>
          </a:xfrm>
          <a:prstGeom prst="ellipse">
            <a:avLst/>
          </a:prstGeom>
          <a:solidFill>
            <a:srgbClr val="38BDF8"/>
          </a:solidFill>
          <a:ln w="12700">
            <a:solidFill>
              <a:srgbClr val="38BDF8"/>
            </a:solidFill>
            <a:prstDash val="solid"/>
          </a:ln>
        </p:spPr>
      </p:sp>
      <p:sp>
        <p:nvSpPr>
          <p:cNvPr id="18" name="Text 16"/>
          <p:cNvSpPr/>
          <p:nvPr/>
        </p:nvSpPr>
        <p:spPr>
          <a:xfrm>
            <a:off x="3447288" y="228600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4059936" y="2304288"/>
            <a:ext cx="1920240" cy="329184"/>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Confidence Score</a:t>
            </a:r>
            <a:endParaRPr lang="en-US" sz="1300" dirty="0"/>
          </a:p>
        </p:txBody>
      </p:sp>
      <p:sp>
        <p:nvSpPr>
          <p:cNvPr id="20" name="Text 18"/>
          <p:cNvSpPr/>
          <p:nvPr/>
        </p:nvSpPr>
        <p:spPr>
          <a:xfrm>
            <a:off x="3419856" y="287121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Prediction probability in percentage</a:t>
            </a:r>
            <a:endParaRPr lang="en-US" sz="1100" dirty="0"/>
          </a:p>
        </p:txBody>
      </p:sp>
      <p:sp>
        <p:nvSpPr>
          <p:cNvPr id="21" name="Text 19"/>
          <p:cNvSpPr/>
          <p:nvPr/>
        </p:nvSpPr>
        <p:spPr>
          <a:xfrm>
            <a:off x="3419856" y="321868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86.63%</a:t>
            </a:r>
            <a:endParaRPr lang="en-US" sz="1050" dirty="0"/>
          </a:p>
        </p:txBody>
      </p:sp>
      <p:sp>
        <p:nvSpPr>
          <p:cNvPr id="22" name="Shape 20"/>
          <p:cNvSpPr/>
          <p:nvPr/>
        </p:nvSpPr>
        <p:spPr>
          <a:xfrm>
            <a:off x="6254496" y="2121408"/>
            <a:ext cx="2788920" cy="1389888"/>
          </a:xfrm>
          <a:prstGeom prst="rect">
            <a:avLst/>
          </a:prstGeom>
          <a:solidFill>
            <a:srgbClr val="112244"/>
          </a:solidFill>
          <a:ln w="15240">
            <a:solidFill>
              <a:srgbClr val="FB923C"/>
            </a:solidFill>
            <a:prstDash val="solid"/>
          </a:ln>
          <a:effectLst>
            <a:outerShdw blurRad="127000" dist="38100" dir="8100000" algn="bl" rotWithShape="0">
              <a:srgbClr val="000000">
                <a:alpha val="22000"/>
              </a:srgbClr>
            </a:outerShdw>
          </a:effectLst>
        </p:spPr>
      </p:sp>
      <p:sp>
        <p:nvSpPr>
          <p:cNvPr id="23" name="Shape 21"/>
          <p:cNvSpPr/>
          <p:nvPr/>
        </p:nvSpPr>
        <p:spPr>
          <a:xfrm>
            <a:off x="6391656" y="2286000"/>
            <a:ext cx="502920" cy="502920"/>
          </a:xfrm>
          <a:prstGeom prst="ellipse">
            <a:avLst/>
          </a:prstGeom>
          <a:solidFill>
            <a:srgbClr val="FB923C"/>
          </a:solidFill>
          <a:ln w="12700">
            <a:solidFill>
              <a:srgbClr val="FB923C"/>
            </a:solidFill>
            <a:prstDash val="solid"/>
          </a:ln>
        </p:spPr>
      </p:sp>
      <p:sp>
        <p:nvSpPr>
          <p:cNvPr id="24" name="Text 22"/>
          <p:cNvSpPr/>
          <p:nvPr/>
        </p:nvSpPr>
        <p:spPr>
          <a:xfrm>
            <a:off x="6391656" y="228600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7004304" y="2304288"/>
            <a:ext cx="1920240" cy="329184"/>
          </a:xfrm>
          <a:prstGeom prst="rect">
            <a:avLst/>
          </a:prstGeom>
          <a:noFill/>
          <a:ln/>
        </p:spPr>
        <p:txBody>
          <a:bodyPr wrap="square" lIns="0" tIns="0" rIns="0" bIns="0" rtlCol="0" anchor="ctr"/>
          <a:lstStyle/>
          <a:p>
            <a:pPr marL="0" indent="0">
              <a:buNone/>
            </a:pPr>
            <a:r>
              <a:rPr lang="en-US" sz="1300" b="1" dirty="0">
                <a:solidFill>
                  <a:srgbClr val="FB923C"/>
                </a:solidFill>
                <a:latin typeface="Calibri" pitchFamily="34" charset="0"/>
                <a:ea typeface="Calibri" pitchFamily="34" charset="-122"/>
                <a:cs typeface="Calibri" pitchFamily="34" charset="-120"/>
              </a:rPr>
              <a:t>Severity Level</a:t>
            </a:r>
            <a:endParaRPr lang="en-US" sz="1300" dirty="0"/>
          </a:p>
        </p:txBody>
      </p:sp>
      <p:sp>
        <p:nvSpPr>
          <p:cNvPr id="26" name="Text 24"/>
          <p:cNvSpPr/>
          <p:nvPr/>
        </p:nvSpPr>
        <p:spPr>
          <a:xfrm>
            <a:off x="6364224" y="287121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SAFE  /  LOW  /  MODERATE  /  HIGH</a:t>
            </a:r>
            <a:endParaRPr lang="en-US" sz="1100" dirty="0"/>
          </a:p>
        </p:txBody>
      </p:sp>
      <p:sp>
        <p:nvSpPr>
          <p:cNvPr id="27" name="Text 25"/>
          <p:cNvSpPr/>
          <p:nvPr/>
        </p:nvSpPr>
        <p:spPr>
          <a:xfrm>
            <a:off x="6364224" y="321868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HIGH risk</a:t>
            </a:r>
            <a:endParaRPr lang="en-US" sz="1050" dirty="0"/>
          </a:p>
        </p:txBody>
      </p:sp>
      <p:sp>
        <p:nvSpPr>
          <p:cNvPr id="28" name="Shape 26"/>
          <p:cNvSpPr/>
          <p:nvPr/>
        </p:nvSpPr>
        <p:spPr>
          <a:xfrm>
            <a:off x="365760" y="3630168"/>
            <a:ext cx="2788920" cy="1389888"/>
          </a:xfrm>
          <a:prstGeom prst="rect">
            <a:avLst/>
          </a:prstGeom>
          <a:solidFill>
            <a:srgbClr val="112244"/>
          </a:solidFill>
          <a:ln w="15240">
            <a:solidFill>
              <a:srgbClr val="818CF8"/>
            </a:solidFill>
            <a:prstDash val="solid"/>
          </a:ln>
          <a:effectLst>
            <a:outerShdw blurRad="127000" dist="38100" dir="8100000" algn="bl" rotWithShape="0">
              <a:srgbClr val="000000">
                <a:alpha val="22000"/>
              </a:srgbClr>
            </a:outerShdw>
          </a:effectLst>
        </p:spPr>
      </p:sp>
      <p:sp>
        <p:nvSpPr>
          <p:cNvPr id="29" name="Shape 27"/>
          <p:cNvSpPr/>
          <p:nvPr/>
        </p:nvSpPr>
        <p:spPr>
          <a:xfrm>
            <a:off x="502920" y="3794760"/>
            <a:ext cx="502920" cy="502920"/>
          </a:xfrm>
          <a:prstGeom prst="ellipse">
            <a:avLst/>
          </a:prstGeom>
          <a:solidFill>
            <a:srgbClr val="818CF8"/>
          </a:solidFill>
          <a:ln w="12700">
            <a:solidFill>
              <a:srgbClr val="818CF8"/>
            </a:solidFill>
            <a:prstDash val="solid"/>
          </a:ln>
        </p:spPr>
      </p:sp>
      <p:sp>
        <p:nvSpPr>
          <p:cNvPr id="30" name="Text 28"/>
          <p:cNvSpPr/>
          <p:nvPr/>
        </p:nvSpPr>
        <p:spPr>
          <a:xfrm>
            <a:off x="502920" y="379476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1" name="Text 29"/>
          <p:cNvSpPr/>
          <p:nvPr/>
        </p:nvSpPr>
        <p:spPr>
          <a:xfrm>
            <a:off x="1115568" y="3813048"/>
            <a:ext cx="1920240" cy="329184"/>
          </a:xfrm>
          <a:prstGeom prst="rect">
            <a:avLst/>
          </a:prstGeom>
          <a:noFill/>
          <a:ln/>
        </p:spPr>
        <p:txBody>
          <a:bodyPr wrap="square" lIns="0" tIns="0" rIns="0" bIns="0" rtlCol="0" anchor="ctr"/>
          <a:lstStyle/>
          <a:p>
            <a:pPr marL="0" indent="0">
              <a:buNone/>
            </a:pPr>
            <a:r>
              <a:rPr lang="en-US" sz="1300" b="1" dirty="0">
                <a:solidFill>
                  <a:srgbClr val="818CF8"/>
                </a:solidFill>
                <a:latin typeface="Calibri" pitchFamily="34" charset="0"/>
                <a:ea typeface="Calibri" pitchFamily="34" charset="-122"/>
                <a:cs typeface="Calibri" pitchFamily="34" charset="-120"/>
              </a:rPr>
              <a:t>User Details</a:t>
            </a:r>
            <a:endParaRPr lang="en-US" sz="1300" dirty="0"/>
          </a:p>
        </p:txBody>
      </p:sp>
      <p:sp>
        <p:nvSpPr>
          <p:cNvPr id="32" name="Text 30"/>
          <p:cNvSpPr/>
          <p:nvPr/>
        </p:nvSpPr>
        <p:spPr>
          <a:xfrm>
            <a:off x="475488" y="437997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Name and phone number displayed</a:t>
            </a:r>
            <a:endParaRPr lang="en-US" sz="1100" dirty="0"/>
          </a:p>
        </p:txBody>
      </p:sp>
      <p:sp>
        <p:nvSpPr>
          <p:cNvPr id="33" name="Text 31"/>
          <p:cNvSpPr/>
          <p:nvPr/>
        </p:nvSpPr>
        <p:spPr>
          <a:xfrm>
            <a:off x="475488" y="472744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Linkesh | 6379514030</a:t>
            </a:r>
            <a:endParaRPr lang="en-US" sz="1050" dirty="0"/>
          </a:p>
        </p:txBody>
      </p:sp>
      <p:sp>
        <p:nvSpPr>
          <p:cNvPr id="34" name="Shape 32"/>
          <p:cNvSpPr/>
          <p:nvPr/>
        </p:nvSpPr>
        <p:spPr>
          <a:xfrm>
            <a:off x="3310128" y="3630168"/>
            <a:ext cx="2788920" cy="1389888"/>
          </a:xfrm>
          <a:prstGeom prst="rect">
            <a:avLst/>
          </a:prstGeom>
          <a:solidFill>
            <a:srgbClr val="112244"/>
          </a:solidFill>
          <a:ln w="15240">
            <a:solidFill>
              <a:srgbClr val="FBBF24"/>
            </a:solidFill>
            <a:prstDash val="solid"/>
          </a:ln>
          <a:effectLst>
            <a:outerShdw blurRad="127000" dist="38100" dir="8100000" algn="bl" rotWithShape="0">
              <a:srgbClr val="000000">
                <a:alpha val="22000"/>
              </a:srgbClr>
            </a:outerShdw>
          </a:effectLst>
        </p:spPr>
      </p:sp>
      <p:sp>
        <p:nvSpPr>
          <p:cNvPr id="35" name="Shape 33"/>
          <p:cNvSpPr/>
          <p:nvPr/>
        </p:nvSpPr>
        <p:spPr>
          <a:xfrm>
            <a:off x="3447288" y="3794760"/>
            <a:ext cx="502920" cy="502920"/>
          </a:xfrm>
          <a:prstGeom prst="ellipse">
            <a:avLst/>
          </a:prstGeom>
          <a:solidFill>
            <a:srgbClr val="FBBF24"/>
          </a:solidFill>
          <a:ln w="12700">
            <a:solidFill>
              <a:srgbClr val="FBBF24"/>
            </a:solidFill>
            <a:prstDash val="solid"/>
          </a:ln>
        </p:spPr>
      </p:sp>
      <p:sp>
        <p:nvSpPr>
          <p:cNvPr id="36" name="Text 34"/>
          <p:cNvSpPr/>
          <p:nvPr/>
        </p:nvSpPr>
        <p:spPr>
          <a:xfrm>
            <a:off x="3447288" y="379476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7" name="Text 35"/>
          <p:cNvSpPr/>
          <p:nvPr/>
        </p:nvSpPr>
        <p:spPr>
          <a:xfrm>
            <a:off x="4059936" y="3813048"/>
            <a:ext cx="1920240" cy="329184"/>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Location Info</a:t>
            </a:r>
            <a:endParaRPr lang="en-US" sz="1300" dirty="0"/>
          </a:p>
        </p:txBody>
      </p:sp>
      <p:sp>
        <p:nvSpPr>
          <p:cNvPr id="38" name="Text 36"/>
          <p:cNvSpPr/>
          <p:nvPr/>
        </p:nvSpPr>
        <p:spPr>
          <a:xfrm>
            <a:off x="3419856" y="437997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Lat/Lon coordinates + readable address</a:t>
            </a:r>
            <a:endParaRPr lang="en-US" sz="1100" dirty="0"/>
          </a:p>
        </p:txBody>
      </p:sp>
      <p:sp>
        <p:nvSpPr>
          <p:cNvPr id="39" name="Text 37"/>
          <p:cNvSpPr/>
          <p:nvPr/>
        </p:nvSpPr>
        <p:spPr>
          <a:xfrm>
            <a:off x="3419856" y="472744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13.1112, 80.2045</a:t>
            </a:r>
            <a:endParaRPr lang="en-US" sz="1050" dirty="0"/>
          </a:p>
        </p:txBody>
      </p:sp>
      <p:sp>
        <p:nvSpPr>
          <p:cNvPr id="40" name="Shape 38"/>
          <p:cNvSpPr/>
          <p:nvPr/>
        </p:nvSpPr>
        <p:spPr>
          <a:xfrm>
            <a:off x="6254496" y="3630168"/>
            <a:ext cx="2788920" cy="1389888"/>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41" name="Shape 39"/>
          <p:cNvSpPr/>
          <p:nvPr/>
        </p:nvSpPr>
        <p:spPr>
          <a:xfrm>
            <a:off x="6391656" y="3794760"/>
            <a:ext cx="502920" cy="502920"/>
          </a:xfrm>
          <a:prstGeom prst="ellipse">
            <a:avLst/>
          </a:prstGeom>
          <a:solidFill>
            <a:srgbClr val="F87171"/>
          </a:solidFill>
          <a:ln w="12700">
            <a:solidFill>
              <a:srgbClr val="F87171"/>
            </a:solidFill>
            <a:prstDash val="solid"/>
          </a:ln>
        </p:spPr>
      </p:sp>
      <p:sp>
        <p:nvSpPr>
          <p:cNvPr id="42" name="Text 40"/>
          <p:cNvSpPr/>
          <p:nvPr/>
        </p:nvSpPr>
        <p:spPr>
          <a:xfrm>
            <a:off x="6391656" y="379476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43" name="Text 41"/>
          <p:cNvSpPr/>
          <p:nvPr/>
        </p:nvSpPr>
        <p:spPr>
          <a:xfrm>
            <a:off x="7004304" y="3813048"/>
            <a:ext cx="1920240" cy="329184"/>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Emergency Help</a:t>
            </a:r>
            <a:endParaRPr lang="en-US" sz="1300" dirty="0"/>
          </a:p>
        </p:txBody>
      </p:sp>
      <p:sp>
        <p:nvSpPr>
          <p:cNvPr id="44" name="Text 42"/>
          <p:cNvSpPr/>
          <p:nvPr/>
        </p:nvSpPr>
        <p:spPr>
          <a:xfrm>
            <a:off x="6364224" y="437997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Police 🚔  Fire 🚒  Ambulance 🚑</a:t>
            </a:r>
            <a:endParaRPr lang="en-US" sz="1100" dirty="0"/>
          </a:p>
        </p:txBody>
      </p:sp>
      <p:sp>
        <p:nvSpPr>
          <p:cNvPr id="45" name="Text 43"/>
          <p:cNvSpPr/>
          <p:nvPr/>
        </p:nvSpPr>
        <p:spPr>
          <a:xfrm>
            <a:off x="6364224" y="472744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 Google Maps link</a:t>
            </a:r>
            <a:endParaRPr lang="en-US" sz="10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D3A"/>
        </a:solidFill>
        <a:effectLst/>
      </p:bgPr>
    </p:bg>
    <p:spTree>
      <p:nvGrpSpPr>
        <p:cNvPr id="1" name=""/>
        <p:cNvGrpSpPr/>
        <p:nvPr/>
      </p:nvGrpSpPr>
      <p:grpSpPr>
        <a:xfrm>
          <a:off x="0" y="0"/>
          <a:ext cx="0" cy="0"/>
          <a:chOff x="0" y="0"/>
          <a:chExt cx="0" cy="0"/>
        </a:xfrm>
      </p:grpSpPr>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Output / </a:t>
            </a:r>
            <a:r>
              <a:rPr lang="en-US" sz="3000" b="1" dirty="0" smtClean="0">
                <a:solidFill>
                  <a:srgbClr val="FFFFFF"/>
                </a:solidFill>
                <a:latin typeface="Calibri" pitchFamily="34" charset="0"/>
                <a:ea typeface="Calibri" pitchFamily="34" charset="-122"/>
                <a:cs typeface="Calibri" pitchFamily="34" charset="-120"/>
              </a:rPr>
              <a:t>Results </a:t>
            </a:r>
          </a:p>
          <a:p>
            <a:pPr marL="0" indent="0">
              <a:buNone/>
            </a:pPr>
            <a:r>
              <a:rPr lang="en-US" sz="1400" b="1" dirty="0" smtClean="0">
                <a:solidFill>
                  <a:srgbClr val="FFFFFF"/>
                </a:solidFill>
                <a:latin typeface="Calibri" pitchFamily="34" charset="0"/>
                <a:ea typeface="Calibri" pitchFamily="34" charset="-122"/>
                <a:cs typeface="Calibri" pitchFamily="34" charset="-120"/>
              </a:rPr>
              <a:t>For DATABASE TRAINING DATA </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What the System Returns to the User</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11 / 18</a:t>
            </a:r>
            <a:endParaRPr lang="en-US" sz="1000" dirty="0"/>
          </a:p>
        </p:txBody>
      </p:sp>
      <p:sp>
        <p:nvSpPr>
          <p:cNvPr id="7" name="Shape 5"/>
          <p:cNvSpPr/>
          <p:nvPr/>
        </p:nvSpPr>
        <p:spPr>
          <a:xfrm>
            <a:off x="365760" y="1298448"/>
            <a:ext cx="8412480" cy="658368"/>
          </a:xfrm>
          <a:prstGeom prst="rect">
            <a:avLst/>
          </a:prstGeom>
          <a:solidFill>
            <a:srgbClr val="0A1A10"/>
          </a:solidFill>
          <a:ln w="19050">
            <a:solidFill>
              <a:srgbClr val="34D399"/>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64008" cy="658368"/>
          </a:xfrm>
          <a:prstGeom prst="rect">
            <a:avLst/>
          </a:prstGeom>
          <a:solidFill>
            <a:srgbClr val="34D399"/>
          </a:solidFill>
          <a:ln w="12700">
            <a:solidFill>
              <a:srgbClr val="34D399"/>
            </a:solidFill>
            <a:prstDash val="solid"/>
          </a:ln>
        </p:spPr>
      </p:sp>
      <p:sp>
        <p:nvSpPr>
          <p:cNvPr id="9" name="Text 7"/>
          <p:cNvSpPr/>
          <p:nvPr/>
        </p:nvSpPr>
        <p:spPr>
          <a:xfrm>
            <a:off x="594360" y="1426464"/>
            <a:ext cx="8046720" cy="402336"/>
          </a:xfrm>
          <a:prstGeom prst="rect">
            <a:avLst/>
          </a:prstGeom>
          <a:noFill/>
          <a:ln/>
        </p:spPr>
        <p:txBody>
          <a:bodyPr wrap="square" lIns="0" tIns="0" rIns="0" bIns="0" rtlCol="0" anchor="ctr"/>
          <a:lstStyle/>
          <a:p>
            <a:pPr marL="0" indent="0">
              <a:buNone/>
            </a:pPr>
            <a:r>
              <a:rPr lang="en-US" sz="1350" b="1" dirty="0">
                <a:solidFill>
                  <a:srgbClr val="34D399"/>
                </a:solidFill>
                <a:latin typeface="Calibri" pitchFamily="34" charset="0"/>
                <a:ea typeface="Calibri" pitchFamily="34" charset="-122"/>
                <a:cs typeface="Calibri" pitchFamily="34" charset="-120"/>
              </a:rPr>
              <a:t>Sample Output  →  FLOOD  |  HIGH  |  86.63%  |  Location: 13.1112, 80.2045  |  </a:t>
            </a:r>
            <a:r>
              <a:rPr lang="en-US" sz="1350" b="1" dirty="0" smtClean="0">
                <a:solidFill>
                  <a:srgbClr val="34D399"/>
                </a:solidFill>
                <a:latin typeface="Calibri" pitchFamily="34" charset="0"/>
                <a:ea typeface="Calibri" pitchFamily="34" charset="-122"/>
                <a:cs typeface="Calibri" pitchFamily="34" charset="-120"/>
              </a:rPr>
              <a:t>Severity :89.9% | </a:t>
            </a:r>
          </a:p>
          <a:p>
            <a:pPr marL="0" indent="0">
              <a:buNone/>
            </a:pPr>
            <a:r>
              <a:rPr lang="en-US" sz="1350" b="1" dirty="0" smtClean="0">
                <a:solidFill>
                  <a:srgbClr val="34D399"/>
                </a:solidFill>
                <a:latin typeface="Calibri" pitchFamily="34" charset="0"/>
                <a:ea typeface="Calibri" pitchFamily="34" charset="-122"/>
                <a:cs typeface="Calibri" pitchFamily="34" charset="-120"/>
              </a:rPr>
              <a:t>Time : 13:03:21</a:t>
            </a:r>
            <a:endParaRPr lang="en-US" sz="1350" dirty="0"/>
          </a:p>
        </p:txBody>
      </p:sp>
      <p:sp>
        <p:nvSpPr>
          <p:cNvPr id="10" name="Shape 8"/>
          <p:cNvSpPr/>
          <p:nvPr/>
        </p:nvSpPr>
        <p:spPr>
          <a:xfrm>
            <a:off x="365760" y="2121408"/>
            <a:ext cx="2788920" cy="1389888"/>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11" name="Shape 9"/>
          <p:cNvSpPr/>
          <p:nvPr/>
        </p:nvSpPr>
        <p:spPr>
          <a:xfrm>
            <a:off x="502920" y="2286000"/>
            <a:ext cx="502920" cy="502920"/>
          </a:xfrm>
          <a:prstGeom prst="ellipse">
            <a:avLst/>
          </a:prstGeom>
          <a:solidFill>
            <a:srgbClr val="F87171"/>
          </a:solidFill>
          <a:ln w="12700">
            <a:solidFill>
              <a:srgbClr val="F87171"/>
            </a:solidFill>
            <a:prstDash val="solid"/>
          </a:ln>
        </p:spPr>
      </p:sp>
      <p:sp>
        <p:nvSpPr>
          <p:cNvPr id="12" name="Text 10"/>
          <p:cNvSpPr/>
          <p:nvPr/>
        </p:nvSpPr>
        <p:spPr>
          <a:xfrm>
            <a:off x="502920" y="228600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3" name="Text 11"/>
          <p:cNvSpPr/>
          <p:nvPr/>
        </p:nvSpPr>
        <p:spPr>
          <a:xfrm>
            <a:off x="1115568" y="2304288"/>
            <a:ext cx="1920240" cy="329184"/>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Disaster Type</a:t>
            </a:r>
            <a:endParaRPr lang="en-US" sz="1300" dirty="0"/>
          </a:p>
        </p:txBody>
      </p:sp>
      <p:sp>
        <p:nvSpPr>
          <p:cNvPr id="14" name="Text 12"/>
          <p:cNvSpPr/>
          <p:nvPr/>
        </p:nvSpPr>
        <p:spPr>
          <a:xfrm>
            <a:off x="475488" y="287121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FLOOD / LANDSLIDE / NORMAL</a:t>
            </a:r>
            <a:endParaRPr lang="en-US" sz="1100" dirty="0"/>
          </a:p>
        </p:txBody>
      </p:sp>
      <p:sp>
        <p:nvSpPr>
          <p:cNvPr id="15" name="Text 13"/>
          <p:cNvSpPr/>
          <p:nvPr/>
        </p:nvSpPr>
        <p:spPr>
          <a:xfrm>
            <a:off x="475488" y="321868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FLOOD detected</a:t>
            </a:r>
            <a:endParaRPr lang="en-US" sz="1050" dirty="0"/>
          </a:p>
        </p:txBody>
      </p:sp>
      <p:sp>
        <p:nvSpPr>
          <p:cNvPr id="16" name="Shape 14"/>
          <p:cNvSpPr/>
          <p:nvPr/>
        </p:nvSpPr>
        <p:spPr>
          <a:xfrm>
            <a:off x="3310128" y="2121408"/>
            <a:ext cx="2788920" cy="1389888"/>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17" name="Shape 15"/>
          <p:cNvSpPr/>
          <p:nvPr/>
        </p:nvSpPr>
        <p:spPr>
          <a:xfrm>
            <a:off x="3447288" y="2286000"/>
            <a:ext cx="502920" cy="502920"/>
          </a:xfrm>
          <a:prstGeom prst="ellipse">
            <a:avLst/>
          </a:prstGeom>
          <a:solidFill>
            <a:srgbClr val="38BDF8"/>
          </a:solidFill>
          <a:ln w="12700">
            <a:solidFill>
              <a:srgbClr val="38BDF8"/>
            </a:solidFill>
            <a:prstDash val="solid"/>
          </a:ln>
        </p:spPr>
      </p:sp>
      <p:sp>
        <p:nvSpPr>
          <p:cNvPr id="18" name="Text 16"/>
          <p:cNvSpPr/>
          <p:nvPr/>
        </p:nvSpPr>
        <p:spPr>
          <a:xfrm>
            <a:off x="3447288" y="228600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4059936" y="2304288"/>
            <a:ext cx="1920240" cy="329184"/>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Confidence Score</a:t>
            </a:r>
            <a:endParaRPr lang="en-US" sz="1300" dirty="0"/>
          </a:p>
        </p:txBody>
      </p:sp>
      <p:sp>
        <p:nvSpPr>
          <p:cNvPr id="20" name="Text 18"/>
          <p:cNvSpPr/>
          <p:nvPr/>
        </p:nvSpPr>
        <p:spPr>
          <a:xfrm>
            <a:off x="3419856" y="287121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Prediction probability in percentage</a:t>
            </a:r>
            <a:endParaRPr lang="en-US" sz="1100" dirty="0"/>
          </a:p>
        </p:txBody>
      </p:sp>
      <p:sp>
        <p:nvSpPr>
          <p:cNvPr id="21" name="Text 19"/>
          <p:cNvSpPr/>
          <p:nvPr/>
        </p:nvSpPr>
        <p:spPr>
          <a:xfrm>
            <a:off x="3419856" y="321868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86.63%</a:t>
            </a:r>
            <a:endParaRPr lang="en-US" sz="1050" dirty="0"/>
          </a:p>
        </p:txBody>
      </p:sp>
      <p:sp>
        <p:nvSpPr>
          <p:cNvPr id="22" name="Shape 20"/>
          <p:cNvSpPr/>
          <p:nvPr/>
        </p:nvSpPr>
        <p:spPr>
          <a:xfrm>
            <a:off x="6254496" y="2121408"/>
            <a:ext cx="2788920" cy="1389888"/>
          </a:xfrm>
          <a:prstGeom prst="rect">
            <a:avLst/>
          </a:prstGeom>
          <a:solidFill>
            <a:srgbClr val="112244"/>
          </a:solidFill>
          <a:ln w="15240">
            <a:solidFill>
              <a:srgbClr val="FB923C"/>
            </a:solidFill>
            <a:prstDash val="solid"/>
          </a:ln>
          <a:effectLst>
            <a:outerShdw blurRad="127000" dist="38100" dir="8100000" algn="bl" rotWithShape="0">
              <a:srgbClr val="000000">
                <a:alpha val="22000"/>
              </a:srgbClr>
            </a:outerShdw>
          </a:effectLst>
        </p:spPr>
      </p:sp>
      <p:sp>
        <p:nvSpPr>
          <p:cNvPr id="23" name="Shape 21"/>
          <p:cNvSpPr/>
          <p:nvPr/>
        </p:nvSpPr>
        <p:spPr>
          <a:xfrm>
            <a:off x="6391656" y="2286000"/>
            <a:ext cx="502920" cy="502920"/>
          </a:xfrm>
          <a:prstGeom prst="ellipse">
            <a:avLst/>
          </a:prstGeom>
          <a:solidFill>
            <a:srgbClr val="FB923C"/>
          </a:solidFill>
          <a:ln w="12700">
            <a:solidFill>
              <a:srgbClr val="FB923C"/>
            </a:solidFill>
            <a:prstDash val="solid"/>
          </a:ln>
        </p:spPr>
      </p:sp>
      <p:sp>
        <p:nvSpPr>
          <p:cNvPr id="24" name="Text 22"/>
          <p:cNvSpPr/>
          <p:nvPr/>
        </p:nvSpPr>
        <p:spPr>
          <a:xfrm>
            <a:off x="6391656" y="228600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5" name="Text 23"/>
          <p:cNvSpPr/>
          <p:nvPr/>
        </p:nvSpPr>
        <p:spPr>
          <a:xfrm>
            <a:off x="7004304" y="2304288"/>
            <a:ext cx="1920240" cy="329184"/>
          </a:xfrm>
          <a:prstGeom prst="rect">
            <a:avLst/>
          </a:prstGeom>
          <a:noFill/>
          <a:ln/>
        </p:spPr>
        <p:txBody>
          <a:bodyPr wrap="square" lIns="0" tIns="0" rIns="0" bIns="0" rtlCol="0" anchor="ctr"/>
          <a:lstStyle/>
          <a:p>
            <a:pPr marL="0" indent="0">
              <a:buNone/>
            </a:pPr>
            <a:r>
              <a:rPr lang="en-US" sz="1300" b="1" dirty="0">
                <a:solidFill>
                  <a:srgbClr val="FB923C"/>
                </a:solidFill>
                <a:latin typeface="Calibri" pitchFamily="34" charset="0"/>
                <a:ea typeface="Calibri" pitchFamily="34" charset="-122"/>
                <a:cs typeface="Calibri" pitchFamily="34" charset="-120"/>
              </a:rPr>
              <a:t>Severity Level</a:t>
            </a:r>
            <a:endParaRPr lang="en-US" sz="1300" dirty="0"/>
          </a:p>
        </p:txBody>
      </p:sp>
      <p:sp>
        <p:nvSpPr>
          <p:cNvPr id="26" name="Text 24"/>
          <p:cNvSpPr/>
          <p:nvPr/>
        </p:nvSpPr>
        <p:spPr>
          <a:xfrm>
            <a:off x="6364224" y="287121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SAFE  /  LOW  /  MODERATE  /  HIGH</a:t>
            </a:r>
            <a:endParaRPr lang="en-US" sz="1100" dirty="0"/>
          </a:p>
        </p:txBody>
      </p:sp>
      <p:sp>
        <p:nvSpPr>
          <p:cNvPr id="27" name="Text 25"/>
          <p:cNvSpPr/>
          <p:nvPr/>
        </p:nvSpPr>
        <p:spPr>
          <a:xfrm>
            <a:off x="6364224" y="321868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HIGH risk</a:t>
            </a:r>
            <a:endParaRPr lang="en-US" sz="1050" dirty="0"/>
          </a:p>
        </p:txBody>
      </p:sp>
      <p:sp>
        <p:nvSpPr>
          <p:cNvPr id="28" name="Shape 26"/>
          <p:cNvSpPr/>
          <p:nvPr/>
        </p:nvSpPr>
        <p:spPr>
          <a:xfrm>
            <a:off x="365760" y="3630168"/>
            <a:ext cx="2788920" cy="1389888"/>
          </a:xfrm>
          <a:prstGeom prst="rect">
            <a:avLst/>
          </a:prstGeom>
          <a:solidFill>
            <a:srgbClr val="112244"/>
          </a:solidFill>
          <a:ln w="15240">
            <a:solidFill>
              <a:srgbClr val="818CF8"/>
            </a:solidFill>
            <a:prstDash val="solid"/>
          </a:ln>
          <a:effectLst>
            <a:outerShdw blurRad="127000" dist="38100" dir="8100000" algn="bl" rotWithShape="0">
              <a:srgbClr val="000000">
                <a:alpha val="22000"/>
              </a:srgbClr>
            </a:outerShdw>
          </a:effectLst>
        </p:spPr>
      </p:sp>
      <p:sp>
        <p:nvSpPr>
          <p:cNvPr id="29" name="Shape 27"/>
          <p:cNvSpPr/>
          <p:nvPr/>
        </p:nvSpPr>
        <p:spPr>
          <a:xfrm>
            <a:off x="502920" y="3794760"/>
            <a:ext cx="502920" cy="502920"/>
          </a:xfrm>
          <a:prstGeom prst="ellipse">
            <a:avLst/>
          </a:prstGeom>
          <a:solidFill>
            <a:srgbClr val="818CF8"/>
          </a:solidFill>
          <a:ln w="12700">
            <a:solidFill>
              <a:srgbClr val="818CF8"/>
            </a:solidFill>
            <a:prstDash val="solid"/>
          </a:ln>
        </p:spPr>
      </p:sp>
      <p:sp>
        <p:nvSpPr>
          <p:cNvPr id="30" name="Text 28"/>
          <p:cNvSpPr/>
          <p:nvPr/>
        </p:nvSpPr>
        <p:spPr>
          <a:xfrm>
            <a:off x="502920" y="379476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1" name="Text 29"/>
          <p:cNvSpPr/>
          <p:nvPr/>
        </p:nvSpPr>
        <p:spPr>
          <a:xfrm>
            <a:off x="1115568" y="3813048"/>
            <a:ext cx="1920240" cy="329184"/>
          </a:xfrm>
          <a:prstGeom prst="rect">
            <a:avLst/>
          </a:prstGeom>
          <a:noFill/>
          <a:ln/>
        </p:spPr>
        <p:txBody>
          <a:bodyPr wrap="square" lIns="0" tIns="0" rIns="0" bIns="0" rtlCol="0" anchor="ctr"/>
          <a:lstStyle/>
          <a:p>
            <a:pPr marL="0" indent="0">
              <a:buNone/>
            </a:pPr>
            <a:r>
              <a:rPr lang="en-US" sz="1300" b="1" dirty="0" smtClean="0">
                <a:solidFill>
                  <a:srgbClr val="818CF8"/>
                </a:solidFill>
                <a:latin typeface="Calibri" pitchFamily="34" charset="0"/>
                <a:ea typeface="Calibri" pitchFamily="34" charset="-122"/>
                <a:cs typeface="Calibri" pitchFamily="34" charset="-120"/>
              </a:rPr>
              <a:t>User Telegram Alert </a:t>
            </a:r>
          </a:p>
          <a:p>
            <a:pPr marL="0" indent="0">
              <a:buNone/>
            </a:pPr>
            <a:r>
              <a:rPr lang="en-US" sz="1300" b="1" dirty="0" smtClean="0">
                <a:solidFill>
                  <a:srgbClr val="818CF8"/>
                </a:solidFill>
                <a:latin typeface="Calibri" pitchFamily="34" charset="0"/>
                <a:ea typeface="Calibri" pitchFamily="34" charset="-122"/>
                <a:cs typeface="Calibri" pitchFamily="34" charset="-120"/>
              </a:rPr>
              <a:t>Notification</a:t>
            </a:r>
            <a:endParaRPr lang="en-US" sz="1300" dirty="0"/>
          </a:p>
        </p:txBody>
      </p:sp>
      <p:sp>
        <p:nvSpPr>
          <p:cNvPr id="32" name="Text 30"/>
          <p:cNvSpPr/>
          <p:nvPr/>
        </p:nvSpPr>
        <p:spPr>
          <a:xfrm>
            <a:off x="475488" y="4379976"/>
            <a:ext cx="2578608" cy="347472"/>
          </a:xfrm>
          <a:prstGeom prst="rect">
            <a:avLst/>
          </a:prstGeom>
          <a:noFill/>
          <a:ln/>
        </p:spPr>
        <p:txBody>
          <a:bodyPr wrap="square" lIns="0" tIns="0" rIns="0" bIns="0" rtlCol="0" anchor="ctr"/>
          <a:lstStyle/>
          <a:p>
            <a:pPr marL="0" indent="0">
              <a:buNone/>
            </a:pPr>
            <a:r>
              <a:rPr lang="en-US" sz="1100" dirty="0" smtClean="0">
                <a:solidFill>
                  <a:srgbClr val="CBD5E1"/>
                </a:solidFill>
                <a:latin typeface="Calibri" pitchFamily="34" charset="0"/>
                <a:ea typeface="Calibri" pitchFamily="34" charset="-122"/>
                <a:cs typeface="Calibri" pitchFamily="34" charset="-120"/>
              </a:rPr>
              <a:t>All the details </a:t>
            </a:r>
            <a:r>
              <a:rPr lang="en-US" sz="1100" dirty="0" err="1" smtClean="0">
                <a:solidFill>
                  <a:srgbClr val="CBD5E1"/>
                </a:solidFill>
                <a:latin typeface="Calibri" pitchFamily="34" charset="0"/>
                <a:ea typeface="Calibri" pitchFamily="34" charset="-122"/>
                <a:cs typeface="Calibri" pitchFamily="34" charset="-120"/>
              </a:rPr>
              <a:t>wiilll</a:t>
            </a:r>
            <a:r>
              <a:rPr lang="en-US" sz="1100" dirty="0" smtClean="0">
                <a:solidFill>
                  <a:srgbClr val="CBD5E1"/>
                </a:solidFill>
                <a:latin typeface="Calibri" pitchFamily="34" charset="0"/>
                <a:ea typeface="Calibri" pitchFamily="34" charset="-122"/>
                <a:cs typeface="Calibri" pitchFamily="34" charset="-120"/>
              </a:rPr>
              <a:t> be send to the telegram </a:t>
            </a:r>
            <a:endParaRPr lang="en-US" sz="1100" dirty="0"/>
          </a:p>
        </p:txBody>
      </p:sp>
      <p:sp>
        <p:nvSpPr>
          <p:cNvPr id="33" name="Text 31"/>
          <p:cNvSpPr/>
          <p:nvPr/>
        </p:nvSpPr>
        <p:spPr>
          <a:xfrm>
            <a:off x="475488" y="472744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a:t>
            </a:r>
            <a:r>
              <a:rPr lang="en-US" sz="1050" i="1" dirty="0" smtClean="0">
                <a:solidFill>
                  <a:srgbClr val="94A3B8"/>
                </a:solidFill>
                <a:latin typeface="Calibri" pitchFamily="34" charset="0"/>
                <a:ea typeface="Calibri" pitchFamily="34" charset="-122"/>
                <a:cs typeface="Calibri" pitchFamily="34" charset="-120"/>
              </a:rPr>
              <a:t>High flood /low /89.9</a:t>
            </a:r>
            <a:endParaRPr lang="en-US" sz="1050" dirty="0"/>
          </a:p>
        </p:txBody>
      </p:sp>
      <p:sp>
        <p:nvSpPr>
          <p:cNvPr id="34" name="Shape 32"/>
          <p:cNvSpPr/>
          <p:nvPr/>
        </p:nvSpPr>
        <p:spPr>
          <a:xfrm>
            <a:off x="3310128" y="3630168"/>
            <a:ext cx="2788920" cy="1389888"/>
          </a:xfrm>
          <a:prstGeom prst="rect">
            <a:avLst/>
          </a:prstGeom>
          <a:solidFill>
            <a:srgbClr val="112244"/>
          </a:solidFill>
          <a:ln w="15240">
            <a:solidFill>
              <a:srgbClr val="FBBF24"/>
            </a:solidFill>
            <a:prstDash val="solid"/>
          </a:ln>
          <a:effectLst>
            <a:outerShdw blurRad="127000" dist="38100" dir="8100000" algn="bl" rotWithShape="0">
              <a:srgbClr val="000000">
                <a:alpha val="22000"/>
              </a:srgbClr>
            </a:outerShdw>
          </a:effectLst>
        </p:spPr>
      </p:sp>
      <p:sp>
        <p:nvSpPr>
          <p:cNvPr id="35" name="Shape 33"/>
          <p:cNvSpPr/>
          <p:nvPr/>
        </p:nvSpPr>
        <p:spPr>
          <a:xfrm>
            <a:off x="3447288" y="3794760"/>
            <a:ext cx="502920" cy="502920"/>
          </a:xfrm>
          <a:prstGeom prst="ellipse">
            <a:avLst/>
          </a:prstGeom>
          <a:solidFill>
            <a:srgbClr val="FBBF24"/>
          </a:solidFill>
          <a:ln w="12700">
            <a:solidFill>
              <a:srgbClr val="FBBF24"/>
            </a:solidFill>
            <a:prstDash val="solid"/>
          </a:ln>
        </p:spPr>
      </p:sp>
      <p:sp>
        <p:nvSpPr>
          <p:cNvPr id="36" name="Text 34"/>
          <p:cNvSpPr/>
          <p:nvPr/>
        </p:nvSpPr>
        <p:spPr>
          <a:xfrm>
            <a:off x="3447288" y="379476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37" name="Text 35"/>
          <p:cNvSpPr/>
          <p:nvPr/>
        </p:nvSpPr>
        <p:spPr>
          <a:xfrm>
            <a:off x="4059936" y="3813048"/>
            <a:ext cx="1920240" cy="329184"/>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Location Info</a:t>
            </a:r>
            <a:endParaRPr lang="en-US" sz="1300" dirty="0"/>
          </a:p>
        </p:txBody>
      </p:sp>
      <p:sp>
        <p:nvSpPr>
          <p:cNvPr id="38" name="Text 36"/>
          <p:cNvSpPr/>
          <p:nvPr/>
        </p:nvSpPr>
        <p:spPr>
          <a:xfrm>
            <a:off x="3419856" y="4379976"/>
            <a:ext cx="2578608" cy="34747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Lat/Lon coordinates + readable address</a:t>
            </a:r>
            <a:endParaRPr lang="en-US" sz="1100" dirty="0"/>
          </a:p>
        </p:txBody>
      </p:sp>
      <p:sp>
        <p:nvSpPr>
          <p:cNvPr id="39" name="Text 37"/>
          <p:cNvSpPr/>
          <p:nvPr/>
        </p:nvSpPr>
        <p:spPr>
          <a:xfrm>
            <a:off x="3419856" y="4727448"/>
            <a:ext cx="2578608" cy="219456"/>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e.g. </a:t>
            </a:r>
            <a:r>
              <a:rPr lang="en-US" sz="1050" i="1" dirty="0" smtClean="0">
                <a:solidFill>
                  <a:srgbClr val="94A3B8"/>
                </a:solidFill>
                <a:latin typeface="Calibri" pitchFamily="34" charset="0"/>
                <a:ea typeface="Calibri" pitchFamily="34" charset="-122"/>
                <a:cs typeface="Calibri" pitchFamily="34" charset="-120"/>
              </a:rPr>
              <a:t>13.1112, 80.2045</a:t>
            </a:r>
            <a:endParaRPr lang="en-US" sz="1050" dirty="0"/>
          </a:p>
        </p:txBody>
      </p:sp>
      <p:sp>
        <p:nvSpPr>
          <p:cNvPr id="40" name="Shape 38"/>
          <p:cNvSpPr/>
          <p:nvPr/>
        </p:nvSpPr>
        <p:spPr>
          <a:xfrm>
            <a:off x="6254496" y="3630168"/>
            <a:ext cx="2788920" cy="1389888"/>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41" name="Shape 39"/>
          <p:cNvSpPr/>
          <p:nvPr/>
        </p:nvSpPr>
        <p:spPr>
          <a:xfrm>
            <a:off x="6391656" y="3794760"/>
            <a:ext cx="502920" cy="502920"/>
          </a:xfrm>
          <a:prstGeom prst="ellipse">
            <a:avLst/>
          </a:prstGeom>
          <a:solidFill>
            <a:srgbClr val="F87171"/>
          </a:solidFill>
          <a:ln w="12700">
            <a:solidFill>
              <a:srgbClr val="F87171"/>
            </a:solidFill>
            <a:prstDash val="solid"/>
          </a:ln>
        </p:spPr>
      </p:sp>
      <p:sp>
        <p:nvSpPr>
          <p:cNvPr id="42" name="Text 40"/>
          <p:cNvSpPr/>
          <p:nvPr/>
        </p:nvSpPr>
        <p:spPr>
          <a:xfrm>
            <a:off x="6391656" y="3794760"/>
            <a:ext cx="502920" cy="502920"/>
          </a:xfrm>
          <a:prstGeom prst="rect">
            <a:avLst/>
          </a:prstGeom>
          <a:noFill/>
          <a:ln/>
        </p:spPr>
        <p:txBody>
          <a:bodyPr wrap="square" lIns="0" tIns="0" rIns="0" bIns="0"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43" name="Text 41"/>
          <p:cNvSpPr/>
          <p:nvPr/>
        </p:nvSpPr>
        <p:spPr>
          <a:xfrm>
            <a:off x="7004304" y="3813048"/>
            <a:ext cx="1920240" cy="329184"/>
          </a:xfrm>
          <a:prstGeom prst="rect">
            <a:avLst/>
          </a:prstGeom>
          <a:noFill/>
          <a:ln/>
        </p:spPr>
        <p:txBody>
          <a:bodyPr wrap="square" lIns="0" tIns="0" rIns="0" bIns="0" rtlCol="0" anchor="ctr"/>
          <a:lstStyle/>
          <a:p>
            <a:pPr marL="0" indent="0">
              <a:buNone/>
            </a:pPr>
            <a:r>
              <a:rPr lang="en-US" sz="1300" b="1" dirty="0" smtClean="0">
                <a:solidFill>
                  <a:srgbClr val="F87171"/>
                </a:solidFill>
                <a:latin typeface="Calibri" pitchFamily="34" charset="0"/>
                <a:ea typeface="Calibri" pitchFamily="34" charset="-122"/>
                <a:cs typeface="Calibri" pitchFamily="34" charset="-120"/>
              </a:rPr>
              <a:t>Time of Disaster</a:t>
            </a:r>
            <a:endParaRPr lang="en-US" sz="1300" dirty="0"/>
          </a:p>
        </p:txBody>
      </p:sp>
      <p:sp>
        <p:nvSpPr>
          <p:cNvPr id="44" name="Text 42"/>
          <p:cNvSpPr/>
          <p:nvPr/>
        </p:nvSpPr>
        <p:spPr>
          <a:xfrm>
            <a:off x="6364224" y="4379976"/>
            <a:ext cx="2578608" cy="347472"/>
          </a:xfrm>
          <a:prstGeom prst="rect">
            <a:avLst/>
          </a:prstGeom>
          <a:noFill/>
          <a:ln/>
        </p:spPr>
        <p:txBody>
          <a:bodyPr wrap="square" lIns="0" tIns="0" rIns="0" bIns="0" rtlCol="0" anchor="ctr"/>
          <a:lstStyle/>
          <a:p>
            <a:pPr marL="0" indent="0">
              <a:buNone/>
            </a:pPr>
            <a:r>
              <a:rPr lang="en-US" sz="1100" dirty="0" smtClean="0">
                <a:solidFill>
                  <a:srgbClr val="CBD5E1"/>
                </a:solidFill>
                <a:latin typeface="Calibri" pitchFamily="34" charset="0"/>
                <a:ea typeface="Calibri" pitchFamily="34" charset="-122"/>
                <a:cs typeface="Calibri" pitchFamily="34" charset="-120"/>
              </a:rPr>
              <a:t>Time will be noticed and send to the telegram</a:t>
            </a:r>
            <a:endParaRPr lang="en-US" sz="1100" dirty="0"/>
          </a:p>
        </p:txBody>
      </p:sp>
      <p:sp>
        <p:nvSpPr>
          <p:cNvPr id="45" name="Text 43"/>
          <p:cNvSpPr/>
          <p:nvPr/>
        </p:nvSpPr>
        <p:spPr>
          <a:xfrm>
            <a:off x="6364224" y="4727448"/>
            <a:ext cx="2578608" cy="219456"/>
          </a:xfrm>
          <a:prstGeom prst="rect">
            <a:avLst/>
          </a:prstGeom>
          <a:noFill/>
          <a:ln/>
        </p:spPr>
        <p:txBody>
          <a:bodyPr wrap="square" lIns="0" tIns="0" rIns="0" bIns="0" rtlCol="0" anchor="ctr"/>
          <a:lstStyle/>
          <a:p>
            <a:pPr marL="0" indent="0">
              <a:buNone/>
            </a:pPr>
            <a:endParaRPr lang="en-US" sz="1050" dirty="0"/>
          </a:p>
        </p:txBody>
      </p:sp>
    </p:spTree>
    <p:extLst>
      <p:ext uri="{BB962C8B-B14F-4D97-AF65-F5344CB8AC3E}">
        <p14:creationId xmlns:p14="http://schemas.microsoft.com/office/powerpoint/2010/main" val="26963565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Shape 1"/>
          <p:cNvSpPr/>
          <p:nvPr/>
        </p:nvSpPr>
        <p:spPr>
          <a:xfrm>
            <a:off x="0" y="759129"/>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Output / </a:t>
            </a:r>
            <a:r>
              <a:rPr lang="en-US" sz="3000" b="1" dirty="0" smtClean="0">
                <a:solidFill>
                  <a:srgbClr val="FFFFFF"/>
                </a:solidFill>
                <a:latin typeface="Calibri" pitchFamily="34" charset="0"/>
                <a:ea typeface="Calibri" pitchFamily="34" charset="-122"/>
                <a:cs typeface="Calibri" pitchFamily="34" charset="-120"/>
              </a:rPr>
              <a:t>Results </a:t>
            </a:r>
          </a:p>
          <a:p>
            <a:pPr marL="0" indent="0">
              <a:buNone/>
            </a:pPr>
            <a:r>
              <a:rPr lang="en-US" sz="1400" b="1" dirty="0" smtClean="0">
                <a:solidFill>
                  <a:srgbClr val="FFFFFF"/>
                </a:solidFill>
                <a:latin typeface="Calibri" pitchFamily="34" charset="0"/>
                <a:ea typeface="Calibri" pitchFamily="34" charset="-122"/>
                <a:cs typeface="Calibri" pitchFamily="34" charset="-120"/>
              </a:rPr>
              <a:t>For DATABASE TRAINING DATA [FLOOD]</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11 / 18</a:t>
            </a:r>
            <a:endParaRPr lang="en-US" sz="1000" dirty="0"/>
          </a:p>
        </p:txBody>
      </p:sp>
      <p:pic>
        <p:nvPicPr>
          <p:cNvPr id="48" name="Picture 4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270" y="910181"/>
            <a:ext cx="8446301" cy="4051679"/>
          </a:xfrm>
          <a:prstGeom prst="rect">
            <a:avLst/>
          </a:prstGeom>
        </p:spPr>
      </p:pic>
    </p:spTree>
    <p:extLst>
      <p:ext uri="{BB962C8B-B14F-4D97-AF65-F5344CB8AC3E}">
        <p14:creationId xmlns:p14="http://schemas.microsoft.com/office/powerpoint/2010/main" val="346639767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3" name="Shape 1"/>
          <p:cNvSpPr/>
          <p:nvPr/>
        </p:nvSpPr>
        <p:spPr>
          <a:xfrm>
            <a:off x="0" y="759129"/>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Output / </a:t>
            </a:r>
            <a:r>
              <a:rPr lang="en-US" sz="3000" b="1" dirty="0" smtClean="0">
                <a:solidFill>
                  <a:srgbClr val="FFFFFF"/>
                </a:solidFill>
                <a:latin typeface="Calibri" pitchFamily="34" charset="0"/>
                <a:ea typeface="Calibri" pitchFamily="34" charset="-122"/>
                <a:cs typeface="Calibri" pitchFamily="34" charset="-120"/>
              </a:rPr>
              <a:t>Results </a:t>
            </a:r>
          </a:p>
          <a:p>
            <a:pPr marL="0" indent="0">
              <a:buNone/>
            </a:pPr>
            <a:r>
              <a:rPr lang="en-US" sz="1400" b="1" dirty="0" smtClean="0">
                <a:solidFill>
                  <a:srgbClr val="FFFFFF"/>
                </a:solidFill>
                <a:latin typeface="Calibri" pitchFamily="34" charset="0"/>
                <a:ea typeface="Calibri" pitchFamily="34" charset="-122"/>
                <a:cs typeface="Calibri" pitchFamily="34" charset="-120"/>
              </a:rPr>
              <a:t>For Web Application </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11 / 18</a:t>
            </a:r>
            <a:endParaRPr lang="en-US" sz="10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2045" y="955637"/>
            <a:ext cx="4299808" cy="4082619"/>
          </a:xfrm>
          <a:prstGeom prst="rect">
            <a:avLst/>
          </a:prstGeom>
        </p:spPr>
      </p:pic>
      <p:sp>
        <p:nvSpPr>
          <p:cNvPr id="7" name="Right Arrow 6"/>
          <p:cNvSpPr/>
          <p:nvPr/>
        </p:nvSpPr>
        <p:spPr>
          <a:xfrm>
            <a:off x="4572000" y="2431312"/>
            <a:ext cx="180045" cy="5429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147" y="923721"/>
            <a:ext cx="4479853" cy="4082619"/>
          </a:xfrm>
          <a:prstGeom prst="rect">
            <a:avLst/>
          </a:prstGeom>
        </p:spPr>
      </p:pic>
    </p:spTree>
    <p:extLst>
      <p:ext uri="{BB962C8B-B14F-4D97-AF65-F5344CB8AC3E}">
        <p14:creationId xmlns:p14="http://schemas.microsoft.com/office/powerpoint/2010/main" val="1781042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Features of the System</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Key Capabilities That Make This System Unique</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13 / 18</a:t>
            </a:r>
            <a:endParaRPr lang="en-US" sz="1000" dirty="0"/>
          </a:p>
        </p:txBody>
      </p:sp>
      <p:sp>
        <p:nvSpPr>
          <p:cNvPr id="7" name="Shape 5"/>
          <p:cNvSpPr/>
          <p:nvPr/>
        </p:nvSpPr>
        <p:spPr>
          <a:xfrm>
            <a:off x="320040" y="1298448"/>
            <a:ext cx="2084832" cy="1737360"/>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8" name="Shape 6"/>
          <p:cNvSpPr/>
          <p:nvPr/>
        </p:nvSpPr>
        <p:spPr>
          <a:xfrm>
            <a:off x="1033272" y="1435608"/>
            <a:ext cx="658368" cy="658368"/>
          </a:xfrm>
          <a:prstGeom prst="ellipse">
            <a:avLst/>
          </a:prstGeom>
          <a:solidFill>
            <a:srgbClr val="38BDF8"/>
          </a:solidFill>
          <a:ln w="12700">
            <a:solidFill>
              <a:srgbClr val="38BDF8"/>
            </a:solidFill>
            <a:prstDash val="solid"/>
          </a:ln>
        </p:spPr>
      </p:sp>
      <p:sp>
        <p:nvSpPr>
          <p:cNvPr id="9" name="Text 7"/>
          <p:cNvSpPr/>
          <p:nvPr/>
        </p:nvSpPr>
        <p:spPr>
          <a:xfrm>
            <a:off x="1033272" y="1435608"/>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411480" y="2167128"/>
            <a:ext cx="1901952" cy="329184"/>
          </a:xfrm>
          <a:prstGeom prst="rect">
            <a:avLst/>
          </a:prstGeom>
          <a:noFill/>
          <a:ln/>
        </p:spPr>
        <p:txBody>
          <a:bodyPr wrap="square" lIns="0" tIns="0" rIns="0" bIns="0" rtlCol="0" anchor="ctr"/>
          <a:lstStyle/>
          <a:p>
            <a:pPr marL="0" indent="0" algn="ctr">
              <a:buNone/>
            </a:pPr>
            <a:r>
              <a:rPr lang="en-US" sz="1200" b="1" dirty="0">
                <a:solidFill>
                  <a:srgbClr val="38BDF8"/>
                </a:solidFill>
                <a:latin typeface="Calibri" pitchFamily="34" charset="0"/>
                <a:ea typeface="Calibri" pitchFamily="34" charset="-122"/>
                <a:cs typeface="Calibri" pitchFamily="34" charset="-120"/>
              </a:rPr>
              <a:t>AI-Powered Detection</a:t>
            </a:r>
            <a:endParaRPr lang="en-US" sz="1200" dirty="0"/>
          </a:p>
        </p:txBody>
      </p:sp>
      <p:sp>
        <p:nvSpPr>
          <p:cNvPr id="11" name="Text 9"/>
          <p:cNvSpPr/>
          <p:nvPr/>
        </p:nvSpPr>
        <p:spPr>
          <a:xfrm>
            <a:off x="411480" y="2505456"/>
            <a:ext cx="1901952" cy="475488"/>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Convolutional Neural Network classifies disaster images automatically with no human intervention required</a:t>
            </a:r>
            <a:endParaRPr lang="en-US" sz="1000" dirty="0"/>
          </a:p>
        </p:txBody>
      </p:sp>
      <p:sp>
        <p:nvSpPr>
          <p:cNvPr id="12" name="Shape 10"/>
          <p:cNvSpPr/>
          <p:nvPr/>
        </p:nvSpPr>
        <p:spPr>
          <a:xfrm>
            <a:off x="2532888" y="1298448"/>
            <a:ext cx="2084832" cy="1737360"/>
          </a:xfrm>
          <a:prstGeom prst="rect">
            <a:avLst/>
          </a:prstGeom>
          <a:solidFill>
            <a:srgbClr val="112244"/>
          </a:solidFill>
          <a:ln w="15240">
            <a:solidFill>
              <a:srgbClr val="FBBF24"/>
            </a:solidFill>
            <a:prstDash val="solid"/>
          </a:ln>
          <a:effectLst>
            <a:outerShdw blurRad="127000" dist="38100" dir="8100000" algn="bl" rotWithShape="0">
              <a:srgbClr val="000000">
                <a:alpha val="22000"/>
              </a:srgbClr>
            </a:outerShdw>
          </a:effectLst>
        </p:spPr>
      </p:sp>
      <p:sp>
        <p:nvSpPr>
          <p:cNvPr id="13" name="Shape 11"/>
          <p:cNvSpPr/>
          <p:nvPr/>
        </p:nvSpPr>
        <p:spPr>
          <a:xfrm>
            <a:off x="3246120" y="1435608"/>
            <a:ext cx="658368" cy="658368"/>
          </a:xfrm>
          <a:prstGeom prst="ellipse">
            <a:avLst/>
          </a:prstGeom>
          <a:solidFill>
            <a:srgbClr val="FBBF24"/>
          </a:solidFill>
          <a:ln w="12700">
            <a:solidFill>
              <a:srgbClr val="FBBF24"/>
            </a:solidFill>
            <a:prstDash val="solid"/>
          </a:ln>
        </p:spPr>
      </p:sp>
      <p:sp>
        <p:nvSpPr>
          <p:cNvPr id="14" name="Text 12"/>
          <p:cNvSpPr/>
          <p:nvPr/>
        </p:nvSpPr>
        <p:spPr>
          <a:xfrm>
            <a:off x="3246120" y="1435608"/>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2624328" y="2167128"/>
            <a:ext cx="1901952" cy="329184"/>
          </a:xfrm>
          <a:prstGeom prst="rect">
            <a:avLst/>
          </a:prstGeom>
          <a:noFill/>
          <a:ln/>
        </p:spPr>
        <p:txBody>
          <a:bodyPr wrap="square" lIns="0" tIns="0" rIns="0" bIns="0" rtlCol="0" anchor="ctr"/>
          <a:lstStyle/>
          <a:p>
            <a:pPr marL="0" indent="0" algn="ctr">
              <a:buNone/>
            </a:pPr>
            <a:r>
              <a:rPr lang="en-US" sz="1200" b="1" dirty="0">
                <a:solidFill>
                  <a:srgbClr val="FBBF24"/>
                </a:solidFill>
                <a:latin typeface="Calibri" pitchFamily="34" charset="0"/>
                <a:ea typeface="Calibri" pitchFamily="34" charset="-122"/>
                <a:cs typeface="Calibri" pitchFamily="34" charset="-120"/>
              </a:rPr>
              <a:t>Real-Time Prediction</a:t>
            </a:r>
            <a:endParaRPr lang="en-US" sz="1200" dirty="0"/>
          </a:p>
        </p:txBody>
      </p:sp>
      <p:sp>
        <p:nvSpPr>
          <p:cNvPr id="16" name="Text 14"/>
          <p:cNvSpPr/>
          <p:nvPr/>
        </p:nvSpPr>
        <p:spPr>
          <a:xfrm>
            <a:off x="2624328" y="2505456"/>
            <a:ext cx="1901952" cy="475488"/>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System produces results instantly after image upload — suitable for emergency response situations</a:t>
            </a:r>
            <a:endParaRPr lang="en-US" sz="1000" dirty="0"/>
          </a:p>
        </p:txBody>
      </p:sp>
      <p:sp>
        <p:nvSpPr>
          <p:cNvPr id="17" name="Shape 15"/>
          <p:cNvSpPr/>
          <p:nvPr/>
        </p:nvSpPr>
        <p:spPr>
          <a:xfrm>
            <a:off x="4745736" y="1298448"/>
            <a:ext cx="2084832" cy="1737360"/>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18" name="Shape 16"/>
          <p:cNvSpPr/>
          <p:nvPr/>
        </p:nvSpPr>
        <p:spPr>
          <a:xfrm>
            <a:off x="5458968" y="1435608"/>
            <a:ext cx="658368" cy="658368"/>
          </a:xfrm>
          <a:prstGeom prst="ellipse">
            <a:avLst/>
          </a:prstGeom>
          <a:solidFill>
            <a:srgbClr val="34D399"/>
          </a:solidFill>
          <a:ln w="12700">
            <a:solidFill>
              <a:srgbClr val="34D399"/>
            </a:solidFill>
            <a:prstDash val="solid"/>
          </a:ln>
        </p:spPr>
      </p:sp>
      <p:sp>
        <p:nvSpPr>
          <p:cNvPr id="19" name="Text 17"/>
          <p:cNvSpPr/>
          <p:nvPr/>
        </p:nvSpPr>
        <p:spPr>
          <a:xfrm>
            <a:off x="5458968" y="1435608"/>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0" name="Text 18"/>
          <p:cNvSpPr/>
          <p:nvPr/>
        </p:nvSpPr>
        <p:spPr>
          <a:xfrm>
            <a:off x="4837176" y="2167128"/>
            <a:ext cx="1901952" cy="329184"/>
          </a:xfrm>
          <a:prstGeom prst="rect">
            <a:avLst/>
          </a:prstGeom>
          <a:noFill/>
          <a:ln/>
        </p:spPr>
        <p:txBody>
          <a:bodyPr wrap="square" lIns="0" tIns="0" rIns="0" bIns="0" rtlCol="0" anchor="ctr"/>
          <a:lstStyle/>
          <a:p>
            <a:pPr marL="0" indent="0" algn="ctr">
              <a:buNone/>
            </a:pPr>
            <a:r>
              <a:rPr lang="en-US" sz="1200" b="1" dirty="0">
                <a:solidFill>
                  <a:srgbClr val="34D399"/>
                </a:solidFill>
                <a:latin typeface="Calibri" pitchFamily="34" charset="0"/>
                <a:ea typeface="Calibri" pitchFamily="34" charset="-122"/>
                <a:cs typeface="Calibri" pitchFamily="34" charset="-120"/>
              </a:rPr>
              <a:t>Confidence Scoring</a:t>
            </a:r>
            <a:endParaRPr lang="en-US" sz="1200" dirty="0"/>
          </a:p>
        </p:txBody>
      </p:sp>
      <p:sp>
        <p:nvSpPr>
          <p:cNvPr id="21" name="Text 19"/>
          <p:cNvSpPr/>
          <p:nvPr/>
        </p:nvSpPr>
        <p:spPr>
          <a:xfrm>
            <a:off x="4837176" y="2505456"/>
            <a:ext cx="1901952" cy="475488"/>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Every prediction comes with a confidence percentage so users understand how reliable the result is</a:t>
            </a:r>
            <a:endParaRPr lang="en-US" sz="1000" dirty="0"/>
          </a:p>
        </p:txBody>
      </p:sp>
      <p:sp>
        <p:nvSpPr>
          <p:cNvPr id="22" name="Shape 20"/>
          <p:cNvSpPr/>
          <p:nvPr/>
        </p:nvSpPr>
        <p:spPr>
          <a:xfrm>
            <a:off x="6958584" y="1298448"/>
            <a:ext cx="2084832" cy="1737360"/>
          </a:xfrm>
          <a:prstGeom prst="rect">
            <a:avLst/>
          </a:prstGeom>
          <a:solidFill>
            <a:srgbClr val="112244"/>
          </a:solidFill>
          <a:ln w="15240">
            <a:solidFill>
              <a:srgbClr val="FB923C"/>
            </a:solidFill>
            <a:prstDash val="solid"/>
          </a:ln>
          <a:effectLst>
            <a:outerShdw blurRad="127000" dist="38100" dir="8100000" algn="bl" rotWithShape="0">
              <a:srgbClr val="000000">
                <a:alpha val="22000"/>
              </a:srgbClr>
            </a:outerShdw>
          </a:effectLst>
        </p:spPr>
      </p:sp>
      <p:sp>
        <p:nvSpPr>
          <p:cNvPr id="23" name="Shape 21"/>
          <p:cNvSpPr/>
          <p:nvPr/>
        </p:nvSpPr>
        <p:spPr>
          <a:xfrm>
            <a:off x="7671816" y="1435608"/>
            <a:ext cx="658368" cy="658368"/>
          </a:xfrm>
          <a:prstGeom prst="ellipse">
            <a:avLst/>
          </a:prstGeom>
          <a:solidFill>
            <a:srgbClr val="FB923C"/>
          </a:solidFill>
          <a:ln w="12700">
            <a:solidFill>
              <a:srgbClr val="FB923C"/>
            </a:solidFill>
            <a:prstDash val="solid"/>
          </a:ln>
        </p:spPr>
      </p:sp>
      <p:sp>
        <p:nvSpPr>
          <p:cNvPr id="24" name="Text 22"/>
          <p:cNvSpPr/>
          <p:nvPr/>
        </p:nvSpPr>
        <p:spPr>
          <a:xfrm>
            <a:off x="7671816" y="1435608"/>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Text 23"/>
          <p:cNvSpPr/>
          <p:nvPr/>
        </p:nvSpPr>
        <p:spPr>
          <a:xfrm>
            <a:off x="7050024" y="2167128"/>
            <a:ext cx="1901952" cy="329184"/>
          </a:xfrm>
          <a:prstGeom prst="rect">
            <a:avLst/>
          </a:prstGeom>
          <a:noFill/>
          <a:ln/>
        </p:spPr>
        <p:txBody>
          <a:bodyPr wrap="square" lIns="0" tIns="0" rIns="0" bIns="0" rtlCol="0" anchor="ctr"/>
          <a:lstStyle/>
          <a:p>
            <a:pPr marL="0" indent="0" algn="ctr">
              <a:buNone/>
            </a:pPr>
            <a:r>
              <a:rPr lang="en-US" sz="1200" b="1" dirty="0">
                <a:solidFill>
                  <a:srgbClr val="FB923C"/>
                </a:solidFill>
                <a:latin typeface="Calibri" pitchFamily="34" charset="0"/>
                <a:ea typeface="Calibri" pitchFamily="34" charset="-122"/>
                <a:cs typeface="Calibri" pitchFamily="34" charset="-120"/>
              </a:rPr>
              <a:t>Severity Classification</a:t>
            </a:r>
            <a:endParaRPr lang="en-US" sz="1200" dirty="0"/>
          </a:p>
        </p:txBody>
      </p:sp>
      <p:sp>
        <p:nvSpPr>
          <p:cNvPr id="26" name="Text 24"/>
          <p:cNvSpPr/>
          <p:nvPr/>
        </p:nvSpPr>
        <p:spPr>
          <a:xfrm>
            <a:off x="7050024" y="2505456"/>
            <a:ext cx="1901952" cy="475488"/>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Automatically assigns severity level — Safe, Low, Moderate, or High — to help users react appropriately</a:t>
            </a:r>
            <a:endParaRPr lang="en-US" sz="1000" dirty="0"/>
          </a:p>
        </p:txBody>
      </p:sp>
      <p:sp>
        <p:nvSpPr>
          <p:cNvPr id="27" name="Shape 25"/>
          <p:cNvSpPr/>
          <p:nvPr/>
        </p:nvSpPr>
        <p:spPr>
          <a:xfrm>
            <a:off x="320040" y="3172968"/>
            <a:ext cx="2084832" cy="1737360"/>
          </a:xfrm>
          <a:prstGeom prst="rect">
            <a:avLst/>
          </a:prstGeom>
          <a:solidFill>
            <a:srgbClr val="112244"/>
          </a:solidFill>
          <a:ln w="15240">
            <a:solidFill>
              <a:srgbClr val="818CF8"/>
            </a:solidFill>
            <a:prstDash val="solid"/>
          </a:ln>
          <a:effectLst>
            <a:outerShdw blurRad="127000" dist="38100" dir="8100000" algn="bl" rotWithShape="0">
              <a:srgbClr val="000000">
                <a:alpha val="22000"/>
              </a:srgbClr>
            </a:outerShdw>
          </a:effectLst>
        </p:spPr>
      </p:sp>
      <p:sp>
        <p:nvSpPr>
          <p:cNvPr id="28" name="Shape 26"/>
          <p:cNvSpPr/>
          <p:nvPr/>
        </p:nvSpPr>
        <p:spPr>
          <a:xfrm>
            <a:off x="1033272" y="3310128"/>
            <a:ext cx="658368" cy="658368"/>
          </a:xfrm>
          <a:prstGeom prst="ellipse">
            <a:avLst/>
          </a:prstGeom>
          <a:solidFill>
            <a:srgbClr val="818CF8"/>
          </a:solidFill>
          <a:ln w="12700">
            <a:solidFill>
              <a:srgbClr val="818CF8"/>
            </a:solidFill>
            <a:prstDash val="solid"/>
          </a:ln>
        </p:spPr>
      </p:sp>
      <p:sp>
        <p:nvSpPr>
          <p:cNvPr id="29" name="Text 27"/>
          <p:cNvSpPr/>
          <p:nvPr/>
        </p:nvSpPr>
        <p:spPr>
          <a:xfrm>
            <a:off x="1033272" y="3310128"/>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0" name="Text 28"/>
          <p:cNvSpPr/>
          <p:nvPr/>
        </p:nvSpPr>
        <p:spPr>
          <a:xfrm>
            <a:off x="411480" y="4041648"/>
            <a:ext cx="1901952" cy="329184"/>
          </a:xfrm>
          <a:prstGeom prst="rect">
            <a:avLst/>
          </a:prstGeom>
          <a:noFill/>
          <a:ln/>
        </p:spPr>
        <p:txBody>
          <a:bodyPr wrap="square" lIns="0" tIns="0" rIns="0" bIns="0" rtlCol="0" anchor="ctr"/>
          <a:lstStyle/>
          <a:p>
            <a:pPr marL="0" indent="0" algn="ctr">
              <a:buNone/>
            </a:pPr>
            <a:r>
              <a:rPr lang="en-US" sz="1200" b="1" dirty="0">
                <a:solidFill>
                  <a:srgbClr val="818CF8"/>
                </a:solidFill>
                <a:latin typeface="Calibri" pitchFamily="34" charset="0"/>
                <a:ea typeface="Calibri" pitchFamily="34" charset="-122"/>
                <a:cs typeface="Calibri" pitchFamily="34" charset="-120"/>
              </a:rPr>
              <a:t>Location Tracking</a:t>
            </a:r>
            <a:endParaRPr lang="en-US" sz="1200" dirty="0"/>
          </a:p>
        </p:txBody>
      </p:sp>
      <p:sp>
        <p:nvSpPr>
          <p:cNvPr id="31" name="Text 29"/>
          <p:cNvSpPr/>
          <p:nvPr/>
        </p:nvSpPr>
        <p:spPr>
          <a:xfrm>
            <a:off x="411480" y="4379976"/>
            <a:ext cx="1901952" cy="475488"/>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Browser-based GPS capture with OpenStreetMap API to convert coordinates to a readable address</a:t>
            </a:r>
            <a:endParaRPr lang="en-US" sz="1000" dirty="0"/>
          </a:p>
        </p:txBody>
      </p:sp>
      <p:sp>
        <p:nvSpPr>
          <p:cNvPr id="32" name="Shape 30"/>
          <p:cNvSpPr/>
          <p:nvPr/>
        </p:nvSpPr>
        <p:spPr>
          <a:xfrm>
            <a:off x="2532888" y="3172968"/>
            <a:ext cx="2084832" cy="1737360"/>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33" name="Shape 31"/>
          <p:cNvSpPr/>
          <p:nvPr/>
        </p:nvSpPr>
        <p:spPr>
          <a:xfrm>
            <a:off x="3246120" y="3310128"/>
            <a:ext cx="658368" cy="658368"/>
          </a:xfrm>
          <a:prstGeom prst="ellipse">
            <a:avLst/>
          </a:prstGeom>
          <a:solidFill>
            <a:srgbClr val="F87171"/>
          </a:solidFill>
          <a:ln w="12700">
            <a:solidFill>
              <a:srgbClr val="F87171"/>
            </a:solidFill>
            <a:prstDash val="solid"/>
          </a:ln>
        </p:spPr>
      </p:sp>
      <p:sp>
        <p:nvSpPr>
          <p:cNvPr id="34" name="Text 32"/>
          <p:cNvSpPr/>
          <p:nvPr/>
        </p:nvSpPr>
        <p:spPr>
          <a:xfrm>
            <a:off x="3246120" y="3310128"/>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5" name="Text 33"/>
          <p:cNvSpPr/>
          <p:nvPr/>
        </p:nvSpPr>
        <p:spPr>
          <a:xfrm>
            <a:off x="2624328" y="4041648"/>
            <a:ext cx="1901952" cy="329184"/>
          </a:xfrm>
          <a:prstGeom prst="rect">
            <a:avLst/>
          </a:prstGeom>
          <a:noFill/>
          <a:ln/>
        </p:spPr>
        <p:txBody>
          <a:bodyPr wrap="square" lIns="0" tIns="0" rIns="0" bIns="0" rtlCol="0" anchor="ctr"/>
          <a:lstStyle/>
          <a:p>
            <a:pPr marL="0" indent="0" algn="ctr">
              <a:buNone/>
            </a:pPr>
            <a:r>
              <a:rPr lang="en-US" sz="1200" b="1" dirty="0">
                <a:solidFill>
                  <a:srgbClr val="F87171"/>
                </a:solidFill>
                <a:latin typeface="Calibri" pitchFamily="34" charset="0"/>
                <a:ea typeface="Calibri" pitchFamily="34" charset="-122"/>
                <a:cs typeface="Calibri" pitchFamily="34" charset="-120"/>
              </a:rPr>
              <a:t>Emergency Assistance</a:t>
            </a:r>
            <a:endParaRPr lang="en-US" sz="1200" dirty="0"/>
          </a:p>
        </p:txBody>
      </p:sp>
      <p:sp>
        <p:nvSpPr>
          <p:cNvPr id="36" name="Text 34"/>
          <p:cNvSpPr/>
          <p:nvPr/>
        </p:nvSpPr>
        <p:spPr>
          <a:xfrm>
            <a:off x="2624328" y="4379976"/>
            <a:ext cx="1901952" cy="475488"/>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One-click access to Police, Fire, and Ambulance services with Google Maps navigation link</a:t>
            </a:r>
            <a:endParaRPr lang="en-US" sz="1000" dirty="0"/>
          </a:p>
        </p:txBody>
      </p:sp>
      <p:sp>
        <p:nvSpPr>
          <p:cNvPr id="37" name="Shape 35"/>
          <p:cNvSpPr/>
          <p:nvPr/>
        </p:nvSpPr>
        <p:spPr>
          <a:xfrm>
            <a:off x="4745736" y="3172968"/>
            <a:ext cx="2084832" cy="1737360"/>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38" name="Shape 36"/>
          <p:cNvSpPr/>
          <p:nvPr/>
        </p:nvSpPr>
        <p:spPr>
          <a:xfrm>
            <a:off x="5458968" y="3310128"/>
            <a:ext cx="658368" cy="658368"/>
          </a:xfrm>
          <a:prstGeom prst="ellipse">
            <a:avLst/>
          </a:prstGeom>
          <a:solidFill>
            <a:srgbClr val="38BDF8"/>
          </a:solidFill>
          <a:ln w="12700">
            <a:solidFill>
              <a:srgbClr val="38BDF8"/>
            </a:solidFill>
            <a:prstDash val="solid"/>
          </a:ln>
        </p:spPr>
      </p:sp>
      <p:sp>
        <p:nvSpPr>
          <p:cNvPr id="39" name="Text 37"/>
          <p:cNvSpPr/>
          <p:nvPr/>
        </p:nvSpPr>
        <p:spPr>
          <a:xfrm>
            <a:off x="5458968" y="3310128"/>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0" name="Text 38"/>
          <p:cNvSpPr/>
          <p:nvPr/>
        </p:nvSpPr>
        <p:spPr>
          <a:xfrm>
            <a:off x="4837176" y="4041648"/>
            <a:ext cx="1901952" cy="329184"/>
          </a:xfrm>
          <a:prstGeom prst="rect">
            <a:avLst/>
          </a:prstGeom>
          <a:noFill/>
          <a:ln/>
        </p:spPr>
        <p:txBody>
          <a:bodyPr wrap="square" lIns="0" tIns="0" rIns="0" bIns="0" rtlCol="0" anchor="ctr"/>
          <a:lstStyle/>
          <a:p>
            <a:pPr marL="0" indent="0" algn="ctr">
              <a:buNone/>
            </a:pPr>
            <a:r>
              <a:rPr lang="en-US" sz="1200" b="1" dirty="0">
                <a:solidFill>
                  <a:srgbClr val="38BDF8"/>
                </a:solidFill>
                <a:latin typeface="Calibri" pitchFamily="34" charset="0"/>
                <a:ea typeface="Calibri" pitchFamily="34" charset="-122"/>
                <a:cs typeface="Calibri" pitchFamily="34" charset="-120"/>
              </a:rPr>
              <a:t>Web-Based Access</a:t>
            </a:r>
            <a:endParaRPr lang="en-US" sz="1200" dirty="0"/>
          </a:p>
        </p:txBody>
      </p:sp>
      <p:sp>
        <p:nvSpPr>
          <p:cNvPr id="41" name="Text 39"/>
          <p:cNvSpPr/>
          <p:nvPr/>
        </p:nvSpPr>
        <p:spPr>
          <a:xfrm>
            <a:off x="4837176" y="4379976"/>
            <a:ext cx="1901952" cy="475488"/>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Accessible via any browser on any device — no installation needed; built with Flask and HTML/CSS</a:t>
            </a:r>
            <a:endParaRPr lang="en-US" sz="1000" dirty="0"/>
          </a:p>
        </p:txBody>
      </p:sp>
      <p:sp>
        <p:nvSpPr>
          <p:cNvPr id="42" name="Shape 40"/>
          <p:cNvSpPr/>
          <p:nvPr/>
        </p:nvSpPr>
        <p:spPr>
          <a:xfrm>
            <a:off x="6958584" y="3172968"/>
            <a:ext cx="2084832" cy="1737360"/>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43" name="Shape 41"/>
          <p:cNvSpPr/>
          <p:nvPr/>
        </p:nvSpPr>
        <p:spPr>
          <a:xfrm>
            <a:off x="7671816" y="3310128"/>
            <a:ext cx="658368" cy="658368"/>
          </a:xfrm>
          <a:prstGeom prst="ellipse">
            <a:avLst/>
          </a:prstGeom>
          <a:solidFill>
            <a:srgbClr val="34D399"/>
          </a:solidFill>
          <a:ln w="12700">
            <a:solidFill>
              <a:srgbClr val="34D399"/>
            </a:solidFill>
            <a:prstDash val="solid"/>
          </a:ln>
        </p:spPr>
      </p:sp>
      <p:sp>
        <p:nvSpPr>
          <p:cNvPr id="44" name="Text 42"/>
          <p:cNvSpPr/>
          <p:nvPr/>
        </p:nvSpPr>
        <p:spPr>
          <a:xfrm>
            <a:off x="7671816" y="3310128"/>
            <a:ext cx="658368" cy="65836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45" name="Text 43"/>
          <p:cNvSpPr/>
          <p:nvPr/>
        </p:nvSpPr>
        <p:spPr>
          <a:xfrm>
            <a:off x="7050024" y="4041648"/>
            <a:ext cx="1901952" cy="329184"/>
          </a:xfrm>
          <a:prstGeom prst="rect">
            <a:avLst/>
          </a:prstGeom>
          <a:noFill/>
          <a:ln/>
        </p:spPr>
        <p:txBody>
          <a:bodyPr wrap="square" lIns="0" tIns="0" rIns="0" bIns="0" rtlCol="0" anchor="ctr"/>
          <a:lstStyle/>
          <a:p>
            <a:pPr marL="0" indent="0" algn="ctr">
              <a:buNone/>
            </a:pPr>
            <a:r>
              <a:rPr lang="en-US" sz="1200" b="1" dirty="0">
                <a:solidFill>
                  <a:srgbClr val="34D399"/>
                </a:solidFill>
                <a:latin typeface="Calibri" pitchFamily="34" charset="0"/>
                <a:ea typeface="Calibri" pitchFamily="34" charset="-122"/>
                <a:cs typeface="Calibri" pitchFamily="34" charset="-120"/>
              </a:rPr>
              <a:t>Cost-Effective</a:t>
            </a:r>
            <a:endParaRPr lang="en-US" sz="1200" dirty="0"/>
          </a:p>
        </p:txBody>
      </p:sp>
      <p:sp>
        <p:nvSpPr>
          <p:cNvPr id="46" name="Text 44"/>
          <p:cNvSpPr/>
          <p:nvPr/>
        </p:nvSpPr>
        <p:spPr>
          <a:xfrm>
            <a:off x="7050024" y="4379976"/>
            <a:ext cx="1901952" cy="475488"/>
          </a:xfrm>
          <a:prstGeom prst="rect">
            <a:avLst/>
          </a:prstGeom>
          <a:noFill/>
          <a:ln/>
        </p:spPr>
        <p:txBody>
          <a:bodyPr wrap="square" lIns="0" tIns="0" rIns="0" bIns="0"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Built entirely using free, open-source tools (Python, Flask, TensorFlow, Google Colab) — zero licensing cost</a:t>
            </a:r>
            <a:endParaRPr lang="en-US" sz="1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Limitations</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Current Constraints of the System</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14 / 18</a:t>
            </a:r>
            <a:endParaRPr lang="en-US" sz="1000" dirty="0"/>
          </a:p>
        </p:txBody>
      </p:sp>
      <p:sp>
        <p:nvSpPr>
          <p:cNvPr id="7" name="Shape 5"/>
          <p:cNvSpPr/>
          <p:nvPr/>
        </p:nvSpPr>
        <p:spPr>
          <a:xfrm>
            <a:off x="6858000" y="731520"/>
            <a:ext cx="2743200" cy="2743200"/>
          </a:xfrm>
          <a:prstGeom prst="ellipse">
            <a:avLst/>
          </a:prstGeom>
          <a:solidFill>
            <a:srgbClr val="F87171">
              <a:alpha val="7000"/>
            </a:srgbClr>
          </a:solidFill>
          <a:ln w="12700">
            <a:solidFill>
              <a:srgbClr val="F87171">
                <a:alpha val="7000"/>
              </a:srgbClr>
            </a:solidFill>
            <a:prstDash val="solid"/>
          </a:ln>
        </p:spPr>
      </p:sp>
      <p:sp>
        <p:nvSpPr>
          <p:cNvPr id="8" name="Shape 6"/>
          <p:cNvSpPr/>
          <p:nvPr/>
        </p:nvSpPr>
        <p:spPr>
          <a:xfrm>
            <a:off x="365760" y="1298448"/>
            <a:ext cx="4251960" cy="1097280"/>
          </a:xfrm>
          <a:prstGeom prst="rect">
            <a:avLst/>
          </a:prstGeom>
          <a:solidFill>
            <a:srgbClr val="0D1E38"/>
          </a:solidFill>
          <a:ln w="15240">
            <a:solidFill>
              <a:srgbClr val="F87171"/>
            </a:solidFill>
            <a:prstDash val="solid"/>
          </a:ln>
          <a:effectLst>
            <a:outerShdw blurRad="127000" dist="38100" dir="8100000" algn="bl" rotWithShape="0">
              <a:srgbClr val="000000">
                <a:alpha val="22000"/>
              </a:srgbClr>
            </a:outerShdw>
          </a:effectLst>
        </p:spPr>
      </p:sp>
      <p:sp>
        <p:nvSpPr>
          <p:cNvPr id="9" name="Shape 7"/>
          <p:cNvSpPr/>
          <p:nvPr/>
        </p:nvSpPr>
        <p:spPr>
          <a:xfrm>
            <a:off x="365760" y="1298448"/>
            <a:ext cx="64008" cy="1097280"/>
          </a:xfrm>
          <a:prstGeom prst="rect">
            <a:avLst/>
          </a:prstGeom>
          <a:solidFill>
            <a:srgbClr val="F87171"/>
          </a:solidFill>
          <a:ln w="12700">
            <a:solidFill>
              <a:srgbClr val="F87171"/>
            </a:solidFill>
            <a:prstDash val="solid"/>
          </a:ln>
        </p:spPr>
      </p:sp>
      <p:sp>
        <p:nvSpPr>
          <p:cNvPr id="10" name="Shape 8"/>
          <p:cNvSpPr/>
          <p:nvPr/>
        </p:nvSpPr>
        <p:spPr>
          <a:xfrm>
            <a:off x="530352" y="1627632"/>
            <a:ext cx="438912" cy="438912"/>
          </a:xfrm>
          <a:prstGeom prst="ellipse">
            <a:avLst/>
          </a:prstGeom>
          <a:solidFill>
            <a:srgbClr val="F87171"/>
          </a:solidFill>
          <a:ln w="12700">
            <a:solidFill>
              <a:srgbClr val="F87171"/>
            </a:solidFill>
            <a:prstDash val="solid"/>
          </a:ln>
        </p:spPr>
      </p:sp>
      <p:sp>
        <p:nvSpPr>
          <p:cNvPr id="11" name="Text 9"/>
          <p:cNvSpPr/>
          <p:nvPr/>
        </p:nvSpPr>
        <p:spPr>
          <a:xfrm>
            <a:off x="530352" y="1645920"/>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097280" y="1362456"/>
            <a:ext cx="3383280" cy="329184"/>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Limited Dataset Size</a:t>
            </a:r>
            <a:endParaRPr lang="en-US" sz="1300" dirty="0"/>
          </a:p>
        </p:txBody>
      </p:sp>
      <p:sp>
        <p:nvSpPr>
          <p:cNvPr id="13" name="Text 11"/>
          <p:cNvSpPr/>
          <p:nvPr/>
        </p:nvSpPr>
        <p:spPr>
          <a:xfrm>
            <a:off x="1097280" y="1709928"/>
            <a:ext cx="3383280" cy="62179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The model is trained on a relatively small dataset collected from online sources. This may reduce the model's ability to generalize accurately to all real-world images and scenarios.</a:t>
            </a:r>
            <a:endParaRPr lang="en-US" sz="1100" dirty="0"/>
          </a:p>
        </p:txBody>
      </p:sp>
      <p:sp>
        <p:nvSpPr>
          <p:cNvPr id="14" name="Shape 12"/>
          <p:cNvSpPr/>
          <p:nvPr/>
        </p:nvSpPr>
        <p:spPr>
          <a:xfrm>
            <a:off x="4773168" y="1298448"/>
            <a:ext cx="4251960" cy="1097280"/>
          </a:xfrm>
          <a:prstGeom prst="rect">
            <a:avLst/>
          </a:prstGeom>
          <a:solidFill>
            <a:srgbClr val="0D1E38"/>
          </a:solidFill>
          <a:ln w="15240">
            <a:solidFill>
              <a:srgbClr val="FB923C"/>
            </a:solidFill>
            <a:prstDash val="solid"/>
          </a:ln>
          <a:effectLst>
            <a:outerShdw blurRad="127000" dist="38100" dir="8100000" algn="bl" rotWithShape="0">
              <a:srgbClr val="000000">
                <a:alpha val="22000"/>
              </a:srgbClr>
            </a:outerShdw>
          </a:effectLst>
        </p:spPr>
      </p:sp>
      <p:sp>
        <p:nvSpPr>
          <p:cNvPr id="15" name="Shape 13"/>
          <p:cNvSpPr/>
          <p:nvPr/>
        </p:nvSpPr>
        <p:spPr>
          <a:xfrm>
            <a:off x="4773168" y="1298448"/>
            <a:ext cx="64008" cy="1097280"/>
          </a:xfrm>
          <a:prstGeom prst="rect">
            <a:avLst/>
          </a:prstGeom>
          <a:solidFill>
            <a:srgbClr val="FB923C"/>
          </a:solidFill>
          <a:ln w="12700">
            <a:solidFill>
              <a:srgbClr val="FB923C"/>
            </a:solidFill>
            <a:prstDash val="solid"/>
          </a:ln>
        </p:spPr>
      </p:sp>
      <p:sp>
        <p:nvSpPr>
          <p:cNvPr id="16" name="Shape 14"/>
          <p:cNvSpPr/>
          <p:nvPr/>
        </p:nvSpPr>
        <p:spPr>
          <a:xfrm>
            <a:off x="4937760" y="1627632"/>
            <a:ext cx="438912" cy="438912"/>
          </a:xfrm>
          <a:prstGeom prst="ellipse">
            <a:avLst/>
          </a:prstGeom>
          <a:solidFill>
            <a:srgbClr val="FB923C"/>
          </a:solidFill>
          <a:ln w="12700">
            <a:solidFill>
              <a:srgbClr val="FB923C"/>
            </a:solidFill>
            <a:prstDash val="solid"/>
          </a:ln>
        </p:spPr>
      </p:sp>
      <p:sp>
        <p:nvSpPr>
          <p:cNvPr id="17" name="Text 15"/>
          <p:cNvSpPr/>
          <p:nvPr/>
        </p:nvSpPr>
        <p:spPr>
          <a:xfrm>
            <a:off x="4937760" y="1645920"/>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2</a:t>
            </a:r>
            <a:endParaRPr lang="en-US" sz="1300" dirty="0"/>
          </a:p>
        </p:txBody>
      </p:sp>
      <p:sp>
        <p:nvSpPr>
          <p:cNvPr id="18" name="Text 16"/>
          <p:cNvSpPr/>
          <p:nvPr/>
        </p:nvSpPr>
        <p:spPr>
          <a:xfrm>
            <a:off x="5504688" y="1362456"/>
            <a:ext cx="3383280" cy="329184"/>
          </a:xfrm>
          <a:prstGeom prst="rect">
            <a:avLst/>
          </a:prstGeom>
          <a:noFill/>
          <a:ln/>
        </p:spPr>
        <p:txBody>
          <a:bodyPr wrap="square" lIns="0" tIns="0" rIns="0" bIns="0" rtlCol="0" anchor="ctr"/>
          <a:lstStyle/>
          <a:p>
            <a:pPr marL="0" indent="0">
              <a:buNone/>
            </a:pPr>
            <a:r>
              <a:rPr lang="en-US" sz="1300" b="1" dirty="0">
                <a:solidFill>
                  <a:srgbClr val="FB923C"/>
                </a:solidFill>
                <a:latin typeface="Calibri" pitchFamily="34" charset="0"/>
                <a:ea typeface="Calibri" pitchFamily="34" charset="-122"/>
                <a:cs typeface="Calibri" pitchFamily="34" charset="-120"/>
              </a:rPr>
              <a:t>Image Quality Dependency</a:t>
            </a:r>
            <a:endParaRPr lang="en-US" sz="1300" dirty="0"/>
          </a:p>
        </p:txBody>
      </p:sp>
      <p:sp>
        <p:nvSpPr>
          <p:cNvPr id="19" name="Text 17"/>
          <p:cNvSpPr/>
          <p:nvPr/>
        </p:nvSpPr>
        <p:spPr>
          <a:xfrm>
            <a:off x="5504688" y="1709928"/>
            <a:ext cx="3383280" cy="62179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The accuracy of predictions heavily depends on input image quality. Blurry, dark, or low-resolution images can lead to misclassification or incorrect severity assignment.</a:t>
            </a:r>
            <a:endParaRPr lang="en-US" sz="1100" dirty="0"/>
          </a:p>
        </p:txBody>
      </p:sp>
      <p:sp>
        <p:nvSpPr>
          <p:cNvPr id="20" name="Shape 18"/>
          <p:cNvSpPr/>
          <p:nvPr/>
        </p:nvSpPr>
        <p:spPr>
          <a:xfrm>
            <a:off x="365760" y="2532888"/>
            <a:ext cx="4251960" cy="1097280"/>
          </a:xfrm>
          <a:prstGeom prst="rect">
            <a:avLst/>
          </a:prstGeom>
          <a:solidFill>
            <a:srgbClr val="0D1E38"/>
          </a:solidFill>
          <a:ln w="15240">
            <a:solidFill>
              <a:srgbClr val="FBBF24"/>
            </a:solidFill>
            <a:prstDash val="solid"/>
          </a:ln>
          <a:effectLst>
            <a:outerShdw blurRad="127000" dist="38100" dir="8100000" algn="bl" rotWithShape="0">
              <a:srgbClr val="000000">
                <a:alpha val="22000"/>
              </a:srgbClr>
            </a:outerShdw>
          </a:effectLst>
        </p:spPr>
      </p:sp>
      <p:sp>
        <p:nvSpPr>
          <p:cNvPr id="21" name="Shape 19"/>
          <p:cNvSpPr/>
          <p:nvPr/>
        </p:nvSpPr>
        <p:spPr>
          <a:xfrm>
            <a:off x="365760" y="2532888"/>
            <a:ext cx="64008" cy="1097280"/>
          </a:xfrm>
          <a:prstGeom prst="rect">
            <a:avLst/>
          </a:prstGeom>
          <a:solidFill>
            <a:srgbClr val="FBBF24"/>
          </a:solidFill>
          <a:ln w="12700">
            <a:solidFill>
              <a:srgbClr val="FBBF24"/>
            </a:solidFill>
            <a:prstDash val="solid"/>
          </a:ln>
        </p:spPr>
      </p:sp>
      <p:sp>
        <p:nvSpPr>
          <p:cNvPr id="22" name="Shape 20"/>
          <p:cNvSpPr/>
          <p:nvPr/>
        </p:nvSpPr>
        <p:spPr>
          <a:xfrm>
            <a:off x="530352" y="2862072"/>
            <a:ext cx="438912" cy="438912"/>
          </a:xfrm>
          <a:prstGeom prst="ellipse">
            <a:avLst/>
          </a:prstGeom>
          <a:solidFill>
            <a:srgbClr val="FBBF24"/>
          </a:solidFill>
          <a:ln w="12700">
            <a:solidFill>
              <a:srgbClr val="FBBF24"/>
            </a:solidFill>
            <a:prstDash val="solid"/>
          </a:ln>
        </p:spPr>
      </p:sp>
      <p:sp>
        <p:nvSpPr>
          <p:cNvPr id="23" name="Text 21"/>
          <p:cNvSpPr/>
          <p:nvPr/>
        </p:nvSpPr>
        <p:spPr>
          <a:xfrm>
            <a:off x="530352" y="2880360"/>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1097280" y="2596896"/>
            <a:ext cx="3383280" cy="329184"/>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Classification Only</a:t>
            </a:r>
            <a:endParaRPr lang="en-US" sz="1300" dirty="0"/>
          </a:p>
        </p:txBody>
      </p:sp>
      <p:sp>
        <p:nvSpPr>
          <p:cNvPr id="25" name="Text 23"/>
          <p:cNvSpPr/>
          <p:nvPr/>
        </p:nvSpPr>
        <p:spPr>
          <a:xfrm>
            <a:off x="1097280" y="2944368"/>
            <a:ext cx="3383280" cy="62179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The current system performs image-level classification — it cannot segment or pinpoint the exact region affected by a disaster within the image (no pixel-level analysis).</a:t>
            </a:r>
            <a:endParaRPr lang="en-US" sz="1100" dirty="0"/>
          </a:p>
        </p:txBody>
      </p:sp>
      <p:sp>
        <p:nvSpPr>
          <p:cNvPr id="26" name="Shape 24"/>
          <p:cNvSpPr/>
          <p:nvPr/>
        </p:nvSpPr>
        <p:spPr>
          <a:xfrm>
            <a:off x="4773168" y="2532888"/>
            <a:ext cx="4251960" cy="1097280"/>
          </a:xfrm>
          <a:prstGeom prst="rect">
            <a:avLst/>
          </a:prstGeom>
          <a:solidFill>
            <a:srgbClr val="0D1E38"/>
          </a:solidFill>
          <a:ln w="15240">
            <a:solidFill>
              <a:srgbClr val="818CF8"/>
            </a:solidFill>
            <a:prstDash val="solid"/>
          </a:ln>
          <a:effectLst>
            <a:outerShdw blurRad="127000" dist="38100" dir="8100000" algn="bl" rotWithShape="0">
              <a:srgbClr val="000000">
                <a:alpha val="22000"/>
              </a:srgbClr>
            </a:outerShdw>
          </a:effectLst>
        </p:spPr>
      </p:sp>
      <p:sp>
        <p:nvSpPr>
          <p:cNvPr id="27" name="Shape 25"/>
          <p:cNvSpPr/>
          <p:nvPr/>
        </p:nvSpPr>
        <p:spPr>
          <a:xfrm>
            <a:off x="4773168" y="2532888"/>
            <a:ext cx="64008" cy="1097280"/>
          </a:xfrm>
          <a:prstGeom prst="rect">
            <a:avLst/>
          </a:prstGeom>
          <a:solidFill>
            <a:srgbClr val="818CF8"/>
          </a:solidFill>
          <a:ln w="12700">
            <a:solidFill>
              <a:srgbClr val="818CF8"/>
            </a:solidFill>
            <a:prstDash val="solid"/>
          </a:ln>
        </p:spPr>
      </p:sp>
      <p:sp>
        <p:nvSpPr>
          <p:cNvPr id="28" name="Shape 26"/>
          <p:cNvSpPr/>
          <p:nvPr/>
        </p:nvSpPr>
        <p:spPr>
          <a:xfrm>
            <a:off x="4937760" y="2862072"/>
            <a:ext cx="438912" cy="438912"/>
          </a:xfrm>
          <a:prstGeom prst="ellipse">
            <a:avLst/>
          </a:prstGeom>
          <a:solidFill>
            <a:srgbClr val="818CF8"/>
          </a:solidFill>
          <a:ln w="12700">
            <a:solidFill>
              <a:srgbClr val="818CF8"/>
            </a:solidFill>
            <a:prstDash val="solid"/>
          </a:ln>
        </p:spPr>
      </p:sp>
      <p:sp>
        <p:nvSpPr>
          <p:cNvPr id="29" name="Text 27"/>
          <p:cNvSpPr/>
          <p:nvPr/>
        </p:nvSpPr>
        <p:spPr>
          <a:xfrm>
            <a:off x="4937760" y="2880360"/>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a:t>
            </a:r>
            <a:endParaRPr lang="en-US" sz="1300" dirty="0"/>
          </a:p>
        </p:txBody>
      </p:sp>
      <p:sp>
        <p:nvSpPr>
          <p:cNvPr id="30" name="Text 28"/>
          <p:cNvSpPr/>
          <p:nvPr/>
        </p:nvSpPr>
        <p:spPr>
          <a:xfrm>
            <a:off x="5504688" y="2596896"/>
            <a:ext cx="3383280" cy="329184"/>
          </a:xfrm>
          <a:prstGeom prst="rect">
            <a:avLst/>
          </a:prstGeom>
          <a:noFill/>
          <a:ln/>
        </p:spPr>
        <p:txBody>
          <a:bodyPr wrap="square" lIns="0" tIns="0" rIns="0" bIns="0" rtlCol="0" anchor="ctr"/>
          <a:lstStyle/>
          <a:p>
            <a:pPr marL="0" indent="0">
              <a:buNone/>
            </a:pPr>
            <a:r>
              <a:rPr lang="en-US" sz="1300" b="1" dirty="0">
                <a:solidFill>
                  <a:srgbClr val="818CF8"/>
                </a:solidFill>
                <a:latin typeface="Calibri" pitchFamily="34" charset="0"/>
                <a:ea typeface="Calibri" pitchFamily="34" charset="-122"/>
                <a:cs typeface="Calibri" pitchFamily="34" charset="-120"/>
              </a:rPr>
              <a:t>Internet Dependency</a:t>
            </a:r>
            <a:endParaRPr lang="en-US" sz="1300" dirty="0"/>
          </a:p>
        </p:txBody>
      </p:sp>
      <p:sp>
        <p:nvSpPr>
          <p:cNvPr id="31" name="Text 29"/>
          <p:cNvSpPr/>
          <p:nvPr/>
        </p:nvSpPr>
        <p:spPr>
          <a:xfrm>
            <a:off x="5504688" y="2944368"/>
            <a:ext cx="3383280" cy="62179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Features like Geolocation, address conversion (OpenStreetMap), and Google Maps navigation require a stable internet connection to function correctly.</a:t>
            </a:r>
            <a:endParaRPr lang="en-US" sz="1100" dirty="0"/>
          </a:p>
        </p:txBody>
      </p:sp>
      <p:sp>
        <p:nvSpPr>
          <p:cNvPr id="32" name="Shape 30"/>
          <p:cNvSpPr/>
          <p:nvPr/>
        </p:nvSpPr>
        <p:spPr>
          <a:xfrm>
            <a:off x="365760" y="3767328"/>
            <a:ext cx="4251960" cy="1097280"/>
          </a:xfrm>
          <a:prstGeom prst="rect">
            <a:avLst/>
          </a:prstGeom>
          <a:solidFill>
            <a:srgbClr val="0D1E38"/>
          </a:solidFill>
          <a:ln w="15240">
            <a:solidFill>
              <a:srgbClr val="94A3B8"/>
            </a:solidFill>
            <a:prstDash val="solid"/>
          </a:ln>
          <a:effectLst>
            <a:outerShdw blurRad="127000" dist="38100" dir="8100000" algn="bl" rotWithShape="0">
              <a:srgbClr val="000000">
                <a:alpha val="22000"/>
              </a:srgbClr>
            </a:outerShdw>
          </a:effectLst>
        </p:spPr>
      </p:sp>
      <p:sp>
        <p:nvSpPr>
          <p:cNvPr id="33" name="Shape 31"/>
          <p:cNvSpPr/>
          <p:nvPr/>
        </p:nvSpPr>
        <p:spPr>
          <a:xfrm>
            <a:off x="365760" y="3767328"/>
            <a:ext cx="64008" cy="1097280"/>
          </a:xfrm>
          <a:prstGeom prst="rect">
            <a:avLst/>
          </a:prstGeom>
          <a:solidFill>
            <a:srgbClr val="94A3B8"/>
          </a:solidFill>
          <a:ln w="12700">
            <a:solidFill>
              <a:srgbClr val="94A3B8"/>
            </a:solidFill>
            <a:prstDash val="solid"/>
          </a:ln>
        </p:spPr>
      </p:sp>
      <p:sp>
        <p:nvSpPr>
          <p:cNvPr id="34" name="Shape 32"/>
          <p:cNvSpPr/>
          <p:nvPr/>
        </p:nvSpPr>
        <p:spPr>
          <a:xfrm>
            <a:off x="530352" y="4096512"/>
            <a:ext cx="438912" cy="438912"/>
          </a:xfrm>
          <a:prstGeom prst="ellipse">
            <a:avLst/>
          </a:prstGeom>
          <a:solidFill>
            <a:srgbClr val="94A3B8"/>
          </a:solidFill>
          <a:ln w="12700">
            <a:solidFill>
              <a:srgbClr val="94A3B8"/>
            </a:solidFill>
            <a:prstDash val="solid"/>
          </a:ln>
        </p:spPr>
      </p:sp>
      <p:sp>
        <p:nvSpPr>
          <p:cNvPr id="35" name="Text 33"/>
          <p:cNvSpPr/>
          <p:nvPr/>
        </p:nvSpPr>
        <p:spPr>
          <a:xfrm>
            <a:off x="530352" y="4114800"/>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5</a:t>
            </a:r>
            <a:endParaRPr lang="en-US" sz="1300" dirty="0"/>
          </a:p>
        </p:txBody>
      </p:sp>
      <p:sp>
        <p:nvSpPr>
          <p:cNvPr id="36" name="Text 34"/>
          <p:cNvSpPr/>
          <p:nvPr/>
        </p:nvSpPr>
        <p:spPr>
          <a:xfrm>
            <a:off x="1097280" y="3831336"/>
            <a:ext cx="3383280" cy="329184"/>
          </a:xfrm>
          <a:prstGeom prst="rect">
            <a:avLst/>
          </a:prstGeom>
          <a:noFill/>
          <a:ln/>
        </p:spPr>
        <p:txBody>
          <a:bodyPr wrap="square" lIns="0" tIns="0" rIns="0" bIns="0" rtlCol="0" anchor="ctr"/>
          <a:lstStyle/>
          <a:p>
            <a:pPr marL="0" indent="0">
              <a:buNone/>
            </a:pPr>
            <a:r>
              <a:rPr lang="en-US" sz="1300" b="1" dirty="0">
                <a:solidFill>
                  <a:srgbClr val="94A3B8"/>
                </a:solidFill>
                <a:latin typeface="Calibri" pitchFamily="34" charset="0"/>
                <a:ea typeface="Calibri" pitchFamily="34" charset="-122"/>
                <a:cs typeface="Calibri" pitchFamily="34" charset="-120"/>
              </a:rPr>
              <a:t>Hardware Limitations</a:t>
            </a:r>
            <a:endParaRPr lang="en-US" sz="1300" dirty="0"/>
          </a:p>
        </p:txBody>
      </p:sp>
      <p:sp>
        <p:nvSpPr>
          <p:cNvPr id="37" name="Text 35"/>
          <p:cNvSpPr/>
          <p:nvPr/>
        </p:nvSpPr>
        <p:spPr>
          <a:xfrm>
            <a:off x="1097280" y="4178808"/>
            <a:ext cx="3383280" cy="62179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Complex models like ResNet or segmentation networks (U-Net) could not be used due to standard hardware constraints and computational limitations.</a:t>
            </a:r>
            <a:endParaRPr lang="en-US" sz="1100" dirty="0"/>
          </a:p>
        </p:txBody>
      </p:sp>
      <p:sp>
        <p:nvSpPr>
          <p:cNvPr id="38" name="Shape 36"/>
          <p:cNvSpPr/>
          <p:nvPr/>
        </p:nvSpPr>
        <p:spPr>
          <a:xfrm>
            <a:off x="4773168" y="3767328"/>
            <a:ext cx="4251960" cy="1097280"/>
          </a:xfrm>
          <a:prstGeom prst="rect">
            <a:avLst/>
          </a:prstGeom>
          <a:solidFill>
            <a:srgbClr val="0D1E38"/>
          </a:solidFill>
          <a:ln w="15240">
            <a:solidFill>
              <a:srgbClr val="38BDF8"/>
            </a:solidFill>
            <a:prstDash val="solid"/>
          </a:ln>
          <a:effectLst>
            <a:outerShdw blurRad="127000" dist="38100" dir="8100000" algn="bl" rotWithShape="0">
              <a:srgbClr val="000000">
                <a:alpha val="22000"/>
              </a:srgbClr>
            </a:outerShdw>
          </a:effectLst>
        </p:spPr>
      </p:sp>
      <p:sp>
        <p:nvSpPr>
          <p:cNvPr id="39" name="Shape 37"/>
          <p:cNvSpPr/>
          <p:nvPr/>
        </p:nvSpPr>
        <p:spPr>
          <a:xfrm>
            <a:off x="4773168" y="3767328"/>
            <a:ext cx="64008" cy="1097280"/>
          </a:xfrm>
          <a:prstGeom prst="rect">
            <a:avLst/>
          </a:prstGeom>
          <a:solidFill>
            <a:srgbClr val="38BDF8"/>
          </a:solidFill>
          <a:ln w="12700">
            <a:solidFill>
              <a:srgbClr val="38BDF8"/>
            </a:solidFill>
            <a:prstDash val="solid"/>
          </a:ln>
        </p:spPr>
      </p:sp>
      <p:sp>
        <p:nvSpPr>
          <p:cNvPr id="40" name="Shape 38"/>
          <p:cNvSpPr/>
          <p:nvPr/>
        </p:nvSpPr>
        <p:spPr>
          <a:xfrm>
            <a:off x="4937760" y="4096512"/>
            <a:ext cx="438912" cy="438912"/>
          </a:xfrm>
          <a:prstGeom prst="ellipse">
            <a:avLst/>
          </a:prstGeom>
          <a:solidFill>
            <a:srgbClr val="38BDF8"/>
          </a:solidFill>
          <a:ln w="12700">
            <a:solidFill>
              <a:srgbClr val="38BDF8"/>
            </a:solidFill>
            <a:prstDash val="solid"/>
          </a:ln>
        </p:spPr>
      </p:sp>
      <p:sp>
        <p:nvSpPr>
          <p:cNvPr id="41" name="Text 39"/>
          <p:cNvSpPr/>
          <p:nvPr/>
        </p:nvSpPr>
        <p:spPr>
          <a:xfrm>
            <a:off x="4937760" y="4114800"/>
            <a:ext cx="438912" cy="402336"/>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6</a:t>
            </a:r>
            <a:endParaRPr lang="en-US" sz="1300" dirty="0"/>
          </a:p>
        </p:txBody>
      </p:sp>
      <p:sp>
        <p:nvSpPr>
          <p:cNvPr id="42" name="Text 40"/>
          <p:cNvSpPr/>
          <p:nvPr/>
        </p:nvSpPr>
        <p:spPr>
          <a:xfrm>
            <a:off x="5504688" y="3831336"/>
            <a:ext cx="3383280" cy="329184"/>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No Mobile App</a:t>
            </a:r>
            <a:endParaRPr lang="en-US" sz="1300" dirty="0"/>
          </a:p>
        </p:txBody>
      </p:sp>
      <p:sp>
        <p:nvSpPr>
          <p:cNvPr id="43" name="Text 41"/>
          <p:cNvSpPr/>
          <p:nvPr/>
        </p:nvSpPr>
        <p:spPr>
          <a:xfrm>
            <a:off x="5504688" y="4178808"/>
            <a:ext cx="3383280" cy="621792"/>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Currently only a web application. There is no dedicated mobile (Android/iOS) application, which limits accessibility for field workers during actual disaster events.</a:t>
            </a:r>
            <a:endParaRPr lang="en-US" sz="11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Future Scope</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Planned Enhancements &amp; Research Directions</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15 / 18</a:t>
            </a:r>
            <a:endParaRPr lang="en-US" sz="1000" dirty="0"/>
          </a:p>
        </p:txBody>
      </p:sp>
      <p:sp>
        <p:nvSpPr>
          <p:cNvPr id="7" name="Shape 5"/>
          <p:cNvSpPr/>
          <p:nvPr/>
        </p:nvSpPr>
        <p:spPr>
          <a:xfrm>
            <a:off x="6400800" y="3200400"/>
            <a:ext cx="3657600" cy="3657600"/>
          </a:xfrm>
          <a:prstGeom prst="ellipse">
            <a:avLst/>
          </a:prstGeom>
          <a:solidFill>
            <a:srgbClr val="38BDF8">
              <a:alpha val="7000"/>
            </a:srgbClr>
          </a:solidFill>
          <a:ln w="12700">
            <a:solidFill>
              <a:srgbClr val="38BDF8">
                <a:alpha val="7000"/>
              </a:srgbClr>
            </a:solidFill>
            <a:prstDash val="solid"/>
          </a:ln>
        </p:spPr>
      </p:sp>
      <p:sp>
        <p:nvSpPr>
          <p:cNvPr id="8" name="Shape 6"/>
          <p:cNvSpPr/>
          <p:nvPr/>
        </p:nvSpPr>
        <p:spPr>
          <a:xfrm>
            <a:off x="365760" y="1298448"/>
            <a:ext cx="2788920" cy="1737360"/>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9" name="Shape 7"/>
          <p:cNvSpPr/>
          <p:nvPr/>
        </p:nvSpPr>
        <p:spPr>
          <a:xfrm>
            <a:off x="530352" y="1435608"/>
            <a:ext cx="566928" cy="566928"/>
          </a:xfrm>
          <a:prstGeom prst="ellipse">
            <a:avLst/>
          </a:prstGeom>
          <a:solidFill>
            <a:srgbClr val="38BDF8"/>
          </a:solidFill>
          <a:ln w="12700">
            <a:solidFill>
              <a:srgbClr val="38BDF8"/>
            </a:solidFill>
            <a:prstDash val="solid"/>
          </a:ln>
        </p:spPr>
      </p:sp>
      <p:sp>
        <p:nvSpPr>
          <p:cNvPr id="10" name="Text 8"/>
          <p:cNvSpPr/>
          <p:nvPr/>
        </p:nvSpPr>
        <p:spPr>
          <a:xfrm>
            <a:off x="530352" y="143560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1188720" y="1499616"/>
            <a:ext cx="1828800" cy="411480"/>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Aerial Image Segmentation</a:t>
            </a:r>
            <a:endParaRPr lang="en-US" sz="1300" dirty="0"/>
          </a:p>
        </p:txBody>
      </p:sp>
      <p:sp>
        <p:nvSpPr>
          <p:cNvPr id="12" name="Text 10"/>
          <p:cNvSpPr/>
          <p:nvPr/>
        </p:nvSpPr>
        <p:spPr>
          <a:xfrm>
            <a:off x="475488" y="2139696"/>
            <a:ext cx="2578608" cy="80467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Integrate U-Net / Mask R-CNN for pixel-level disaster region mapping using satellite &amp; drone imagery</a:t>
            </a:r>
            <a:endParaRPr lang="en-US" sz="1150" dirty="0"/>
          </a:p>
        </p:txBody>
      </p:sp>
      <p:sp>
        <p:nvSpPr>
          <p:cNvPr id="13" name="Shape 11"/>
          <p:cNvSpPr/>
          <p:nvPr/>
        </p:nvSpPr>
        <p:spPr>
          <a:xfrm>
            <a:off x="3310128" y="1298448"/>
            <a:ext cx="2788920" cy="1737360"/>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14" name="Shape 12"/>
          <p:cNvSpPr/>
          <p:nvPr/>
        </p:nvSpPr>
        <p:spPr>
          <a:xfrm>
            <a:off x="3474720" y="1435608"/>
            <a:ext cx="566928" cy="566928"/>
          </a:xfrm>
          <a:prstGeom prst="ellipse">
            <a:avLst/>
          </a:prstGeom>
          <a:solidFill>
            <a:srgbClr val="34D399"/>
          </a:solidFill>
          <a:ln w="12700">
            <a:solidFill>
              <a:srgbClr val="34D399"/>
            </a:solidFill>
            <a:prstDash val="solid"/>
          </a:ln>
        </p:spPr>
      </p:sp>
      <p:sp>
        <p:nvSpPr>
          <p:cNvPr id="15" name="Text 13"/>
          <p:cNvSpPr/>
          <p:nvPr/>
        </p:nvSpPr>
        <p:spPr>
          <a:xfrm>
            <a:off x="3474720" y="143560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4133088" y="1499616"/>
            <a:ext cx="1828800" cy="411480"/>
          </a:xfrm>
          <a:prstGeom prst="rect">
            <a:avLst/>
          </a:prstGeom>
          <a:noFill/>
          <a:ln/>
        </p:spPr>
        <p:txBody>
          <a:bodyPr wrap="square" lIns="0" tIns="0" rIns="0" bIns="0"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Mobile Application</a:t>
            </a:r>
            <a:endParaRPr lang="en-US" sz="1300" dirty="0"/>
          </a:p>
        </p:txBody>
      </p:sp>
      <p:sp>
        <p:nvSpPr>
          <p:cNvPr id="17" name="Text 15"/>
          <p:cNvSpPr/>
          <p:nvPr/>
        </p:nvSpPr>
        <p:spPr>
          <a:xfrm>
            <a:off x="3419856" y="2139696"/>
            <a:ext cx="2578608" cy="80467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Develop Android/iOS app for on-field disaster reporting and real-time detection without a browser</a:t>
            </a:r>
            <a:endParaRPr lang="en-US" sz="1150" dirty="0"/>
          </a:p>
        </p:txBody>
      </p:sp>
      <p:sp>
        <p:nvSpPr>
          <p:cNvPr id="18" name="Shape 16"/>
          <p:cNvSpPr/>
          <p:nvPr/>
        </p:nvSpPr>
        <p:spPr>
          <a:xfrm>
            <a:off x="6254496" y="1298448"/>
            <a:ext cx="2788920" cy="1737360"/>
          </a:xfrm>
          <a:prstGeom prst="rect">
            <a:avLst/>
          </a:prstGeom>
          <a:solidFill>
            <a:srgbClr val="112244"/>
          </a:solidFill>
          <a:ln w="15240">
            <a:solidFill>
              <a:srgbClr val="818CF8"/>
            </a:solidFill>
            <a:prstDash val="solid"/>
          </a:ln>
          <a:effectLst>
            <a:outerShdw blurRad="127000" dist="38100" dir="8100000" algn="bl" rotWithShape="0">
              <a:srgbClr val="000000">
                <a:alpha val="22000"/>
              </a:srgbClr>
            </a:outerShdw>
          </a:effectLst>
        </p:spPr>
      </p:sp>
      <p:sp>
        <p:nvSpPr>
          <p:cNvPr id="19" name="Shape 17"/>
          <p:cNvSpPr/>
          <p:nvPr/>
        </p:nvSpPr>
        <p:spPr>
          <a:xfrm>
            <a:off x="6419088" y="1435608"/>
            <a:ext cx="566928" cy="566928"/>
          </a:xfrm>
          <a:prstGeom prst="ellipse">
            <a:avLst/>
          </a:prstGeom>
          <a:solidFill>
            <a:srgbClr val="818CF8"/>
          </a:solidFill>
          <a:ln w="12700">
            <a:solidFill>
              <a:srgbClr val="818CF8"/>
            </a:solidFill>
            <a:prstDash val="solid"/>
          </a:ln>
        </p:spPr>
      </p:sp>
      <p:sp>
        <p:nvSpPr>
          <p:cNvPr id="20" name="Text 18"/>
          <p:cNvSpPr/>
          <p:nvPr/>
        </p:nvSpPr>
        <p:spPr>
          <a:xfrm>
            <a:off x="6419088" y="143560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Text 19"/>
          <p:cNvSpPr/>
          <p:nvPr/>
        </p:nvSpPr>
        <p:spPr>
          <a:xfrm>
            <a:off x="7077456" y="1499616"/>
            <a:ext cx="1828800" cy="411480"/>
          </a:xfrm>
          <a:prstGeom prst="rect">
            <a:avLst/>
          </a:prstGeom>
          <a:noFill/>
          <a:ln/>
        </p:spPr>
        <p:txBody>
          <a:bodyPr wrap="square" lIns="0" tIns="0" rIns="0" bIns="0" rtlCol="0" anchor="ctr"/>
          <a:lstStyle/>
          <a:p>
            <a:pPr marL="0" indent="0">
              <a:buNone/>
            </a:pPr>
            <a:r>
              <a:rPr lang="en-US" sz="1300" b="1" dirty="0">
                <a:solidFill>
                  <a:srgbClr val="818CF8"/>
                </a:solidFill>
                <a:latin typeface="Calibri" pitchFamily="34" charset="0"/>
                <a:ea typeface="Calibri" pitchFamily="34" charset="-122"/>
                <a:cs typeface="Calibri" pitchFamily="34" charset="-120"/>
              </a:rPr>
              <a:t>Cloud Deployment</a:t>
            </a:r>
            <a:endParaRPr lang="en-US" sz="1300" dirty="0"/>
          </a:p>
        </p:txBody>
      </p:sp>
      <p:sp>
        <p:nvSpPr>
          <p:cNvPr id="22" name="Text 20"/>
          <p:cNvSpPr/>
          <p:nvPr/>
        </p:nvSpPr>
        <p:spPr>
          <a:xfrm>
            <a:off x="6364224" y="2139696"/>
            <a:ext cx="2578608" cy="80467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Deploy system on AWS/GCP for scalability, handling large concurrent users during mass disaster events</a:t>
            </a:r>
            <a:endParaRPr lang="en-US" sz="1150" dirty="0"/>
          </a:p>
        </p:txBody>
      </p:sp>
      <p:sp>
        <p:nvSpPr>
          <p:cNvPr id="23" name="Shape 21"/>
          <p:cNvSpPr/>
          <p:nvPr/>
        </p:nvSpPr>
        <p:spPr>
          <a:xfrm>
            <a:off x="365760" y="3172968"/>
            <a:ext cx="2788920" cy="1737360"/>
          </a:xfrm>
          <a:prstGeom prst="rect">
            <a:avLst/>
          </a:prstGeom>
          <a:solidFill>
            <a:srgbClr val="112244"/>
          </a:solidFill>
          <a:ln w="15240">
            <a:solidFill>
              <a:srgbClr val="FBBF24"/>
            </a:solidFill>
            <a:prstDash val="solid"/>
          </a:ln>
          <a:effectLst>
            <a:outerShdw blurRad="127000" dist="38100" dir="8100000" algn="bl" rotWithShape="0">
              <a:srgbClr val="000000">
                <a:alpha val="22000"/>
              </a:srgbClr>
            </a:outerShdw>
          </a:effectLst>
        </p:spPr>
      </p:sp>
      <p:sp>
        <p:nvSpPr>
          <p:cNvPr id="24" name="Shape 22"/>
          <p:cNvSpPr/>
          <p:nvPr/>
        </p:nvSpPr>
        <p:spPr>
          <a:xfrm>
            <a:off x="530352" y="3310128"/>
            <a:ext cx="566928" cy="566928"/>
          </a:xfrm>
          <a:prstGeom prst="ellipse">
            <a:avLst/>
          </a:prstGeom>
          <a:solidFill>
            <a:srgbClr val="FBBF24"/>
          </a:solidFill>
          <a:ln w="12700">
            <a:solidFill>
              <a:srgbClr val="FBBF24"/>
            </a:solidFill>
            <a:prstDash val="solid"/>
          </a:ln>
        </p:spPr>
      </p:sp>
      <p:sp>
        <p:nvSpPr>
          <p:cNvPr id="25" name="Text 23"/>
          <p:cNvSpPr/>
          <p:nvPr/>
        </p:nvSpPr>
        <p:spPr>
          <a:xfrm>
            <a:off x="530352" y="331012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6" name="Text 24"/>
          <p:cNvSpPr/>
          <p:nvPr/>
        </p:nvSpPr>
        <p:spPr>
          <a:xfrm>
            <a:off x="1188720" y="3374136"/>
            <a:ext cx="1828800" cy="411480"/>
          </a:xfrm>
          <a:prstGeom prst="rect">
            <a:avLst/>
          </a:prstGeom>
          <a:noFill/>
          <a:ln/>
        </p:spPr>
        <p:txBody>
          <a:bodyPr wrap="square" lIns="0" tIns="0" rIns="0" bIns="0" rtlCol="0" anchor="ctr"/>
          <a:lstStyle/>
          <a:p>
            <a:pPr marL="0" indent="0">
              <a:buNone/>
            </a:pPr>
            <a:r>
              <a:rPr lang="en-US" sz="1300" b="1" dirty="0">
                <a:solidFill>
                  <a:srgbClr val="FBBF24"/>
                </a:solidFill>
                <a:latin typeface="Calibri" pitchFamily="34" charset="0"/>
                <a:ea typeface="Calibri" pitchFamily="34" charset="-122"/>
                <a:cs typeface="Calibri" pitchFamily="34" charset="-120"/>
              </a:rPr>
              <a:t>IoT Integration</a:t>
            </a:r>
            <a:endParaRPr lang="en-US" sz="1300" dirty="0"/>
          </a:p>
        </p:txBody>
      </p:sp>
      <p:sp>
        <p:nvSpPr>
          <p:cNvPr id="27" name="Text 25"/>
          <p:cNvSpPr/>
          <p:nvPr/>
        </p:nvSpPr>
        <p:spPr>
          <a:xfrm>
            <a:off x="475488" y="4014216"/>
            <a:ext cx="2578608" cy="80467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Connect with IoT flood/rainfall sensors for multi-source detection beyond image-based classification</a:t>
            </a:r>
            <a:endParaRPr lang="en-US" sz="1150" dirty="0"/>
          </a:p>
        </p:txBody>
      </p:sp>
      <p:sp>
        <p:nvSpPr>
          <p:cNvPr id="28" name="Shape 26"/>
          <p:cNvSpPr/>
          <p:nvPr/>
        </p:nvSpPr>
        <p:spPr>
          <a:xfrm>
            <a:off x="3310128" y="3172968"/>
            <a:ext cx="2788920" cy="1737360"/>
          </a:xfrm>
          <a:prstGeom prst="rect">
            <a:avLst/>
          </a:prstGeom>
          <a:solidFill>
            <a:srgbClr val="112244"/>
          </a:solidFill>
          <a:ln w="15240">
            <a:solidFill>
              <a:srgbClr val="FB923C"/>
            </a:solidFill>
            <a:prstDash val="solid"/>
          </a:ln>
          <a:effectLst>
            <a:outerShdw blurRad="127000" dist="38100" dir="8100000" algn="bl" rotWithShape="0">
              <a:srgbClr val="000000">
                <a:alpha val="22000"/>
              </a:srgbClr>
            </a:outerShdw>
          </a:effectLst>
        </p:spPr>
      </p:sp>
      <p:sp>
        <p:nvSpPr>
          <p:cNvPr id="29" name="Shape 27"/>
          <p:cNvSpPr/>
          <p:nvPr/>
        </p:nvSpPr>
        <p:spPr>
          <a:xfrm>
            <a:off x="3474720" y="3310128"/>
            <a:ext cx="566928" cy="566928"/>
          </a:xfrm>
          <a:prstGeom prst="ellipse">
            <a:avLst/>
          </a:prstGeom>
          <a:solidFill>
            <a:srgbClr val="FB923C"/>
          </a:solidFill>
          <a:ln w="12700">
            <a:solidFill>
              <a:srgbClr val="FB923C"/>
            </a:solidFill>
            <a:prstDash val="solid"/>
          </a:ln>
        </p:spPr>
      </p:sp>
      <p:sp>
        <p:nvSpPr>
          <p:cNvPr id="30" name="Text 28"/>
          <p:cNvSpPr/>
          <p:nvPr/>
        </p:nvSpPr>
        <p:spPr>
          <a:xfrm>
            <a:off x="3474720" y="331012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1" name="Text 29"/>
          <p:cNvSpPr/>
          <p:nvPr/>
        </p:nvSpPr>
        <p:spPr>
          <a:xfrm>
            <a:off x="4133088" y="3374136"/>
            <a:ext cx="1828800" cy="411480"/>
          </a:xfrm>
          <a:prstGeom prst="rect">
            <a:avLst/>
          </a:prstGeom>
          <a:noFill/>
          <a:ln/>
        </p:spPr>
        <p:txBody>
          <a:bodyPr wrap="square" lIns="0" tIns="0" rIns="0" bIns="0" rtlCol="0" anchor="ctr"/>
          <a:lstStyle/>
          <a:p>
            <a:pPr marL="0" indent="0">
              <a:buNone/>
            </a:pPr>
            <a:r>
              <a:rPr lang="en-US" sz="1300" b="1" dirty="0">
                <a:solidFill>
                  <a:srgbClr val="FB923C"/>
                </a:solidFill>
                <a:latin typeface="Calibri" pitchFamily="34" charset="0"/>
                <a:ea typeface="Calibri" pitchFamily="34" charset="-122"/>
                <a:cs typeface="Calibri" pitchFamily="34" charset="-120"/>
              </a:rPr>
              <a:t>Advanced Model Architecture</a:t>
            </a:r>
            <a:endParaRPr lang="en-US" sz="1300" dirty="0"/>
          </a:p>
        </p:txBody>
      </p:sp>
      <p:sp>
        <p:nvSpPr>
          <p:cNvPr id="32" name="Text 30"/>
          <p:cNvSpPr/>
          <p:nvPr/>
        </p:nvSpPr>
        <p:spPr>
          <a:xfrm>
            <a:off x="3419856" y="4014216"/>
            <a:ext cx="2578608" cy="80467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Experiment with ResNet, EfficientNet, and Vision Transformers for higher classification accuracy</a:t>
            </a:r>
            <a:endParaRPr lang="en-US" sz="1150" dirty="0"/>
          </a:p>
        </p:txBody>
      </p:sp>
      <p:sp>
        <p:nvSpPr>
          <p:cNvPr id="33" name="Shape 31"/>
          <p:cNvSpPr/>
          <p:nvPr/>
        </p:nvSpPr>
        <p:spPr>
          <a:xfrm>
            <a:off x="6254496" y="3172968"/>
            <a:ext cx="2788920" cy="1737360"/>
          </a:xfrm>
          <a:prstGeom prst="rect">
            <a:avLst/>
          </a:prstGeom>
          <a:solidFill>
            <a:srgbClr val="112244"/>
          </a:solidFill>
          <a:ln w="15240">
            <a:solidFill>
              <a:srgbClr val="F87171"/>
            </a:solidFill>
            <a:prstDash val="solid"/>
          </a:ln>
          <a:effectLst>
            <a:outerShdw blurRad="127000" dist="38100" dir="8100000" algn="bl" rotWithShape="0">
              <a:srgbClr val="000000">
                <a:alpha val="22000"/>
              </a:srgbClr>
            </a:outerShdw>
          </a:effectLst>
        </p:spPr>
      </p:sp>
      <p:sp>
        <p:nvSpPr>
          <p:cNvPr id="34" name="Shape 32"/>
          <p:cNvSpPr/>
          <p:nvPr/>
        </p:nvSpPr>
        <p:spPr>
          <a:xfrm>
            <a:off x="6419088" y="3310128"/>
            <a:ext cx="566928" cy="566928"/>
          </a:xfrm>
          <a:prstGeom prst="ellipse">
            <a:avLst/>
          </a:prstGeom>
          <a:solidFill>
            <a:srgbClr val="F87171"/>
          </a:solidFill>
          <a:ln w="12700">
            <a:solidFill>
              <a:srgbClr val="F87171"/>
            </a:solidFill>
            <a:prstDash val="solid"/>
          </a:ln>
        </p:spPr>
      </p:sp>
      <p:sp>
        <p:nvSpPr>
          <p:cNvPr id="35" name="Text 33"/>
          <p:cNvSpPr/>
          <p:nvPr/>
        </p:nvSpPr>
        <p:spPr>
          <a:xfrm>
            <a:off x="6419088" y="331012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6" name="Text 34"/>
          <p:cNvSpPr/>
          <p:nvPr/>
        </p:nvSpPr>
        <p:spPr>
          <a:xfrm>
            <a:off x="7077456" y="3374136"/>
            <a:ext cx="1828800" cy="411480"/>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Multi-Disaster Support</a:t>
            </a:r>
            <a:endParaRPr lang="en-US" sz="1300" dirty="0"/>
          </a:p>
        </p:txBody>
      </p:sp>
      <p:sp>
        <p:nvSpPr>
          <p:cNvPr id="37" name="Text 35"/>
          <p:cNvSpPr/>
          <p:nvPr/>
        </p:nvSpPr>
        <p:spPr>
          <a:xfrm>
            <a:off x="6364224" y="4014216"/>
            <a:ext cx="2578608" cy="804672"/>
          </a:xfrm>
          <a:prstGeom prst="rect">
            <a:avLst/>
          </a:prstGeom>
          <a:noFill/>
          <a:ln/>
        </p:spPr>
        <p:txBody>
          <a:bodyPr wrap="square" lIns="0" tIns="0" rIns="0" bIns="0" rtlCol="0" anchor="ctr"/>
          <a:lstStyle/>
          <a:p>
            <a:pPr marL="0" indent="0">
              <a:buNone/>
            </a:pPr>
            <a:r>
              <a:rPr lang="en-US" sz="1150" dirty="0">
                <a:solidFill>
                  <a:srgbClr val="CBD5E1"/>
                </a:solidFill>
                <a:latin typeface="Calibri" pitchFamily="34" charset="0"/>
                <a:ea typeface="Calibri" pitchFamily="34" charset="-122"/>
                <a:cs typeface="Calibri" pitchFamily="34" charset="-120"/>
              </a:rPr>
              <a:t>Extend to detect earthquakes, wildfires, and cyclones — building a comprehensive disaster management AI</a:t>
            </a:r>
            <a:endParaRPr lang="en-US" sz="115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Summary of the Project</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16 / 18</a:t>
            </a:r>
            <a:endParaRPr lang="en-US" sz="1000" dirty="0"/>
          </a:p>
        </p:txBody>
      </p:sp>
      <p:sp>
        <p:nvSpPr>
          <p:cNvPr id="7" name="Shape 5"/>
          <p:cNvSpPr/>
          <p:nvPr/>
        </p:nvSpPr>
        <p:spPr>
          <a:xfrm>
            <a:off x="365760" y="1298448"/>
            <a:ext cx="8412480" cy="1188720"/>
          </a:xfrm>
          <a:prstGeom prst="rect">
            <a:avLst/>
          </a:prstGeom>
          <a:solidFill>
            <a:srgbClr val="0A1E10"/>
          </a:solidFill>
          <a:ln w="19050">
            <a:solidFill>
              <a:srgbClr val="34D399"/>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64008" cy="1188720"/>
          </a:xfrm>
          <a:prstGeom prst="rect">
            <a:avLst/>
          </a:prstGeom>
          <a:solidFill>
            <a:srgbClr val="34D399"/>
          </a:solidFill>
          <a:ln w="12700">
            <a:solidFill>
              <a:srgbClr val="34D399"/>
            </a:solidFill>
            <a:prstDash val="solid"/>
          </a:ln>
        </p:spPr>
      </p:sp>
      <p:sp>
        <p:nvSpPr>
          <p:cNvPr id="9" name="Text 7"/>
          <p:cNvSpPr/>
          <p:nvPr/>
        </p:nvSpPr>
        <p:spPr>
          <a:xfrm>
            <a:off x="594360" y="1389888"/>
            <a:ext cx="8046720" cy="1005840"/>
          </a:xfrm>
          <a:prstGeom prst="rect">
            <a:avLst/>
          </a:prstGeom>
          <a:noFill/>
          <a:ln/>
        </p:spPr>
        <p:txBody>
          <a:bodyPr wrap="square" lIns="0" tIns="0" rIns="0" bIns="0" rtlCol="0" anchor="ctr"/>
          <a:lstStyle/>
          <a:p>
            <a:pPr marL="0" indent="0">
              <a:buNone/>
            </a:pPr>
            <a:r>
              <a:rPr lang="en-US" sz="1350" dirty="0">
                <a:solidFill>
                  <a:srgbClr val="CBD5E1"/>
                </a:solidFill>
                <a:latin typeface="Calibri" pitchFamily="34" charset="0"/>
                <a:ea typeface="Calibri" pitchFamily="34" charset="-122"/>
                <a:cs typeface="Calibri" pitchFamily="34" charset="-120"/>
              </a:rPr>
              <a:t>This project successfully demonstrates that deep learning — specifically Convolutional Neural Networks — can be effectively applied to detect natural disasters such as floods and landslides from images. The system provides real-time, accurate, and actionable results through a simple web interface.</a:t>
            </a:r>
            <a:endParaRPr lang="en-US" sz="1350" dirty="0"/>
          </a:p>
        </p:txBody>
      </p:sp>
      <p:sp>
        <p:nvSpPr>
          <p:cNvPr id="10" name="Shape 8"/>
          <p:cNvSpPr/>
          <p:nvPr/>
        </p:nvSpPr>
        <p:spPr>
          <a:xfrm>
            <a:off x="365760" y="2670048"/>
            <a:ext cx="8412480" cy="402336"/>
          </a:xfrm>
          <a:prstGeom prst="rect">
            <a:avLst/>
          </a:prstGeom>
          <a:solidFill>
            <a:srgbClr val="0D1E38"/>
          </a:solidFill>
          <a:ln w="12700">
            <a:solidFill>
              <a:srgbClr val="34D399"/>
            </a:solidFill>
            <a:prstDash val="solid"/>
          </a:ln>
          <a:effectLst>
            <a:outerShdw blurRad="127000" dist="38100" dir="8100000" algn="bl" rotWithShape="0">
              <a:srgbClr val="000000">
                <a:alpha val="22000"/>
              </a:srgbClr>
            </a:outerShdw>
          </a:effectLst>
        </p:spPr>
      </p:sp>
      <p:sp>
        <p:nvSpPr>
          <p:cNvPr id="11" name="Text 9"/>
          <p:cNvSpPr/>
          <p:nvPr/>
        </p:nvSpPr>
        <p:spPr>
          <a:xfrm>
            <a:off x="548640" y="2724912"/>
            <a:ext cx="8092440" cy="29260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CNN model accurately classifies Flood, Landslide, and Normal images with stable training performance</a:t>
            </a:r>
            <a:endParaRPr lang="en-US" sz="1250" dirty="0"/>
          </a:p>
        </p:txBody>
      </p:sp>
      <p:sp>
        <p:nvSpPr>
          <p:cNvPr id="12" name="Shape 10"/>
          <p:cNvSpPr/>
          <p:nvPr/>
        </p:nvSpPr>
        <p:spPr>
          <a:xfrm>
            <a:off x="365760" y="3127248"/>
            <a:ext cx="8412480" cy="402336"/>
          </a:xfrm>
          <a:prstGeom prst="rect">
            <a:avLst/>
          </a:prstGeom>
          <a:solidFill>
            <a:srgbClr val="0D1E38"/>
          </a:solidFill>
          <a:ln w="12700">
            <a:solidFill>
              <a:srgbClr val="34D399"/>
            </a:solidFill>
            <a:prstDash val="solid"/>
          </a:ln>
          <a:effectLst>
            <a:outerShdw blurRad="127000" dist="38100" dir="8100000" algn="bl" rotWithShape="0">
              <a:srgbClr val="000000">
                <a:alpha val="22000"/>
              </a:srgbClr>
            </a:outerShdw>
          </a:effectLst>
        </p:spPr>
      </p:sp>
      <p:sp>
        <p:nvSpPr>
          <p:cNvPr id="13" name="Text 11"/>
          <p:cNvSpPr/>
          <p:nvPr/>
        </p:nvSpPr>
        <p:spPr>
          <a:xfrm>
            <a:off x="548640" y="3182112"/>
            <a:ext cx="8092440" cy="29260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Real-time web application deployed with Flask — accessible, user-friendly, and requires no installation</a:t>
            </a:r>
            <a:endParaRPr lang="en-US" sz="1250" dirty="0"/>
          </a:p>
        </p:txBody>
      </p:sp>
      <p:sp>
        <p:nvSpPr>
          <p:cNvPr id="14" name="Shape 12"/>
          <p:cNvSpPr/>
          <p:nvPr/>
        </p:nvSpPr>
        <p:spPr>
          <a:xfrm>
            <a:off x="365760" y="3584448"/>
            <a:ext cx="8412480" cy="402336"/>
          </a:xfrm>
          <a:prstGeom prst="rect">
            <a:avLst/>
          </a:prstGeom>
          <a:solidFill>
            <a:srgbClr val="0D1E38"/>
          </a:solidFill>
          <a:ln w="12700">
            <a:solidFill>
              <a:srgbClr val="34D399"/>
            </a:solidFill>
            <a:prstDash val="solid"/>
          </a:ln>
          <a:effectLst>
            <a:outerShdw blurRad="127000" dist="38100" dir="8100000" algn="bl" rotWithShape="0">
              <a:srgbClr val="000000">
                <a:alpha val="22000"/>
              </a:srgbClr>
            </a:outerShdw>
          </a:effectLst>
        </p:spPr>
      </p:sp>
      <p:sp>
        <p:nvSpPr>
          <p:cNvPr id="15" name="Text 13"/>
          <p:cNvSpPr/>
          <p:nvPr/>
        </p:nvSpPr>
        <p:spPr>
          <a:xfrm>
            <a:off x="548640" y="3639312"/>
            <a:ext cx="8092440" cy="29260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Location tracking and emergency services integrated — making the system a complete disaster response tool</a:t>
            </a:r>
            <a:endParaRPr lang="en-US" sz="1250" dirty="0"/>
          </a:p>
        </p:txBody>
      </p:sp>
      <p:sp>
        <p:nvSpPr>
          <p:cNvPr id="16" name="Shape 14"/>
          <p:cNvSpPr/>
          <p:nvPr/>
        </p:nvSpPr>
        <p:spPr>
          <a:xfrm>
            <a:off x="365760" y="4041648"/>
            <a:ext cx="8412480" cy="402336"/>
          </a:xfrm>
          <a:prstGeom prst="rect">
            <a:avLst/>
          </a:prstGeom>
          <a:solidFill>
            <a:srgbClr val="0D1E38"/>
          </a:solidFill>
          <a:ln w="12700">
            <a:solidFill>
              <a:srgbClr val="34D399"/>
            </a:solidFill>
            <a:prstDash val="solid"/>
          </a:ln>
          <a:effectLst>
            <a:outerShdw blurRad="127000" dist="38100" dir="8100000" algn="bl" rotWithShape="0">
              <a:srgbClr val="000000">
                <a:alpha val="22000"/>
              </a:srgbClr>
            </a:outerShdw>
          </a:effectLst>
        </p:spPr>
      </p:sp>
      <p:sp>
        <p:nvSpPr>
          <p:cNvPr id="17" name="Text 15"/>
          <p:cNvSpPr/>
          <p:nvPr/>
        </p:nvSpPr>
        <p:spPr>
          <a:xfrm>
            <a:off x="548640" y="4096512"/>
            <a:ext cx="8092440" cy="292608"/>
          </a:xfrm>
          <a:prstGeom prst="rect">
            <a:avLst/>
          </a:prstGeom>
          <a:noFill/>
          <a:ln/>
        </p:spPr>
        <p:txBody>
          <a:bodyPr wrap="square" lIns="0" tIns="0" rIns="0" bIns="0" rtlCol="0" anchor="ctr"/>
          <a:lstStyle/>
          <a:p>
            <a:pPr marL="0" indent="0">
              <a:buNone/>
            </a:pPr>
            <a:r>
              <a:rPr lang="en-US" sz="1250" dirty="0">
                <a:solidFill>
                  <a:srgbClr val="FFFFFF"/>
                </a:solidFill>
                <a:latin typeface="Calibri" pitchFamily="34" charset="0"/>
                <a:ea typeface="Calibri" pitchFamily="34" charset="-122"/>
                <a:cs typeface="Calibri" pitchFamily="34" charset="-120"/>
              </a:rPr>
              <a:t>✅  Entirely built using free, open-source tools — cost-effective and scalable for real-world deployment</a:t>
            </a:r>
            <a:endParaRPr lang="en-US" sz="1250" dirty="0"/>
          </a:p>
        </p:txBody>
      </p:sp>
      <p:sp>
        <p:nvSpPr>
          <p:cNvPr id="18" name="Shape 16"/>
          <p:cNvSpPr/>
          <p:nvPr/>
        </p:nvSpPr>
        <p:spPr>
          <a:xfrm>
            <a:off x="365760" y="4498848"/>
            <a:ext cx="8412480" cy="402336"/>
          </a:xfrm>
          <a:prstGeom prst="rect">
            <a:avLst/>
          </a:prstGeom>
          <a:solidFill>
            <a:srgbClr val="0D1E38"/>
          </a:solidFill>
          <a:ln w="12700">
            <a:solidFill>
              <a:srgbClr val="38BDF8"/>
            </a:solidFill>
            <a:prstDash val="solid"/>
          </a:ln>
          <a:effectLst>
            <a:outerShdw blurRad="127000" dist="38100" dir="8100000" algn="bl" rotWithShape="0">
              <a:srgbClr val="000000">
                <a:alpha val="22000"/>
              </a:srgbClr>
            </a:outerShdw>
          </a:effectLst>
        </p:spPr>
      </p:sp>
      <p:sp>
        <p:nvSpPr>
          <p:cNvPr id="19" name="Text 17"/>
          <p:cNvSpPr/>
          <p:nvPr/>
        </p:nvSpPr>
        <p:spPr>
          <a:xfrm>
            <a:off x="548640" y="4553712"/>
            <a:ext cx="8092440" cy="292608"/>
          </a:xfrm>
          <a:prstGeom prst="rect">
            <a:avLst/>
          </a:prstGeom>
          <a:noFill/>
          <a:ln/>
        </p:spPr>
        <p:txBody>
          <a:bodyPr wrap="square" lIns="0" tIns="0" rIns="0" bIns="0" rtlCol="0" anchor="ctr"/>
          <a:lstStyle/>
          <a:p>
            <a:pPr marL="0" indent="0">
              <a:buNone/>
            </a:pPr>
            <a:r>
              <a:rPr lang="en-US" sz="1250" dirty="0">
                <a:solidFill>
                  <a:srgbClr val="38BDF8"/>
                </a:solidFill>
                <a:latin typeface="Calibri" pitchFamily="34" charset="0"/>
                <a:ea typeface="Calibri" pitchFamily="34" charset="-122"/>
                <a:cs typeface="Calibri" pitchFamily="34" charset="-120"/>
              </a:rPr>
              <a:t>🚀  Future work includes U-Net segmentation, mobile app, cloud deployment, and multi-disaster detection</a:t>
            </a:r>
            <a:endParaRPr lang="en-US" sz="12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A1628"/>
          </a:solidFill>
          <a:ln w="12700">
            <a:solidFill>
              <a:srgbClr val="0A1628"/>
            </a:solidFill>
            <a:prstDash val="solid"/>
          </a:ln>
        </p:spPr>
      </p:sp>
      <p:sp>
        <p:nvSpPr>
          <p:cNvPr id="3" name="Shape 1"/>
          <p:cNvSpPr/>
          <p:nvPr/>
        </p:nvSpPr>
        <p:spPr>
          <a:xfrm>
            <a:off x="0" y="1051560"/>
            <a:ext cx="9144000" cy="50292"/>
          </a:xfrm>
          <a:prstGeom prst="rect">
            <a:avLst/>
          </a:prstGeom>
          <a:solidFill>
            <a:srgbClr val="38BDF8"/>
          </a:solidFill>
          <a:ln w="12700">
            <a:solidFill>
              <a:srgbClr val="38BDF8"/>
            </a:solidFill>
            <a:prstDash val="solid"/>
          </a:ln>
        </p:spPr>
      </p:sp>
      <p:sp>
        <p:nvSpPr>
          <p:cNvPr id="4" name="Text 2"/>
          <p:cNvSpPr/>
          <p:nvPr/>
        </p:nvSpPr>
        <p:spPr>
          <a:xfrm>
            <a:off x="365760" y="9144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References</a:t>
            </a:r>
            <a:endParaRPr lang="en-US" sz="3000" dirty="0"/>
          </a:p>
        </p:txBody>
      </p:sp>
      <p:sp>
        <p:nvSpPr>
          <p:cNvPr id="5" name="Text 3"/>
          <p:cNvSpPr/>
          <p:nvPr/>
        </p:nvSpPr>
        <p:spPr>
          <a:xfrm>
            <a:off x="365760" y="667512"/>
            <a:ext cx="8412480" cy="320040"/>
          </a:xfrm>
          <a:prstGeom prst="rect">
            <a:avLst/>
          </a:prstGeom>
          <a:noFill/>
          <a:ln/>
        </p:spPr>
        <p:txBody>
          <a:bodyPr wrap="square" lIns="0" tIns="0" rIns="0" bIns="0" rtlCol="0" anchor="ctr"/>
          <a:lstStyle/>
          <a:p>
            <a:pPr marL="0" indent="0">
              <a:buNone/>
            </a:pPr>
            <a:r>
              <a:rPr lang="en-US" sz="1400" i="1" dirty="0">
                <a:solidFill>
                  <a:srgbClr val="38BDF8"/>
                </a:solidFill>
                <a:latin typeface="Calibri" pitchFamily="34" charset="0"/>
                <a:ea typeface="Calibri" pitchFamily="34" charset="-122"/>
                <a:cs typeface="Calibri" pitchFamily="34" charset="-120"/>
              </a:rPr>
              <a:t>Key Papers &amp; Resources Consulted</a:t>
            </a:r>
            <a:endParaRPr lang="en-US" sz="1400" dirty="0"/>
          </a:p>
        </p:txBody>
      </p:sp>
      <p:sp>
        <p:nvSpPr>
          <p:cNvPr id="6" name="Text 4"/>
          <p:cNvSpPr/>
          <p:nvPr/>
        </p:nvSpPr>
        <p:spPr>
          <a:xfrm>
            <a:off x="8229600" y="4892040"/>
            <a:ext cx="640080" cy="228600"/>
          </a:xfrm>
          <a:prstGeom prst="rect">
            <a:avLst/>
          </a:prstGeom>
          <a:noFill/>
          <a:ln/>
        </p:spPr>
        <p:txBody>
          <a:bodyPr wrap="square" lIns="0" tIns="0" rIns="0" bIns="0" rtlCol="0" anchor="ctr"/>
          <a:lstStyle/>
          <a:p>
            <a:pPr marL="0" indent="0" algn="r">
              <a:buNone/>
            </a:pPr>
            <a:r>
              <a:rPr lang="en-US" sz="1000" dirty="0">
                <a:solidFill>
                  <a:srgbClr val="475569"/>
                </a:solidFill>
                <a:latin typeface="Calibri" pitchFamily="34" charset="0"/>
                <a:ea typeface="Calibri" pitchFamily="34" charset="-122"/>
                <a:cs typeface="Calibri" pitchFamily="34" charset="-120"/>
              </a:rPr>
              <a:t>17 / 18</a:t>
            </a:r>
            <a:endParaRPr lang="en-US" sz="1000" dirty="0"/>
          </a:p>
        </p:txBody>
      </p:sp>
      <p:sp>
        <p:nvSpPr>
          <p:cNvPr id="7" name="Shape 5"/>
          <p:cNvSpPr/>
          <p:nvPr/>
        </p:nvSpPr>
        <p:spPr>
          <a:xfrm>
            <a:off x="365760" y="1298448"/>
            <a:ext cx="8412480" cy="420624"/>
          </a:xfrm>
          <a:prstGeom prst="rect">
            <a:avLst/>
          </a:prstGeom>
          <a:solidFill>
            <a:srgbClr val="0D1E38"/>
          </a:solidFill>
          <a:ln w="10160">
            <a:solidFill>
              <a:srgbClr val="1E3A5F"/>
            </a:solidFill>
            <a:prstDash val="solid"/>
          </a:ln>
          <a:effectLst>
            <a:outerShdw blurRad="127000" dist="38100" dir="8100000" algn="bl" rotWithShape="0">
              <a:srgbClr val="000000">
                <a:alpha val="22000"/>
              </a:srgbClr>
            </a:outerShdw>
          </a:effectLst>
        </p:spPr>
      </p:sp>
      <p:sp>
        <p:nvSpPr>
          <p:cNvPr id="8" name="Shape 6"/>
          <p:cNvSpPr/>
          <p:nvPr/>
        </p:nvSpPr>
        <p:spPr>
          <a:xfrm>
            <a:off x="365760" y="1298448"/>
            <a:ext cx="384048" cy="420624"/>
          </a:xfrm>
          <a:prstGeom prst="rect">
            <a:avLst/>
          </a:prstGeom>
          <a:solidFill>
            <a:srgbClr val="38BDF8"/>
          </a:solidFill>
          <a:ln w="12700">
            <a:solidFill>
              <a:srgbClr val="38BDF8"/>
            </a:solidFill>
            <a:prstDash val="solid"/>
          </a:ln>
        </p:spPr>
      </p:sp>
      <p:sp>
        <p:nvSpPr>
          <p:cNvPr id="9" name="Text 7"/>
          <p:cNvSpPr/>
          <p:nvPr/>
        </p:nvSpPr>
        <p:spPr>
          <a:xfrm>
            <a:off x="365760" y="1298448"/>
            <a:ext cx="384048" cy="42062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841248" y="1335024"/>
            <a:ext cx="6355080" cy="2194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Khan et al. (2021) — "Deep Learning-Based Image Segmentation Techniques: A Comprehensive Review"</a:t>
            </a:r>
            <a:endParaRPr lang="en-US" sz="1150" dirty="0"/>
          </a:p>
        </p:txBody>
      </p:sp>
      <p:sp>
        <p:nvSpPr>
          <p:cNvPr id="11" name="Text 9"/>
          <p:cNvSpPr/>
          <p:nvPr/>
        </p:nvSpPr>
        <p:spPr>
          <a:xfrm>
            <a:off x="841248" y="1554480"/>
            <a:ext cx="6355080" cy="14630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IEEE Access</a:t>
            </a:r>
            <a:endParaRPr lang="en-US" sz="1000" dirty="0"/>
          </a:p>
        </p:txBody>
      </p:sp>
      <p:sp>
        <p:nvSpPr>
          <p:cNvPr id="12" name="Shape 10"/>
          <p:cNvSpPr/>
          <p:nvPr/>
        </p:nvSpPr>
        <p:spPr>
          <a:xfrm>
            <a:off x="365760" y="1764792"/>
            <a:ext cx="8412480" cy="420624"/>
          </a:xfrm>
          <a:prstGeom prst="rect">
            <a:avLst/>
          </a:prstGeom>
          <a:solidFill>
            <a:srgbClr val="112244"/>
          </a:solidFill>
          <a:ln w="10160">
            <a:solidFill>
              <a:srgbClr val="1E3A5F"/>
            </a:solidFill>
            <a:prstDash val="solid"/>
          </a:ln>
          <a:effectLst>
            <a:outerShdw blurRad="127000" dist="38100" dir="8100000" algn="bl" rotWithShape="0">
              <a:srgbClr val="000000">
                <a:alpha val="22000"/>
              </a:srgbClr>
            </a:outerShdw>
          </a:effectLst>
        </p:spPr>
      </p:sp>
      <p:sp>
        <p:nvSpPr>
          <p:cNvPr id="13" name="Shape 11"/>
          <p:cNvSpPr/>
          <p:nvPr/>
        </p:nvSpPr>
        <p:spPr>
          <a:xfrm>
            <a:off x="365760" y="1764792"/>
            <a:ext cx="384048" cy="420624"/>
          </a:xfrm>
          <a:prstGeom prst="rect">
            <a:avLst/>
          </a:prstGeom>
          <a:solidFill>
            <a:srgbClr val="818CF8"/>
          </a:solidFill>
          <a:ln w="12700">
            <a:solidFill>
              <a:srgbClr val="818CF8"/>
            </a:solidFill>
            <a:prstDash val="solid"/>
          </a:ln>
        </p:spPr>
      </p:sp>
      <p:sp>
        <p:nvSpPr>
          <p:cNvPr id="14" name="Text 12"/>
          <p:cNvSpPr/>
          <p:nvPr/>
        </p:nvSpPr>
        <p:spPr>
          <a:xfrm>
            <a:off x="365760" y="1764792"/>
            <a:ext cx="384048" cy="42062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841248" y="1801368"/>
            <a:ext cx="6355080" cy="2194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Marmanis et al. (2020) — "Multi-U-Net: A DL Framework for Multi-Class Segmentation in Aerial Images"</a:t>
            </a:r>
            <a:endParaRPr lang="en-US" sz="1150" dirty="0"/>
          </a:p>
        </p:txBody>
      </p:sp>
      <p:sp>
        <p:nvSpPr>
          <p:cNvPr id="16" name="Text 14"/>
          <p:cNvSpPr/>
          <p:nvPr/>
        </p:nvSpPr>
        <p:spPr>
          <a:xfrm>
            <a:off x="841248" y="2020824"/>
            <a:ext cx="6355080" cy="14630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ISPRS Journal of Photogrammetry</a:t>
            </a:r>
            <a:endParaRPr lang="en-US" sz="1000" dirty="0"/>
          </a:p>
        </p:txBody>
      </p:sp>
      <p:sp>
        <p:nvSpPr>
          <p:cNvPr id="17" name="Shape 15"/>
          <p:cNvSpPr/>
          <p:nvPr/>
        </p:nvSpPr>
        <p:spPr>
          <a:xfrm>
            <a:off x="365760" y="2231136"/>
            <a:ext cx="8412480" cy="420624"/>
          </a:xfrm>
          <a:prstGeom prst="rect">
            <a:avLst/>
          </a:prstGeom>
          <a:solidFill>
            <a:srgbClr val="0D1E38"/>
          </a:solidFill>
          <a:ln w="10160">
            <a:solidFill>
              <a:srgbClr val="1E3A5F"/>
            </a:solidFill>
            <a:prstDash val="solid"/>
          </a:ln>
          <a:effectLst>
            <a:outerShdw blurRad="127000" dist="38100" dir="8100000" algn="bl" rotWithShape="0">
              <a:srgbClr val="000000">
                <a:alpha val="22000"/>
              </a:srgbClr>
            </a:outerShdw>
          </a:effectLst>
        </p:spPr>
      </p:sp>
      <p:sp>
        <p:nvSpPr>
          <p:cNvPr id="18" name="Shape 16"/>
          <p:cNvSpPr/>
          <p:nvPr/>
        </p:nvSpPr>
        <p:spPr>
          <a:xfrm>
            <a:off x="365760" y="2231136"/>
            <a:ext cx="384048" cy="420624"/>
          </a:xfrm>
          <a:prstGeom prst="rect">
            <a:avLst/>
          </a:prstGeom>
          <a:solidFill>
            <a:srgbClr val="38BDF8"/>
          </a:solidFill>
          <a:ln w="12700">
            <a:solidFill>
              <a:srgbClr val="38BDF8"/>
            </a:solidFill>
            <a:prstDash val="solid"/>
          </a:ln>
        </p:spPr>
      </p:sp>
      <p:sp>
        <p:nvSpPr>
          <p:cNvPr id="19" name="Text 17"/>
          <p:cNvSpPr/>
          <p:nvPr/>
        </p:nvSpPr>
        <p:spPr>
          <a:xfrm>
            <a:off x="365760" y="2231136"/>
            <a:ext cx="384048" cy="42062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841248" y="2267712"/>
            <a:ext cx="6355080" cy="2194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Gupta et al. (2022) — "Real-Time Flood Detection from Aerial Images Using Deep Learning"</a:t>
            </a:r>
            <a:endParaRPr lang="en-US" sz="1150" dirty="0"/>
          </a:p>
        </p:txBody>
      </p:sp>
      <p:sp>
        <p:nvSpPr>
          <p:cNvPr id="21" name="Text 19"/>
          <p:cNvSpPr/>
          <p:nvPr/>
        </p:nvSpPr>
        <p:spPr>
          <a:xfrm>
            <a:off x="841248" y="2487168"/>
            <a:ext cx="6355080" cy="14630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Natural Hazards</a:t>
            </a:r>
            <a:endParaRPr lang="en-US" sz="1000" dirty="0"/>
          </a:p>
        </p:txBody>
      </p:sp>
      <p:sp>
        <p:nvSpPr>
          <p:cNvPr id="22" name="Shape 20"/>
          <p:cNvSpPr/>
          <p:nvPr/>
        </p:nvSpPr>
        <p:spPr>
          <a:xfrm>
            <a:off x="365760" y="2697480"/>
            <a:ext cx="8412480" cy="420624"/>
          </a:xfrm>
          <a:prstGeom prst="rect">
            <a:avLst/>
          </a:prstGeom>
          <a:solidFill>
            <a:srgbClr val="112244"/>
          </a:solidFill>
          <a:ln w="10160">
            <a:solidFill>
              <a:srgbClr val="1E3A5F"/>
            </a:solidFill>
            <a:prstDash val="solid"/>
          </a:ln>
          <a:effectLst>
            <a:outerShdw blurRad="127000" dist="38100" dir="8100000" algn="bl" rotWithShape="0">
              <a:srgbClr val="000000">
                <a:alpha val="22000"/>
              </a:srgbClr>
            </a:outerShdw>
          </a:effectLst>
        </p:spPr>
      </p:sp>
      <p:sp>
        <p:nvSpPr>
          <p:cNvPr id="23" name="Shape 21"/>
          <p:cNvSpPr/>
          <p:nvPr/>
        </p:nvSpPr>
        <p:spPr>
          <a:xfrm>
            <a:off x="365760" y="2697480"/>
            <a:ext cx="384048" cy="420624"/>
          </a:xfrm>
          <a:prstGeom prst="rect">
            <a:avLst/>
          </a:prstGeom>
          <a:solidFill>
            <a:srgbClr val="818CF8"/>
          </a:solidFill>
          <a:ln w="12700">
            <a:solidFill>
              <a:srgbClr val="818CF8"/>
            </a:solidFill>
            <a:prstDash val="solid"/>
          </a:ln>
        </p:spPr>
      </p:sp>
      <p:sp>
        <p:nvSpPr>
          <p:cNvPr id="24" name="Text 22"/>
          <p:cNvSpPr/>
          <p:nvPr/>
        </p:nvSpPr>
        <p:spPr>
          <a:xfrm>
            <a:off x="365760" y="2697480"/>
            <a:ext cx="384048" cy="42062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841248" y="2734056"/>
            <a:ext cx="6355080" cy="2194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Sinha &amp; Sen (2022) — "Impact of CNNs on Flood Detection Using Satellite Imagery"</a:t>
            </a:r>
            <a:endParaRPr lang="en-US" sz="1150" dirty="0"/>
          </a:p>
        </p:txBody>
      </p:sp>
      <p:sp>
        <p:nvSpPr>
          <p:cNvPr id="26" name="Text 24"/>
          <p:cNvSpPr/>
          <p:nvPr/>
        </p:nvSpPr>
        <p:spPr>
          <a:xfrm>
            <a:off x="841248" y="2953512"/>
            <a:ext cx="6355080" cy="14630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Journal of Hydrology</a:t>
            </a:r>
            <a:endParaRPr lang="en-US" sz="1000" dirty="0"/>
          </a:p>
        </p:txBody>
      </p:sp>
      <p:sp>
        <p:nvSpPr>
          <p:cNvPr id="27" name="Shape 25"/>
          <p:cNvSpPr/>
          <p:nvPr/>
        </p:nvSpPr>
        <p:spPr>
          <a:xfrm>
            <a:off x="365760" y="3163824"/>
            <a:ext cx="8412480" cy="420624"/>
          </a:xfrm>
          <a:prstGeom prst="rect">
            <a:avLst/>
          </a:prstGeom>
          <a:solidFill>
            <a:srgbClr val="0D1E38"/>
          </a:solidFill>
          <a:ln w="10160">
            <a:solidFill>
              <a:srgbClr val="1E3A5F"/>
            </a:solidFill>
            <a:prstDash val="solid"/>
          </a:ln>
          <a:effectLst>
            <a:outerShdw blurRad="127000" dist="38100" dir="8100000" algn="bl" rotWithShape="0">
              <a:srgbClr val="000000">
                <a:alpha val="22000"/>
              </a:srgbClr>
            </a:outerShdw>
          </a:effectLst>
        </p:spPr>
      </p:sp>
      <p:sp>
        <p:nvSpPr>
          <p:cNvPr id="28" name="Shape 26"/>
          <p:cNvSpPr/>
          <p:nvPr/>
        </p:nvSpPr>
        <p:spPr>
          <a:xfrm>
            <a:off x="365760" y="3163824"/>
            <a:ext cx="384048" cy="420624"/>
          </a:xfrm>
          <a:prstGeom prst="rect">
            <a:avLst/>
          </a:prstGeom>
          <a:solidFill>
            <a:srgbClr val="38BDF8"/>
          </a:solidFill>
          <a:ln w="12700">
            <a:solidFill>
              <a:srgbClr val="38BDF8"/>
            </a:solidFill>
            <a:prstDash val="solid"/>
          </a:ln>
        </p:spPr>
      </p:sp>
      <p:sp>
        <p:nvSpPr>
          <p:cNvPr id="29" name="Text 27"/>
          <p:cNvSpPr/>
          <p:nvPr/>
        </p:nvSpPr>
        <p:spPr>
          <a:xfrm>
            <a:off x="365760" y="3163824"/>
            <a:ext cx="384048" cy="42062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841248" y="3200400"/>
            <a:ext cx="6355080" cy="2194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Almazroi &amp; Alarifi (2023) — "Enhancing Landslide Detection Using Machine Learning &amp; Satellite Imagery"</a:t>
            </a:r>
            <a:endParaRPr lang="en-US" sz="1150" dirty="0"/>
          </a:p>
        </p:txBody>
      </p:sp>
      <p:sp>
        <p:nvSpPr>
          <p:cNvPr id="31" name="Text 29"/>
          <p:cNvSpPr/>
          <p:nvPr/>
        </p:nvSpPr>
        <p:spPr>
          <a:xfrm>
            <a:off x="841248" y="3419856"/>
            <a:ext cx="6355080" cy="14630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Applied Sciences</a:t>
            </a:r>
            <a:endParaRPr lang="en-US" sz="1000" dirty="0"/>
          </a:p>
        </p:txBody>
      </p:sp>
      <p:sp>
        <p:nvSpPr>
          <p:cNvPr id="32" name="Shape 30"/>
          <p:cNvSpPr/>
          <p:nvPr/>
        </p:nvSpPr>
        <p:spPr>
          <a:xfrm>
            <a:off x="365760" y="3630168"/>
            <a:ext cx="8412480" cy="420624"/>
          </a:xfrm>
          <a:prstGeom prst="rect">
            <a:avLst/>
          </a:prstGeom>
          <a:solidFill>
            <a:srgbClr val="112244"/>
          </a:solidFill>
          <a:ln w="10160">
            <a:solidFill>
              <a:srgbClr val="1E3A5F"/>
            </a:solidFill>
            <a:prstDash val="solid"/>
          </a:ln>
          <a:effectLst>
            <a:outerShdw blurRad="127000" dist="38100" dir="8100000" algn="bl" rotWithShape="0">
              <a:srgbClr val="000000">
                <a:alpha val="22000"/>
              </a:srgbClr>
            </a:outerShdw>
          </a:effectLst>
        </p:spPr>
      </p:sp>
      <p:sp>
        <p:nvSpPr>
          <p:cNvPr id="33" name="Shape 31"/>
          <p:cNvSpPr/>
          <p:nvPr/>
        </p:nvSpPr>
        <p:spPr>
          <a:xfrm>
            <a:off x="365760" y="3630168"/>
            <a:ext cx="384048" cy="420624"/>
          </a:xfrm>
          <a:prstGeom prst="rect">
            <a:avLst/>
          </a:prstGeom>
          <a:solidFill>
            <a:srgbClr val="818CF8"/>
          </a:solidFill>
          <a:ln w="12700">
            <a:solidFill>
              <a:srgbClr val="818CF8"/>
            </a:solidFill>
            <a:prstDash val="solid"/>
          </a:ln>
        </p:spPr>
      </p:sp>
      <p:sp>
        <p:nvSpPr>
          <p:cNvPr id="34" name="Text 32"/>
          <p:cNvSpPr/>
          <p:nvPr/>
        </p:nvSpPr>
        <p:spPr>
          <a:xfrm>
            <a:off x="365760" y="3630168"/>
            <a:ext cx="384048" cy="42062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6</a:t>
            </a:r>
            <a:endParaRPr lang="en-US" sz="1300" dirty="0"/>
          </a:p>
        </p:txBody>
      </p:sp>
      <p:sp>
        <p:nvSpPr>
          <p:cNvPr id="35" name="Text 33"/>
          <p:cNvSpPr/>
          <p:nvPr/>
        </p:nvSpPr>
        <p:spPr>
          <a:xfrm>
            <a:off x="841248" y="3666744"/>
            <a:ext cx="6355080" cy="2194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Ghosh &amp; Dutta (2022) — "Disaster Detection Using Image Segmentation"</a:t>
            </a:r>
            <a:endParaRPr lang="en-US" sz="1150" dirty="0"/>
          </a:p>
        </p:txBody>
      </p:sp>
      <p:sp>
        <p:nvSpPr>
          <p:cNvPr id="36" name="Text 34"/>
          <p:cNvSpPr/>
          <p:nvPr/>
        </p:nvSpPr>
        <p:spPr>
          <a:xfrm>
            <a:off x="841248" y="3886200"/>
            <a:ext cx="6355080" cy="14630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Remote Sensing Journal</a:t>
            </a:r>
            <a:endParaRPr lang="en-US" sz="1000" dirty="0"/>
          </a:p>
        </p:txBody>
      </p:sp>
      <p:sp>
        <p:nvSpPr>
          <p:cNvPr id="37" name="Shape 35"/>
          <p:cNvSpPr/>
          <p:nvPr/>
        </p:nvSpPr>
        <p:spPr>
          <a:xfrm>
            <a:off x="365760" y="4096512"/>
            <a:ext cx="8412480" cy="420624"/>
          </a:xfrm>
          <a:prstGeom prst="rect">
            <a:avLst/>
          </a:prstGeom>
          <a:solidFill>
            <a:srgbClr val="0D1E38"/>
          </a:solidFill>
          <a:ln w="10160">
            <a:solidFill>
              <a:srgbClr val="1E3A5F"/>
            </a:solidFill>
            <a:prstDash val="solid"/>
          </a:ln>
          <a:effectLst>
            <a:outerShdw blurRad="127000" dist="38100" dir="8100000" algn="bl" rotWithShape="0">
              <a:srgbClr val="000000">
                <a:alpha val="22000"/>
              </a:srgbClr>
            </a:outerShdw>
          </a:effectLst>
        </p:spPr>
      </p:sp>
      <p:sp>
        <p:nvSpPr>
          <p:cNvPr id="38" name="Shape 36"/>
          <p:cNvSpPr/>
          <p:nvPr/>
        </p:nvSpPr>
        <p:spPr>
          <a:xfrm>
            <a:off x="365760" y="4096512"/>
            <a:ext cx="384048" cy="420624"/>
          </a:xfrm>
          <a:prstGeom prst="rect">
            <a:avLst/>
          </a:prstGeom>
          <a:solidFill>
            <a:srgbClr val="38BDF8"/>
          </a:solidFill>
          <a:ln w="12700">
            <a:solidFill>
              <a:srgbClr val="38BDF8"/>
            </a:solidFill>
            <a:prstDash val="solid"/>
          </a:ln>
        </p:spPr>
      </p:sp>
      <p:sp>
        <p:nvSpPr>
          <p:cNvPr id="39" name="Text 37"/>
          <p:cNvSpPr/>
          <p:nvPr/>
        </p:nvSpPr>
        <p:spPr>
          <a:xfrm>
            <a:off x="365760" y="4096512"/>
            <a:ext cx="384048" cy="42062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7</a:t>
            </a:r>
            <a:endParaRPr lang="en-US" sz="1300" dirty="0"/>
          </a:p>
        </p:txBody>
      </p:sp>
      <p:sp>
        <p:nvSpPr>
          <p:cNvPr id="40" name="Text 38"/>
          <p:cNvSpPr/>
          <p:nvPr/>
        </p:nvSpPr>
        <p:spPr>
          <a:xfrm>
            <a:off x="841248" y="4133088"/>
            <a:ext cx="6355080" cy="2194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Rahman et al. (2021) — "Deep Learning Based Flood Detection Using Satellite Imagery"</a:t>
            </a:r>
            <a:endParaRPr lang="en-US" sz="1150" dirty="0"/>
          </a:p>
        </p:txBody>
      </p:sp>
      <p:sp>
        <p:nvSpPr>
          <p:cNvPr id="41" name="Text 39"/>
          <p:cNvSpPr/>
          <p:nvPr/>
        </p:nvSpPr>
        <p:spPr>
          <a:xfrm>
            <a:off x="841248" y="4352544"/>
            <a:ext cx="6355080" cy="14630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IEEE Remote Sensing</a:t>
            </a:r>
            <a:endParaRPr lang="en-US" sz="1000" dirty="0"/>
          </a:p>
        </p:txBody>
      </p:sp>
      <p:sp>
        <p:nvSpPr>
          <p:cNvPr id="42" name="Shape 40"/>
          <p:cNvSpPr/>
          <p:nvPr/>
        </p:nvSpPr>
        <p:spPr>
          <a:xfrm>
            <a:off x="365760" y="4562856"/>
            <a:ext cx="8412480" cy="420624"/>
          </a:xfrm>
          <a:prstGeom prst="rect">
            <a:avLst/>
          </a:prstGeom>
          <a:solidFill>
            <a:srgbClr val="112244"/>
          </a:solidFill>
          <a:ln w="10160">
            <a:solidFill>
              <a:srgbClr val="1E3A5F"/>
            </a:solidFill>
            <a:prstDash val="solid"/>
          </a:ln>
          <a:effectLst>
            <a:outerShdw blurRad="127000" dist="38100" dir="8100000" algn="bl" rotWithShape="0">
              <a:srgbClr val="000000">
                <a:alpha val="22000"/>
              </a:srgbClr>
            </a:outerShdw>
          </a:effectLst>
        </p:spPr>
      </p:sp>
      <p:sp>
        <p:nvSpPr>
          <p:cNvPr id="43" name="Shape 41"/>
          <p:cNvSpPr/>
          <p:nvPr/>
        </p:nvSpPr>
        <p:spPr>
          <a:xfrm>
            <a:off x="365760" y="4562856"/>
            <a:ext cx="384048" cy="420624"/>
          </a:xfrm>
          <a:prstGeom prst="rect">
            <a:avLst/>
          </a:prstGeom>
          <a:solidFill>
            <a:srgbClr val="818CF8"/>
          </a:solidFill>
          <a:ln w="12700">
            <a:solidFill>
              <a:srgbClr val="818CF8"/>
            </a:solidFill>
            <a:prstDash val="solid"/>
          </a:ln>
        </p:spPr>
      </p:sp>
      <p:sp>
        <p:nvSpPr>
          <p:cNvPr id="44" name="Text 42"/>
          <p:cNvSpPr/>
          <p:nvPr/>
        </p:nvSpPr>
        <p:spPr>
          <a:xfrm>
            <a:off x="365760" y="4562856"/>
            <a:ext cx="384048" cy="420624"/>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8</a:t>
            </a:r>
            <a:endParaRPr lang="en-US" sz="1300" dirty="0"/>
          </a:p>
        </p:txBody>
      </p:sp>
      <p:sp>
        <p:nvSpPr>
          <p:cNvPr id="45" name="Text 43"/>
          <p:cNvSpPr/>
          <p:nvPr/>
        </p:nvSpPr>
        <p:spPr>
          <a:xfrm>
            <a:off x="841248" y="4599432"/>
            <a:ext cx="6355080" cy="21945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Nguyen &amp; Kim (2022) — "Multi-Modal Deep Learning for Disaster Image Analysis"</a:t>
            </a:r>
            <a:endParaRPr lang="en-US" sz="1150" dirty="0"/>
          </a:p>
        </p:txBody>
      </p:sp>
      <p:sp>
        <p:nvSpPr>
          <p:cNvPr id="46" name="Text 44"/>
          <p:cNvSpPr/>
          <p:nvPr/>
        </p:nvSpPr>
        <p:spPr>
          <a:xfrm>
            <a:off x="841248" y="4818888"/>
            <a:ext cx="6355080" cy="146304"/>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IJAEOG</a:t>
            </a:r>
            <a:endParaRPr lang="en-US" sz="10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0B1D3A"/>
        </a:solidFill>
        <a:effectLst/>
      </p:bgPr>
    </p:bg>
    <p:spTree>
      <p:nvGrpSpPr>
        <p:cNvPr id="1" name=""/>
        <p:cNvGrpSpPr/>
        <p:nvPr/>
      </p:nvGrpSpPr>
      <p:grpSpPr>
        <a:xfrm>
          <a:off x="0" y="0"/>
          <a:ext cx="0" cy="0"/>
          <a:chOff x="0" y="0"/>
          <a:chExt cx="0" cy="0"/>
        </a:xfrm>
      </p:grpSpPr>
      <p:sp>
        <p:nvSpPr>
          <p:cNvPr id="2" name="Shape 0"/>
          <p:cNvSpPr/>
          <p:nvPr/>
        </p:nvSpPr>
        <p:spPr>
          <a:xfrm>
            <a:off x="5943600" y="-914400"/>
            <a:ext cx="5486400" cy="5486400"/>
          </a:xfrm>
          <a:prstGeom prst="ellipse">
            <a:avLst/>
          </a:prstGeom>
          <a:solidFill>
            <a:srgbClr val="38BDF8">
              <a:alpha val="10000"/>
            </a:srgbClr>
          </a:solidFill>
          <a:ln w="12700">
            <a:solidFill>
              <a:srgbClr val="38BDF8">
                <a:alpha val="10000"/>
              </a:srgbClr>
            </a:solidFill>
            <a:prstDash val="solid"/>
          </a:ln>
        </p:spPr>
      </p:sp>
      <p:sp>
        <p:nvSpPr>
          <p:cNvPr id="3" name="Shape 1"/>
          <p:cNvSpPr/>
          <p:nvPr/>
        </p:nvSpPr>
        <p:spPr>
          <a:xfrm>
            <a:off x="-1828800" y="2743200"/>
            <a:ext cx="4572000" cy="4572000"/>
          </a:xfrm>
          <a:prstGeom prst="ellipse">
            <a:avLst/>
          </a:prstGeom>
          <a:solidFill>
            <a:srgbClr val="818CF8">
              <a:alpha val="8000"/>
            </a:srgbClr>
          </a:solidFill>
          <a:ln w="12700">
            <a:solidFill>
              <a:srgbClr val="818CF8">
                <a:alpha val="8000"/>
              </a:srgbClr>
            </a:solidFill>
            <a:prstDash val="solid"/>
          </a:ln>
        </p:spPr>
      </p:sp>
      <p:sp>
        <p:nvSpPr>
          <p:cNvPr id="4" name="Shape 2"/>
          <p:cNvSpPr/>
          <p:nvPr/>
        </p:nvSpPr>
        <p:spPr>
          <a:xfrm>
            <a:off x="0" y="0"/>
            <a:ext cx="91440" cy="5143500"/>
          </a:xfrm>
          <a:prstGeom prst="rect">
            <a:avLst/>
          </a:prstGeom>
          <a:solidFill>
            <a:srgbClr val="38BDF8"/>
          </a:solidFill>
          <a:ln w="12700">
            <a:solidFill>
              <a:srgbClr val="38BDF8"/>
            </a:solidFill>
            <a:prstDash val="solid"/>
          </a:ln>
        </p:spPr>
      </p:sp>
      <p:sp>
        <p:nvSpPr>
          <p:cNvPr id="5" name="Shape 3"/>
          <p:cNvSpPr/>
          <p:nvPr/>
        </p:nvSpPr>
        <p:spPr>
          <a:xfrm>
            <a:off x="0" y="5052060"/>
            <a:ext cx="9144000" cy="91440"/>
          </a:xfrm>
          <a:prstGeom prst="rect">
            <a:avLst/>
          </a:prstGeom>
          <a:solidFill>
            <a:srgbClr val="38BDF8"/>
          </a:solidFill>
          <a:ln w="12700">
            <a:solidFill>
              <a:srgbClr val="38BDF8"/>
            </a:solidFill>
            <a:prstDash val="solid"/>
          </a:ln>
        </p:spPr>
      </p:sp>
      <p:sp>
        <p:nvSpPr>
          <p:cNvPr id="6" name="Text 4"/>
          <p:cNvSpPr/>
          <p:nvPr/>
        </p:nvSpPr>
        <p:spPr>
          <a:xfrm>
            <a:off x="457200" y="731520"/>
            <a:ext cx="8229600" cy="1371600"/>
          </a:xfrm>
          <a:prstGeom prst="rect">
            <a:avLst/>
          </a:prstGeom>
          <a:noFill/>
          <a:ln/>
        </p:spPr>
        <p:txBody>
          <a:bodyPr wrap="square" rtlCol="0" anchor="ctr"/>
          <a:lstStyle/>
          <a:p>
            <a:pPr marL="0" indent="0" algn="ctr">
              <a:buNone/>
            </a:pPr>
            <a:r>
              <a:rPr lang="en-US" sz="6400" b="1" dirty="0">
                <a:solidFill>
                  <a:srgbClr val="FFFFFF"/>
                </a:solidFill>
                <a:latin typeface="Calibri" pitchFamily="34" charset="0"/>
                <a:ea typeface="Calibri" pitchFamily="34" charset="-122"/>
                <a:cs typeface="Calibri" pitchFamily="34" charset="-120"/>
              </a:rPr>
              <a:t>Thank You!</a:t>
            </a:r>
            <a:endParaRPr lang="en-US" sz="6400" dirty="0"/>
          </a:p>
        </p:txBody>
      </p:sp>
      <p:sp>
        <p:nvSpPr>
          <p:cNvPr id="7" name="Shape 5"/>
          <p:cNvSpPr/>
          <p:nvPr/>
        </p:nvSpPr>
        <p:spPr>
          <a:xfrm>
            <a:off x="3200400" y="2148840"/>
            <a:ext cx="2743200" cy="54864"/>
          </a:xfrm>
          <a:prstGeom prst="rect">
            <a:avLst/>
          </a:prstGeom>
          <a:solidFill>
            <a:srgbClr val="38BDF8"/>
          </a:solidFill>
          <a:ln w="12700">
            <a:solidFill>
              <a:srgbClr val="38BDF8"/>
            </a:solidFill>
            <a:prstDash val="solid"/>
          </a:ln>
        </p:spPr>
      </p:sp>
      <p:sp>
        <p:nvSpPr>
          <p:cNvPr id="8" name="Text 6"/>
          <p:cNvSpPr/>
          <p:nvPr/>
        </p:nvSpPr>
        <p:spPr>
          <a:xfrm>
            <a:off x="457200" y="2286000"/>
            <a:ext cx="8229600" cy="457200"/>
          </a:xfrm>
          <a:prstGeom prst="rect">
            <a:avLst/>
          </a:prstGeom>
          <a:noFill/>
          <a:ln/>
        </p:spPr>
        <p:txBody>
          <a:bodyPr wrap="square" rtlCol="0" anchor="ctr"/>
          <a:lstStyle/>
          <a:p>
            <a:pPr marL="0" indent="0" algn="ctr">
              <a:buNone/>
            </a:pPr>
            <a:r>
              <a:rPr lang="en-US" sz="1800" i="1" dirty="0">
                <a:solidFill>
                  <a:srgbClr val="38BDF8"/>
                </a:solidFill>
                <a:latin typeface="Calibri" pitchFamily="34" charset="0"/>
                <a:ea typeface="Calibri" pitchFamily="34" charset="-122"/>
                <a:cs typeface="Calibri" pitchFamily="34" charset="-120"/>
              </a:rPr>
              <a:t>Questions &amp; Discussion Welcome</a:t>
            </a:r>
            <a:endParaRPr lang="en-US" sz="1800" dirty="0"/>
          </a:p>
        </p:txBody>
      </p:sp>
      <p:sp>
        <p:nvSpPr>
          <p:cNvPr id="9" name="Shape 7"/>
          <p:cNvSpPr/>
          <p:nvPr/>
        </p:nvSpPr>
        <p:spPr>
          <a:xfrm>
            <a:off x="502920" y="2944368"/>
            <a:ext cx="2743200" cy="868680"/>
          </a:xfrm>
          <a:prstGeom prst="rect">
            <a:avLst/>
          </a:prstGeom>
          <a:solidFill>
            <a:srgbClr val="112244"/>
          </a:solidFill>
          <a:ln w="15240">
            <a:solidFill>
              <a:srgbClr val="38BDF8"/>
            </a:solidFill>
            <a:prstDash val="solid"/>
          </a:ln>
          <a:effectLst>
            <a:outerShdw blurRad="127000" dist="38100" dir="8100000" algn="bl" rotWithShape="0">
              <a:srgbClr val="000000">
                <a:alpha val="22000"/>
              </a:srgbClr>
            </a:outerShdw>
          </a:effectLst>
        </p:spPr>
      </p:sp>
      <p:sp>
        <p:nvSpPr>
          <p:cNvPr id="10" name="Text 8"/>
          <p:cNvSpPr/>
          <p:nvPr/>
        </p:nvSpPr>
        <p:spPr>
          <a:xfrm>
            <a:off x="640080" y="3017520"/>
            <a:ext cx="246888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Presented by</a:t>
            </a:r>
            <a:endParaRPr lang="en-US" sz="1100" dirty="0"/>
          </a:p>
        </p:txBody>
      </p:sp>
      <p:sp>
        <p:nvSpPr>
          <p:cNvPr id="11" name="Text 9"/>
          <p:cNvSpPr/>
          <p:nvPr/>
        </p:nvSpPr>
        <p:spPr>
          <a:xfrm>
            <a:off x="640080" y="3291840"/>
            <a:ext cx="2468880" cy="43891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Linkesh E P  |  23BCS0160</a:t>
            </a:r>
            <a:endParaRPr lang="en-US" sz="1300" dirty="0"/>
          </a:p>
        </p:txBody>
      </p:sp>
      <p:sp>
        <p:nvSpPr>
          <p:cNvPr id="12" name="Shape 10"/>
          <p:cNvSpPr/>
          <p:nvPr/>
        </p:nvSpPr>
        <p:spPr>
          <a:xfrm>
            <a:off x="3410712" y="2944368"/>
            <a:ext cx="2743200" cy="868680"/>
          </a:xfrm>
          <a:prstGeom prst="rect">
            <a:avLst/>
          </a:prstGeom>
          <a:solidFill>
            <a:srgbClr val="112244"/>
          </a:solidFill>
          <a:ln w="15240">
            <a:solidFill>
              <a:srgbClr val="34D399"/>
            </a:solidFill>
            <a:prstDash val="solid"/>
          </a:ln>
          <a:effectLst>
            <a:outerShdw blurRad="127000" dist="38100" dir="8100000" algn="bl" rotWithShape="0">
              <a:srgbClr val="000000">
                <a:alpha val="22000"/>
              </a:srgbClr>
            </a:outerShdw>
          </a:effectLst>
        </p:spPr>
      </p:sp>
      <p:sp>
        <p:nvSpPr>
          <p:cNvPr id="13" name="Text 11"/>
          <p:cNvSpPr/>
          <p:nvPr/>
        </p:nvSpPr>
        <p:spPr>
          <a:xfrm>
            <a:off x="3547872" y="3017520"/>
            <a:ext cx="246888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Guide</a:t>
            </a:r>
            <a:endParaRPr lang="en-US" sz="1100" dirty="0"/>
          </a:p>
        </p:txBody>
      </p:sp>
      <p:sp>
        <p:nvSpPr>
          <p:cNvPr id="14" name="Text 12"/>
          <p:cNvSpPr/>
          <p:nvPr/>
        </p:nvSpPr>
        <p:spPr>
          <a:xfrm>
            <a:off x="3547872" y="3291840"/>
            <a:ext cx="2468880" cy="438912"/>
          </a:xfrm>
          <a:prstGeom prst="rect">
            <a:avLst/>
          </a:prstGeom>
          <a:noFill/>
          <a:ln/>
        </p:spPr>
        <p:txBody>
          <a:bodyPr wrap="square" lIns="0" tIns="0" rIns="0" bIns="0" rtlCol="0" anchor="ctr"/>
          <a:lstStyle/>
          <a:p>
            <a:pPr marL="0" indent="0">
              <a:buNone/>
            </a:pPr>
            <a:r>
              <a:rPr lang="en-US" sz="1300" b="1" dirty="0">
                <a:solidFill>
                  <a:srgbClr val="34D399"/>
                </a:solidFill>
                <a:latin typeface="Calibri" pitchFamily="34" charset="0"/>
                <a:ea typeface="Calibri" pitchFamily="34" charset="-122"/>
                <a:cs typeface="Calibri" pitchFamily="34" charset="-120"/>
              </a:rPr>
              <a:t>Dr. Suganya P, SCORE, VIT Vellore</a:t>
            </a:r>
            <a:endParaRPr lang="en-US" sz="1300" dirty="0"/>
          </a:p>
        </p:txBody>
      </p:sp>
      <p:sp>
        <p:nvSpPr>
          <p:cNvPr id="15" name="Shape 13"/>
          <p:cNvSpPr/>
          <p:nvPr/>
        </p:nvSpPr>
        <p:spPr>
          <a:xfrm>
            <a:off x="6318504" y="2944368"/>
            <a:ext cx="2743200" cy="868680"/>
          </a:xfrm>
          <a:prstGeom prst="rect">
            <a:avLst/>
          </a:prstGeom>
          <a:solidFill>
            <a:srgbClr val="112244"/>
          </a:solidFill>
          <a:ln w="15240">
            <a:solidFill>
              <a:srgbClr val="818CF8"/>
            </a:solidFill>
            <a:prstDash val="solid"/>
          </a:ln>
          <a:effectLst>
            <a:outerShdw blurRad="127000" dist="38100" dir="8100000" algn="bl" rotWithShape="0">
              <a:srgbClr val="000000">
                <a:alpha val="22000"/>
              </a:srgbClr>
            </a:outerShdw>
          </a:effectLst>
        </p:spPr>
      </p:sp>
      <p:sp>
        <p:nvSpPr>
          <p:cNvPr id="16" name="Text 14"/>
          <p:cNvSpPr/>
          <p:nvPr/>
        </p:nvSpPr>
        <p:spPr>
          <a:xfrm>
            <a:off x="6455664" y="3017520"/>
            <a:ext cx="246888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Project Code</a:t>
            </a:r>
            <a:endParaRPr lang="en-US" sz="1100" dirty="0"/>
          </a:p>
        </p:txBody>
      </p:sp>
      <p:sp>
        <p:nvSpPr>
          <p:cNvPr id="17" name="Text 15"/>
          <p:cNvSpPr/>
          <p:nvPr/>
        </p:nvSpPr>
        <p:spPr>
          <a:xfrm>
            <a:off x="6455664" y="3291840"/>
            <a:ext cx="2468880" cy="438912"/>
          </a:xfrm>
          <a:prstGeom prst="rect">
            <a:avLst/>
          </a:prstGeom>
          <a:noFill/>
          <a:ln/>
        </p:spPr>
        <p:txBody>
          <a:bodyPr wrap="square" lIns="0" tIns="0" rIns="0" bIns="0" rtlCol="0" anchor="ctr"/>
          <a:lstStyle/>
          <a:p>
            <a:pPr marL="0" indent="0">
              <a:buNone/>
            </a:pPr>
            <a:r>
              <a:rPr lang="en-US" sz="1300" b="1" dirty="0">
                <a:solidFill>
                  <a:srgbClr val="818CF8"/>
                </a:solidFill>
                <a:latin typeface="Calibri" pitchFamily="34" charset="0"/>
                <a:ea typeface="Calibri" pitchFamily="34" charset="-122"/>
                <a:cs typeface="Calibri" pitchFamily="34" charset="-120"/>
              </a:rPr>
              <a:t>UCSC398J  |  April 2026</a:t>
            </a:r>
            <a:endParaRPr lang="en-US" sz="1300" dirty="0"/>
          </a:p>
        </p:txBody>
      </p:sp>
      <p:sp>
        <p:nvSpPr>
          <p:cNvPr id="18" name="Text 16"/>
          <p:cNvSpPr/>
          <p:nvPr/>
        </p:nvSpPr>
        <p:spPr>
          <a:xfrm>
            <a:off x="457200" y="4041648"/>
            <a:ext cx="8229600" cy="411480"/>
          </a:xfrm>
          <a:prstGeom prst="rect">
            <a:avLst/>
          </a:prstGeom>
          <a:noFill/>
          <a:ln/>
        </p:spPr>
        <p:txBody>
          <a:bodyPr wrap="square" rtlCol="0" anchor="ctr"/>
          <a:lstStyle/>
          <a:p>
            <a:pPr marL="0" indent="0" algn="ctr">
              <a:buNone/>
            </a:pPr>
            <a:r>
              <a:rPr lang="en-US" sz="1400" i="1" dirty="0">
                <a:solidFill>
                  <a:srgbClr val="CBD5E1"/>
                </a:solidFill>
                <a:latin typeface="Calibri" pitchFamily="34" charset="0"/>
                <a:ea typeface="Calibri" pitchFamily="34" charset="-122"/>
                <a:cs typeface="Calibri" pitchFamily="34" charset="-120"/>
              </a:rPr>
              <a:t>"Harnessing AI to save lives — one image at a time."</a:t>
            </a:r>
            <a:endParaRPr lang="en-US" sz="1400" dirty="0"/>
          </a:p>
        </p:txBody>
      </p:sp>
      <p:sp>
        <p:nvSpPr>
          <p:cNvPr id="19" name="Text 17"/>
          <p:cNvSpPr/>
          <p:nvPr/>
        </p:nvSpPr>
        <p:spPr>
          <a:xfrm>
            <a:off x="457200" y="4480560"/>
            <a:ext cx="8229600" cy="502920"/>
          </a:xfrm>
          <a:prstGeom prst="rect">
            <a:avLst/>
          </a:prstGeom>
          <a:noFill/>
          <a:ln/>
        </p:spPr>
        <p:txBody>
          <a:bodyPr wrap="square" rtlCol="0" anchor="ctr"/>
          <a:lstStyle/>
          <a:p>
            <a:pPr marL="0" indent="0" algn="ctr">
              <a:buNone/>
            </a:pPr>
            <a:r>
              <a:rPr lang="en-US" sz="1100" dirty="0">
                <a:solidFill>
                  <a:srgbClr val="475569"/>
                </a:solidFill>
                <a:latin typeface="Calibri" pitchFamily="34" charset="0"/>
                <a:ea typeface="Calibri" pitchFamily="34" charset="-122"/>
                <a:cs typeface="Calibri" pitchFamily="34" charset="-120"/>
              </a:rPr>
              <a:t>Adaptive Deep Learning Framework For Flood and Landslide Detection Using Aerial Image Segmentation</a:t>
            </a:r>
            <a:endParaRPr lang="en-US" sz="11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2339</Words>
  <Application>Microsoft Office PowerPoint</Application>
  <PresentationFormat>On-screen Show (16:9)</PresentationFormat>
  <Paragraphs>444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Deep Learning Framework For Flood and Landslide Detection</dc:title>
  <dc:subject>PptxGenJS Presentation</dc:subject>
  <dc:creator>Linkesh E P</dc:creator>
  <cp:lastModifiedBy>Kishore.E</cp:lastModifiedBy>
  <cp:revision>7</cp:revision>
  <dcterms:created xsi:type="dcterms:W3CDTF">2026-04-21T19:29:22Z</dcterms:created>
  <dcterms:modified xsi:type="dcterms:W3CDTF">2026-04-21T20:50:54Z</dcterms:modified>
</cp:coreProperties>
</file>